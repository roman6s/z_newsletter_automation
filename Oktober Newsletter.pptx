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notesMasterIdLst>
    <p:notesMasterId r:id="rId9"/>
  </p:notesMasterIdLst>
  <p:sldIdLst>
    <p:sldId id="263" r:id="rId2"/>
    <p:sldId id="272" r:id="rId3"/>
    <p:sldId id="273" r:id="rId4"/>
    <p:sldId id="278" r:id="rId5"/>
    <p:sldId id="277" r:id="rId6"/>
    <p:sldId id="276" r:id="rId7"/>
    <p:sldId id="260" r:id="rId8"/>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023" userDrawn="1">
          <p15:clr>
            <a:srgbClr val="A4A3A4"/>
          </p15:clr>
        </p15:guide>
        <p15:guide id="2" pos="238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DA9917-6B5A-7FD9-DD4D-F9502F67F9C1}" name="Sarah Grothus" initials="SG" userId="S::sarah.grothus@ibm.com::cf1994d5-6925-4c91-9f7f-faa3f423a9d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arissa Thiele" initials="LT" lastIdx="3" clrIdx="0">
    <p:extLst>
      <p:ext uri="{19B8F6BF-5375-455C-9EA6-DF929625EA0E}">
        <p15:presenceInfo xmlns:p15="http://schemas.microsoft.com/office/powerpoint/2012/main" userId="S::Larissa.Thiele@de.ibm.com::943913b4-822b-4787-b7a1-0b041346297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6CA5"/>
    <a:srgbClr val="0663C2"/>
    <a:srgbClr val="E7E6E6"/>
    <a:srgbClr val="2B2D39"/>
    <a:srgbClr val="007D79"/>
    <a:srgbClr val="A1C0EE"/>
    <a:srgbClr val="2D6CA5"/>
    <a:srgbClr val="989898"/>
    <a:srgbClr val="919598"/>
    <a:srgbClr val="1080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A1EFDE-2CB8-498B-A8B4-E31E81EB823B}" v="68" dt="2023-05-31T07:54:42.171"/>
    <p1510:client id="{395B7020-A45B-408F-82D2-0FDC86729843}" v="653" dt="2023-05-24T09:01:46.522"/>
    <p1510:client id="{40E659E9-93D3-4FE4-959E-DDCB30E8B54A}" v="290" dt="2023-05-31T12:56:38.965"/>
    <p1510:client id="{44416C6D-8C65-40D0-8A2A-E309A23D65D9}" v="45" dt="2023-05-31T08:16:57.357"/>
    <p1510:client id="{7106F2C3-19A8-4D15-90B0-531DCE886A4B}" v="148" dt="2023-05-31T08:33:43.813"/>
    <p1510:client id="{92B40DBE-EF4A-426F-BA47-6FFF05206DF5}" v="1516" dt="2023-10-23T11:01:46.792"/>
    <p1510:client id="{96DB8BAB-2AFE-40CF-BFA5-9A98C25406D6}" v="14" dt="2023-05-31T08:07:05.786"/>
    <p1510:client id="{9AFFB2A3-6E27-4704-8593-EF08E994DBFC}" v="323" dt="2023-05-30T08:39:16.698"/>
    <p1510:client id="{CCB67D96-E8EB-4614-B734-B7E363B06B13}" v="16" dt="2023-05-31T08:14:22.393"/>
    <p1510:client id="{DA0AAC7A-F0DA-4625-9106-3227B0FBD116}" v="41" dt="2023-05-31T08:11:02.503"/>
    <p1510:client id="{F7563B7D-8E8F-412E-A51D-80E6E6B82483}" v="9" dt="2023-05-31T08:00:04.220"/>
    <p1510:client id="{F8504C14-F1C7-4AD2-8109-42DCA6700455}" v="601" dt="2023-05-31T09:10:49.963"/>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416"/>
    <p:restoredTop sz="90575"/>
  </p:normalViewPr>
  <p:slideViewPr>
    <p:cSldViewPr snapToGrid="0" snapToObjects="1" showGuides="1">
      <p:cViewPr>
        <p:scale>
          <a:sx n="100" d="100"/>
          <a:sy n="100" d="100"/>
        </p:scale>
        <p:origin x="3104" y="144"/>
      </p:cViewPr>
      <p:guideLst>
        <p:guide orient="horz" pos="5023"/>
        <p:guide pos="23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microsoft.com/office/2018/10/relationships/authors" Target="author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sa Bartsch" clId="Web-{92B40DBE-EF4A-426F-BA47-6FFF05206DF5}"/>
    <pc:docChg chg="addSld delSld modSld sldOrd">
      <pc:chgData name="Elisa Bartsch" userId="" providerId="" clId="Web-{92B40DBE-EF4A-426F-BA47-6FFF05206DF5}" dt="2023-10-23T11:01:46.792" v="839" actId="20577"/>
      <pc:docMkLst>
        <pc:docMk/>
      </pc:docMkLst>
      <pc:sldChg chg="del">
        <pc:chgData name="Elisa Bartsch" userId="" providerId="" clId="Web-{92B40DBE-EF4A-426F-BA47-6FFF05206DF5}" dt="2023-10-23T10:32:22.170" v="522"/>
        <pc:sldMkLst>
          <pc:docMk/>
          <pc:sldMk cId="4056067684" sldId="274"/>
        </pc:sldMkLst>
      </pc:sldChg>
      <pc:sldChg chg="addSp delSp modSp">
        <pc:chgData name="Elisa Bartsch" userId="" providerId="" clId="Web-{92B40DBE-EF4A-426F-BA47-6FFF05206DF5}" dt="2023-10-23T11:01:46.792" v="839" actId="20577"/>
        <pc:sldMkLst>
          <pc:docMk/>
          <pc:sldMk cId="3419422747" sldId="276"/>
        </pc:sldMkLst>
        <pc:spChg chg="del">
          <ac:chgData name="Elisa Bartsch" userId="" providerId="" clId="Web-{92B40DBE-EF4A-426F-BA47-6FFF05206DF5}" dt="2023-10-23T10:03:11.100" v="45"/>
          <ac:spMkLst>
            <pc:docMk/>
            <pc:sldMk cId="3419422747" sldId="276"/>
            <ac:spMk id="5" creationId="{A3C0A67E-7F37-5945-0D47-C16CEDEF372C}"/>
          </ac:spMkLst>
        </pc:spChg>
        <pc:spChg chg="del mod">
          <ac:chgData name="Elisa Bartsch" userId="" providerId="" clId="Web-{92B40DBE-EF4A-426F-BA47-6FFF05206DF5}" dt="2023-10-23T10:03:04.428" v="44"/>
          <ac:spMkLst>
            <pc:docMk/>
            <pc:sldMk cId="3419422747" sldId="276"/>
            <ac:spMk id="6" creationId="{278F4DED-9CB7-7549-4604-C361F346AA99}"/>
          </ac:spMkLst>
        </pc:spChg>
        <pc:spChg chg="mod">
          <ac:chgData name="Elisa Bartsch" userId="" providerId="" clId="Web-{92B40DBE-EF4A-426F-BA47-6FFF05206DF5}" dt="2023-10-23T10:23:24.939" v="334" actId="20577"/>
          <ac:spMkLst>
            <pc:docMk/>
            <pc:sldMk cId="3419422747" sldId="276"/>
            <ac:spMk id="7" creationId="{8561AFB9-2B54-0B23-D191-67842211AF25}"/>
          </ac:spMkLst>
        </pc:spChg>
        <pc:spChg chg="mod">
          <ac:chgData name="Elisa Bartsch" userId="" providerId="" clId="Web-{92B40DBE-EF4A-426F-BA47-6FFF05206DF5}" dt="2023-10-23T10:31:05.153" v="517" actId="1076"/>
          <ac:spMkLst>
            <pc:docMk/>
            <pc:sldMk cId="3419422747" sldId="276"/>
            <ac:spMk id="10" creationId="{329D3D39-8818-A874-4AE7-730D7E201102}"/>
          </ac:spMkLst>
        </pc:spChg>
        <pc:spChg chg="mod">
          <ac:chgData name="Elisa Bartsch" userId="" providerId="" clId="Web-{92B40DBE-EF4A-426F-BA47-6FFF05206DF5}" dt="2023-10-23T10:12:53.301" v="78" actId="20577"/>
          <ac:spMkLst>
            <pc:docMk/>
            <pc:sldMk cId="3419422747" sldId="276"/>
            <ac:spMk id="11" creationId="{087E99EB-A522-D841-8D39-18F0C870C822}"/>
          </ac:spMkLst>
        </pc:spChg>
        <pc:spChg chg="del">
          <ac:chgData name="Elisa Bartsch" userId="" providerId="" clId="Web-{92B40DBE-EF4A-426F-BA47-6FFF05206DF5}" dt="2023-10-23T10:02:22.552" v="42"/>
          <ac:spMkLst>
            <pc:docMk/>
            <pc:sldMk cId="3419422747" sldId="276"/>
            <ac:spMk id="12" creationId="{230C5D02-6F69-68B2-D1C4-D74A14B1F7C6}"/>
          </ac:spMkLst>
        </pc:spChg>
        <pc:spChg chg="del">
          <ac:chgData name="Elisa Bartsch" userId="" providerId="" clId="Web-{92B40DBE-EF4A-426F-BA47-6FFF05206DF5}" dt="2023-10-23T10:02:03.817" v="40"/>
          <ac:spMkLst>
            <pc:docMk/>
            <pc:sldMk cId="3419422747" sldId="276"/>
            <ac:spMk id="13" creationId="{BA1B5541-026E-3DB3-084C-9550BDFB6117}"/>
          </ac:spMkLst>
        </pc:spChg>
        <pc:spChg chg="mod">
          <ac:chgData name="Elisa Bartsch" userId="" providerId="" clId="Web-{92B40DBE-EF4A-426F-BA47-6FFF05206DF5}" dt="2023-10-23T10:21:30.234" v="317" actId="14100"/>
          <ac:spMkLst>
            <pc:docMk/>
            <pc:sldMk cId="3419422747" sldId="276"/>
            <ac:spMk id="14" creationId="{83BA21C2-F710-2F66-2521-B0DA743ADEE2}"/>
          </ac:spMkLst>
        </pc:spChg>
        <pc:spChg chg="mod">
          <ac:chgData name="Elisa Bartsch" userId="" providerId="" clId="Web-{92B40DBE-EF4A-426F-BA47-6FFF05206DF5}" dt="2023-10-23T10:20:22.232" v="269" actId="20577"/>
          <ac:spMkLst>
            <pc:docMk/>
            <pc:sldMk cId="3419422747" sldId="276"/>
            <ac:spMk id="15" creationId="{52166134-3A76-1F39-C78D-6B688991DDB1}"/>
          </ac:spMkLst>
        </pc:spChg>
        <pc:spChg chg="mod">
          <ac:chgData name="Elisa Bartsch" userId="" providerId="" clId="Web-{92B40DBE-EF4A-426F-BA47-6FFF05206DF5}" dt="2023-10-23T10:03:58.913" v="49" actId="1076"/>
          <ac:spMkLst>
            <pc:docMk/>
            <pc:sldMk cId="3419422747" sldId="276"/>
            <ac:spMk id="16" creationId="{E4359168-D8F9-3CEB-958E-1F8FEA7A73B5}"/>
          </ac:spMkLst>
        </pc:spChg>
        <pc:spChg chg="mod">
          <ac:chgData name="Elisa Bartsch" userId="" providerId="" clId="Web-{92B40DBE-EF4A-426F-BA47-6FFF05206DF5}" dt="2023-10-23T10:31:29.075" v="518" actId="1076"/>
          <ac:spMkLst>
            <pc:docMk/>
            <pc:sldMk cId="3419422747" sldId="276"/>
            <ac:spMk id="18" creationId="{7D8DF7E6-C02E-BB96-1F0C-92671DC499FE}"/>
          </ac:spMkLst>
        </pc:spChg>
        <pc:spChg chg="mod">
          <ac:chgData name="Elisa Bartsch" userId="" providerId="" clId="Web-{92B40DBE-EF4A-426F-BA47-6FFF05206DF5}" dt="2023-10-23T10:27:41.836" v="421" actId="20577"/>
          <ac:spMkLst>
            <pc:docMk/>
            <pc:sldMk cId="3419422747" sldId="276"/>
            <ac:spMk id="19" creationId="{759BF881-1C16-A23F-B374-72664BEF02C0}"/>
          </ac:spMkLst>
        </pc:spChg>
        <pc:spChg chg="mod">
          <ac:chgData name="Elisa Bartsch" userId="" providerId="" clId="Web-{92B40DBE-EF4A-426F-BA47-6FFF05206DF5}" dt="2023-10-23T10:04:18.523" v="52" actId="1076"/>
          <ac:spMkLst>
            <pc:docMk/>
            <pc:sldMk cId="3419422747" sldId="276"/>
            <ac:spMk id="20" creationId="{B459A045-CA56-4301-2F0D-FB673B518AF0}"/>
          </ac:spMkLst>
        </pc:spChg>
        <pc:spChg chg="mod">
          <ac:chgData name="Elisa Bartsch" userId="" providerId="" clId="Web-{92B40DBE-EF4A-426F-BA47-6FFF05206DF5}" dt="2023-10-23T10:31:33.513" v="519" actId="1076"/>
          <ac:spMkLst>
            <pc:docMk/>
            <pc:sldMk cId="3419422747" sldId="276"/>
            <ac:spMk id="21" creationId="{57BEF604-5883-99BF-417E-8A3A59EAFF35}"/>
          </ac:spMkLst>
        </pc:spChg>
        <pc:spChg chg="mod">
          <ac:chgData name="Elisa Bartsch" userId="" providerId="" clId="Web-{92B40DBE-EF4A-426F-BA47-6FFF05206DF5}" dt="2023-10-23T10:30:12.870" v="515" actId="1076"/>
          <ac:spMkLst>
            <pc:docMk/>
            <pc:sldMk cId="3419422747" sldId="276"/>
            <ac:spMk id="23" creationId="{7AB0C817-4677-3593-7F4E-9ADAC69DEF8B}"/>
          </ac:spMkLst>
        </pc:spChg>
        <pc:spChg chg="mod">
          <ac:chgData name="Elisa Bartsch" userId="" providerId="" clId="Web-{92B40DBE-EF4A-426F-BA47-6FFF05206DF5}" dt="2023-10-23T10:30:05.745" v="514" actId="1076"/>
          <ac:spMkLst>
            <pc:docMk/>
            <pc:sldMk cId="3419422747" sldId="276"/>
            <ac:spMk id="24" creationId="{DA4F5E94-9A07-9BEA-03E7-871FB7F2C3BF}"/>
          </ac:spMkLst>
        </pc:spChg>
        <pc:spChg chg="add mod">
          <ac:chgData name="Elisa Bartsch" userId="" providerId="" clId="Web-{92B40DBE-EF4A-426F-BA47-6FFF05206DF5}" dt="2023-10-23T10:00:37.690" v="32" actId="1076"/>
          <ac:spMkLst>
            <pc:docMk/>
            <pc:sldMk cId="3419422747" sldId="276"/>
            <ac:spMk id="26" creationId="{EE64E065-A7A6-DC56-2A82-C4A556AC029F}"/>
          </ac:spMkLst>
        </pc:spChg>
        <pc:spChg chg="add mod">
          <ac:chgData name="Elisa Bartsch" userId="" providerId="" clId="Web-{92B40DBE-EF4A-426F-BA47-6FFF05206DF5}" dt="2023-10-23T10:58:40.225" v="804" actId="20577"/>
          <ac:spMkLst>
            <pc:docMk/>
            <pc:sldMk cId="3419422747" sldId="276"/>
            <ac:spMk id="27" creationId="{C1B5CD07-64B0-281B-343E-F278B57892F7}"/>
          </ac:spMkLst>
        </pc:spChg>
        <pc:spChg chg="add mod">
          <ac:chgData name="Elisa Bartsch" userId="" providerId="" clId="Web-{92B40DBE-EF4A-426F-BA47-6FFF05206DF5}" dt="2023-10-23T11:01:46.792" v="839" actId="20577"/>
          <ac:spMkLst>
            <pc:docMk/>
            <pc:sldMk cId="3419422747" sldId="276"/>
            <ac:spMk id="28" creationId="{5F829E1F-DE20-DDB6-1BB9-2A843BC380D5}"/>
          </ac:spMkLst>
        </pc:spChg>
        <pc:spChg chg="add mod">
          <ac:chgData name="Elisa Bartsch" userId="" providerId="" clId="Web-{92B40DBE-EF4A-426F-BA47-6FFF05206DF5}" dt="2023-10-23T10:55:44.221" v="792" actId="20577"/>
          <ac:spMkLst>
            <pc:docMk/>
            <pc:sldMk cId="3419422747" sldId="276"/>
            <ac:spMk id="29" creationId="{26A639C4-7BB4-275F-7E11-A23D787E477D}"/>
          </ac:spMkLst>
        </pc:spChg>
        <pc:spChg chg="add mod">
          <ac:chgData name="Elisa Bartsch" userId="" providerId="" clId="Web-{92B40DBE-EF4A-426F-BA47-6FFF05206DF5}" dt="2023-10-23T10:43:43.346" v="596" actId="20577"/>
          <ac:spMkLst>
            <pc:docMk/>
            <pc:sldMk cId="3419422747" sldId="276"/>
            <ac:spMk id="30" creationId="{8B888085-298D-B830-C881-A669BF9E3FF3}"/>
          </ac:spMkLst>
        </pc:spChg>
        <pc:picChg chg="add del mod">
          <ac:chgData name="Elisa Bartsch" userId="" providerId="" clId="Web-{92B40DBE-EF4A-426F-BA47-6FFF05206DF5}" dt="2023-10-23T10:57:33.630" v="797"/>
          <ac:picMkLst>
            <pc:docMk/>
            <pc:sldMk cId="3419422747" sldId="276"/>
            <ac:picMk id="32" creationId="{CF7E974E-67F5-51F1-D3BB-EE06170D9425}"/>
          </ac:picMkLst>
        </pc:picChg>
        <pc:cxnChg chg="mod">
          <ac:chgData name="Elisa Bartsch" userId="" providerId="" clId="Web-{92B40DBE-EF4A-426F-BA47-6FFF05206DF5}" dt="2023-10-23T10:04:22.414" v="53" actId="1076"/>
          <ac:cxnSpMkLst>
            <pc:docMk/>
            <pc:sldMk cId="3419422747" sldId="276"/>
            <ac:cxnSpMk id="2" creationId="{CDEF1212-37B4-FD65-5FD8-97CB88BD97C7}"/>
          </ac:cxnSpMkLst>
        </pc:cxnChg>
        <pc:cxnChg chg="mod">
          <ac:chgData name="Elisa Bartsch" userId="" providerId="" clId="Web-{92B40DBE-EF4A-426F-BA47-6FFF05206DF5}" dt="2023-10-23T10:30:38.714" v="516" actId="14100"/>
          <ac:cxnSpMkLst>
            <pc:docMk/>
            <pc:sldMk cId="3419422747" sldId="276"/>
            <ac:cxnSpMk id="3" creationId="{CB313084-FA0C-C373-7D4A-76F650FC682F}"/>
          </ac:cxnSpMkLst>
        </pc:cxnChg>
        <pc:cxnChg chg="del mod">
          <ac:chgData name="Elisa Bartsch" userId="" providerId="" clId="Web-{92B40DBE-EF4A-426F-BA47-6FFF05206DF5}" dt="2023-10-23T10:02:13.896" v="41"/>
          <ac:cxnSpMkLst>
            <pc:docMk/>
            <pc:sldMk cId="3419422747" sldId="276"/>
            <ac:cxnSpMk id="17" creationId="{FD86156D-BD58-6ECA-0876-673539D75496}"/>
          </ac:cxnSpMkLst>
        </pc:cxnChg>
      </pc:sldChg>
      <pc:sldChg chg="addSp delSp modSp add del ord replId">
        <pc:chgData name="Elisa Bartsch" userId="" providerId="" clId="Web-{92B40DBE-EF4A-426F-BA47-6FFF05206DF5}" dt="2023-10-23T09:56:48.451" v="18"/>
        <pc:sldMkLst>
          <pc:docMk/>
          <pc:sldMk cId="193733640" sldId="277"/>
        </pc:sldMkLst>
        <pc:spChg chg="mod">
          <ac:chgData name="Elisa Bartsch" userId="" providerId="" clId="Web-{92B40DBE-EF4A-426F-BA47-6FFF05206DF5}" dt="2023-10-23T09:56:33.857" v="10" actId="1076"/>
          <ac:spMkLst>
            <pc:docMk/>
            <pc:sldMk cId="193733640" sldId="277"/>
            <ac:spMk id="6" creationId="{2EB64460-2865-520E-79B5-7373FCBEFB5E}"/>
          </ac:spMkLst>
        </pc:spChg>
        <pc:spChg chg="mod">
          <ac:chgData name="Elisa Bartsch" userId="" providerId="" clId="Web-{92B40DBE-EF4A-426F-BA47-6FFF05206DF5}" dt="2023-10-23T09:56:39.654" v="15" actId="20577"/>
          <ac:spMkLst>
            <pc:docMk/>
            <pc:sldMk cId="193733640" sldId="277"/>
            <ac:spMk id="11" creationId="{087E99EB-A522-D841-8D39-18F0C870C822}"/>
          </ac:spMkLst>
        </pc:spChg>
        <pc:picChg chg="add del">
          <ac:chgData name="Elisa Bartsch" userId="" providerId="" clId="Web-{92B40DBE-EF4A-426F-BA47-6FFF05206DF5}" dt="2023-10-23T09:56:42.560" v="16"/>
          <ac:picMkLst>
            <pc:docMk/>
            <pc:sldMk cId="193733640" sldId="277"/>
            <ac:picMk id="27" creationId="{A80B61D6-5716-38E5-0D1B-7B22F7356E8B}"/>
          </ac:picMkLst>
        </pc:picChg>
        <pc:cxnChg chg="mod">
          <ac:chgData name="Elisa Bartsch" userId="" providerId="" clId="Web-{92B40DBE-EF4A-426F-BA47-6FFF05206DF5}" dt="2023-10-23T09:56:36.748" v="11" actId="1076"/>
          <ac:cxnSpMkLst>
            <pc:docMk/>
            <pc:sldMk cId="193733640" sldId="277"/>
            <ac:cxnSpMk id="2" creationId="{CDEF1212-37B4-FD65-5FD8-97CB88BD97C7}"/>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5F667D-E737-0F43-8655-99BBA0CDC506}" type="datetimeFigureOut">
              <a:rPr lang="de-DE" smtClean="0"/>
              <a:t>26.03.26</a:t>
            </a:fld>
            <a:endParaRPr lang="de-DE"/>
          </a:p>
        </p:txBody>
      </p:sp>
      <p:sp>
        <p:nvSpPr>
          <p:cNvPr id="4" name="Folienbildplatzhalt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135937-C95C-3A46-BF47-06E8B7F106B0}" type="slidenum">
              <a:rPr lang="de-DE" smtClean="0"/>
              <a:t>‹Nr.›</a:t>
            </a:fld>
            <a:endParaRPr lang="de-DE"/>
          </a:p>
        </p:txBody>
      </p:sp>
    </p:spTree>
    <p:extLst>
      <p:ext uri="{BB962C8B-B14F-4D97-AF65-F5344CB8AC3E}">
        <p14:creationId xmlns:p14="http://schemas.microsoft.com/office/powerpoint/2010/main" val="3525336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https://</a:t>
            </a:r>
            <a:r>
              <a:rPr lang="de-DE" dirty="0" err="1"/>
              <a:t>community.ibm.com</a:t>
            </a:r>
            <a:r>
              <a:rPr lang="de-DE" dirty="0"/>
              <a:t>/</a:t>
            </a:r>
            <a:r>
              <a:rPr lang="de-DE" dirty="0" err="1"/>
              <a:t>community</a:t>
            </a:r>
            <a:r>
              <a:rPr lang="de-DE" dirty="0"/>
              <a:t>/</a:t>
            </a:r>
            <a:r>
              <a:rPr lang="de-DE" dirty="0" err="1"/>
              <a:t>user</a:t>
            </a:r>
            <a:r>
              <a:rPr lang="de-DE" dirty="0"/>
              <a:t>/</a:t>
            </a:r>
            <a:r>
              <a:rPr lang="de-DE" dirty="0" err="1"/>
              <a:t>groupz?CommunityKey</a:t>
            </a:r>
            <a:r>
              <a:rPr lang="de-DE" dirty="0"/>
              <a:t>=9a8b7fc3-b167-447a-8e14-adf93406eccc</a:t>
            </a:r>
          </a:p>
        </p:txBody>
      </p:sp>
      <p:sp>
        <p:nvSpPr>
          <p:cNvPr id="4" name="Foliennummernplatzhalter 3"/>
          <p:cNvSpPr>
            <a:spLocks noGrp="1"/>
          </p:cNvSpPr>
          <p:nvPr>
            <p:ph type="sldNum" sz="quarter" idx="5"/>
          </p:nvPr>
        </p:nvSpPr>
        <p:spPr/>
        <p:txBody>
          <a:bodyPr/>
          <a:lstStyle/>
          <a:p>
            <a:fld id="{6D135937-C95C-3A46-BF47-06E8B7F106B0}" type="slidenum">
              <a:rPr lang="de-DE" smtClean="0"/>
              <a:t>1</a:t>
            </a:fld>
            <a:endParaRPr lang="de-DE"/>
          </a:p>
        </p:txBody>
      </p:sp>
    </p:spTree>
    <p:extLst>
      <p:ext uri="{BB962C8B-B14F-4D97-AF65-F5344CB8AC3E}">
        <p14:creationId xmlns:p14="http://schemas.microsoft.com/office/powerpoint/2010/main" val="3344846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de-DE"/>
              <a:t>Mastertitelformat bearbeiten</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67804828-8518-C341-AD12-E23E483B0824}" type="datetimeFigureOut">
              <a:rPr lang="de-DE" smtClean="0"/>
              <a:t>26.03.26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303FABE-6AC8-9B43-8AE1-EE0A32B296E1}" type="slidenum">
              <a:rPr lang="de-DE" smtClean="0"/>
              <a:t>‹Nr.›</a:t>
            </a:fld>
            <a:endParaRPr lang="de-DE"/>
          </a:p>
        </p:txBody>
      </p:sp>
    </p:spTree>
    <p:extLst>
      <p:ext uri="{BB962C8B-B14F-4D97-AF65-F5344CB8AC3E}">
        <p14:creationId xmlns:p14="http://schemas.microsoft.com/office/powerpoint/2010/main" val="884078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67804828-8518-C341-AD12-E23E483B0824}" type="datetimeFigureOut">
              <a:rPr lang="de-DE" smtClean="0"/>
              <a:t>26.03.26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303FABE-6AC8-9B43-8AE1-EE0A32B296E1}" type="slidenum">
              <a:rPr lang="de-DE" smtClean="0"/>
              <a:t>‹Nr.›</a:t>
            </a:fld>
            <a:endParaRPr lang="de-DE"/>
          </a:p>
        </p:txBody>
      </p:sp>
    </p:spTree>
    <p:extLst>
      <p:ext uri="{BB962C8B-B14F-4D97-AF65-F5344CB8AC3E}">
        <p14:creationId xmlns:p14="http://schemas.microsoft.com/office/powerpoint/2010/main" val="2240879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de-DE"/>
              <a:t>Mastertitelformat bearbeiten</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67804828-8518-C341-AD12-E23E483B0824}" type="datetimeFigureOut">
              <a:rPr lang="de-DE" smtClean="0"/>
              <a:t>26.03.26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303FABE-6AC8-9B43-8AE1-EE0A32B296E1}" type="slidenum">
              <a:rPr lang="de-DE" smtClean="0"/>
              <a:t>‹Nr.›</a:t>
            </a:fld>
            <a:endParaRPr lang="de-DE"/>
          </a:p>
        </p:txBody>
      </p:sp>
    </p:spTree>
    <p:extLst>
      <p:ext uri="{BB962C8B-B14F-4D97-AF65-F5344CB8AC3E}">
        <p14:creationId xmlns:p14="http://schemas.microsoft.com/office/powerpoint/2010/main" val="2616891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67804828-8518-C341-AD12-E23E483B0824}" type="datetimeFigureOut">
              <a:rPr lang="de-DE" smtClean="0"/>
              <a:t>26.03.26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9303FABE-6AC8-9B43-8AE1-EE0A32B296E1}" type="slidenum">
              <a:rPr lang="de-DE" smtClean="0"/>
              <a:t>‹Nr.›</a:t>
            </a:fld>
            <a:endParaRPr lang="de-DE"/>
          </a:p>
        </p:txBody>
      </p:sp>
    </p:spTree>
    <p:extLst>
      <p:ext uri="{BB962C8B-B14F-4D97-AF65-F5344CB8AC3E}">
        <p14:creationId xmlns:p14="http://schemas.microsoft.com/office/powerpoint/2010/main" val="2955879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de-DE"/>
              <a:t>Mastertitelformat bearbeiten</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de-DE"/>
              <a:t>Mastertextformat bearbeiten</a:t>
            </a:r>
          </a:p>
        </p:txBody>
      </p:sp>
      <p:sp>
        <p:nvSpPr>
          <p:cNvPr id="4" name="Content Placeholder 3"/>
          <p:cNvSpPr>
            <a:spLocks noGrp="1"/>
          </p:cNvSpPr>
          <p:nvPr>
            <p:ph sz="half" idx="2"/>
          </p:nvPr>
        </p:nvSpPr>
        <p:spPr>
          <a:xfrm>
            <a:off x="520713" y="3905482"/>
            <a:ext cx="3198096" cy="57443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de-DE"/>
              <a:t>Mastertextformat bearbeiten</a:t>
            </a:r>
          </a:p>
        </p:txBody>
      </p:sp>
      <p:sp>
        <p:nvSpPr>
          <p:cNvPr id="6" name="Content Placeholder 5"/>
          <p:cNvSpPr>
            <a:spLocks noGrp="1"/>
          </p:cNvSpPr>
          <p:nvPr>
            <p:ph sz="quarter" idx="4"/>
          </p:nvPr>
        </p:nvSpPr>
        <p:spPr>
          <a:xfrm>
            <a:off x="3827086" y="3905482"/>
            <a:ext cx="3213847" cy="57443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67804828-8518-C341-AD12-E23E483B0824}" type="datetimeFigureOut">
              <a:rPr lang="de-DE" smtClean="0"/>
              <a:t>26.03.26</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9303FABE-6AC8-9B43-8AE1-EE0A32B296E1}" type="slidenum">
              <a:rPr lang="de-DE" smtClean="0"/>
              <a:t>‹Nr.›</a:t>
            </a:fld>
            <a:endParaRPr lang="de-DE"/>
          </a:p>
        </p:txBody>
      </p:sp>
    </p:spTree>
    <p:extLst>
      <p:ext uri="{BB962C8B-B14F-4D97-AF65-F5344CB8AC3E}">
        <p14:creationId xmlns:p14="http://schemas.microsoft.com/office/powerpoint/2010/main" val="3772685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67804828-8518-C341-AD12-E23E483B0824}" type="datetimeFigureOut">
              <a:rPr lang="de-DE" smtClean="0"/>
              <a:t>26.03.26</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9303FABE-6AC8-9B43-8AE1-EE0A32B296E1}" type="slidenum">
              <a:rPr lang="de-DE" smtClean="0"/>
              <a:t>‹Nr.›</a:t>
            </a:fld>
            <a:endParaRPr lang="de-DE"/>
          </a:p>
        </p:txBody>
      </p:sp>
    </p:spTree>
    <p:extLst>
      <p:ext uri="{BB962C8B-B14F-4D97-AF65-F5344CB8AC3E}">
        <p14:creationId xmlns:p14="http://schemas.microsoft.com/office/powerpoint/2010/main" val="91439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804828-8518-C341-AD12-E23E483B0824}" type="datetimeFigureOut">
              <a:rPr lang="de-DE" smtClean="0"/>
              <a:t>26.03.26</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9303FABE-6AC8-9B43-8AE1-EE0A32B296E1}" type="slidenum">
              <a:rPr lang="de-DE" smtClean="0"/>
              <a:t>‹Nr.›</a:t>
            </a:fld>
            <a:endParaRPr lang="de-DE"/>
          </a:p>
        </p:txBody>
      </p:sp>
    </p:spTree>
    <p:extLst>
      <p:ext uri="{BB962C8B-B14F-4D97-AF65-F5344CB8AC3E}">
        <p14:creationId xmlns:p14="http://schemas.microsoft.com/office/powerpoint/2010/main" val="1307249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de-DE"/>
              <a:t>Mastertitelformat bearbeiten</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de-DE"/>
              <a:t>Mastertextformat bearbeiten</a:t>
            </a:r>
          </a:p>
        </p:txBody>
      </p:sp>
      <p:sp>
        <p:nvSpPr>
          <p:cNvPr id="5" name="Date Placeholder 4"/>
          <p:cNvSpPr>
            <a:spLocks noGrp="1"/>
          </p:cNvSpPr>
          <p:nvPr>
            <p:ph type="dt" sz="half" idx="10"/>
          </p:nvPr>
        </p:nvSpPr>
        <p:spPr/>
        <p:txBody>
          <a:bodyPr/>
          <a:lstStyle/>
          <a:p>
            <a:fld id="{67804828-8518-C341-AD12-E23E483B0824}" type="datetimeFigureOut">
              <a:rPr lang="de-DE" smtClean="0"/>
              <a:t>26.03.26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9303FABE-6AC8-9B43-8AE1-EE0A32B296E1}" type="slidenum">
              <a:rPr lang="de-DE" smtClean="0"/>
              <a:t>‹Nr.›</a:t>
            </a:fld>
            <a:endParaRPr lang="de-DE"/>
          </a:p>
        </p:txBody>
      </p:sp>
    </p:spTree>
    <p:extLst>
      <p:ext uri="{BB962C8B-B14F-4D97-AF65-F5344CB8AC3E}">
        <p14:creationId xmlns:p14="http://schemas.microsoft.com/office/powerpoint/2010/main" val="1202207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de-DE"/>
              <a:t>Mastertitelformat bearbeiten</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de-DE"/>
              <a:t>Bild durch Klicken auf Symbol hinzufügen</a:t>
            </a:r>
            <a:endParaRPr lang="en-US"/>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de-DE"/>
              <a:t>Mastertextformat bearbeiten</a:t>
            </a:r>
          </a:p>
        </p:txBody>
      </p:sp>
      <p:sp>
        <p:nvSpPr>
          <p:cNvPr id="5" name="Date Placeholder 4"/>
          <p:cNvSpPr>
            <a:spLocks noGrp="1"/>
          </p:cNvSpPr>
          <p:nvPr>
            <p:ph type="dt" sz="half" idx="10"/>
          </p:nvPr>
        </p:nvSpPr>
        <p:spPr/>
        <p:txBody>
          <a:bodyPr/>
          <a:lstStyle/>
          <a:p>
            <a:fld id="{67804828-8518-C341-AD12-E23E483B0824}" type="datetimeFigureOut">
              <a:rPr lang="de-DE" smtClean="0"/>
              <a:t>26.03.26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9303FABE-6AC8-9B43-8AE1-EE0A32B296E1}" type="slidenum">
              <a:rPr lang="de-DE" smtClean="0"/>
              <a:t>‹Nr.›</a:t>
            </a:fld>
            <a:endParaRPr lang="de-DE"/>
          </a:p>
        </p:txBody>
      </p:sp>
    </p:spTree>
    <p:extLst>
      <p:ext uri="{BB962C8B-B14F-4D97-AF65-F5344CB8AC3E}">
        <p14:creationId xmlns:p14="http://schemas.microsoft.com/office/powerpoint/2010/main" val="62301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67804828-8518-C341-AD12-E23E483B0824}" type="datetimeFigureOut">
              <a:rPr lang="de-DE" smtClean="0"/>
              <a:t>26.03.26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303FABE-6AC8-9B43-8AE1-EE0A32B296E1}" type="slidenum">
              <a:rPr lang="de-DE" smtClean="0"/>
              <a:t>‹Nr.›</a:t>
            </a:fld>
            <a:endParaRPr lang="de-DE"/>
          </a:p>
        </p:txBody>
      </p:sp>
    </p:spTree>
    <p:extLst>
      <p:ext uri="{BB962C8B-B14F-4D97-AF65-F5344CB8AC3E}">
        <p14:creationId xmlns:p14="http://schemas.microsoft.com/office/powerpoint/2010/main" val="255223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67804828-8518-C341-AD12-E23E483B0824}" type="datetimeFigureOut">
              <a:rPr lang="de-DE" smtClean="0"/>
              <a:t>26.03.26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9303FABE-6AC8-9B43-8AE1-EE0A32B296E1}" type="slidenum">
              <a:rPr lang="de-DE" smtClean="0"/>
              <a:t>‹Nr.›</a:t>
            </a:fld>
            <a:endParaRPr lang="de-DE"/>
          </a:p>
        </p:txBody>
      </p:sp>
    </p:spTree>
    <p:extLst>
      <p:ext uri="{BB962C8B-B14F-4D97-AF65-F5344CB8AC3E}">
        <p14:creationId xmlns:p14="http://schemas.microsoft.com/office/powerpoint/2010/main" val="413710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67804828-8518-C341-AD12-E23E483B0824}" type="datetimeFigureOut">
              <a:rPr lang="de-DE" smtClean="0"/>
              <a:t>26.03.26</a:t>
            </a:fld>
            <a:endParaRPr lang="de-DE"/>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de-DE"/>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9303FABE-6AC8-9B43-8AE1-EE0A32B296E1}" type="slidenum">
              <a:rPr lang="de-DE" smtClean="0"/>
              <a:t>‹Nr.›</a:t>
            </a:fld>
            <a:endParaRPr lang="de-DE"/>
          </a:p>
        </p:txBody>
      </p:sp>
    </p:spTree>
    <p:extLst>
      <p:ext uri="{BB962C8B-B14F-4D97-AF65-F5344CB8AC3E}">
        <p14:creationId xmlns:p14="http://schemas.microsoft.com/office/powerpoint/2010/main" val="333714214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community.ibm.com/community/user/ibmz-and-linuxone/blogs/steffen-janen/2023/09/24/die-cloud-revolution-welche-rolle-spielen-server-n?CommunityKey=9a8b7fc3-b167-447a-8e14-adf93406eccc" TargetMode="Externa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community.ibm.com/community/user/ibmz-and-linuxone/blogs/gnter-weber1/2023/09/26/ein-neues-release-des-zsecurity-und-compliance-cen?CommunityKey=9a8b7fc3-b167-447a-8e14-adf93406eccc" TargetMode="External"/><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ibmzday2023-vconf.bemyapp.com/#/talks" TargetMode="External"/><Relationship Id="rId5" Type="http://schemas.openxmlformats.org/officeDocument/2006/relationships/hyperlink" Target="https://community.ibm.com/community/user/ibmz-and-linuxone/blogs/thomas-wienert1/2023/09/07/neu-mit-unified-key-orchestrator-for-ibm-zos-vorma?CommunityKey=9a8b7fc3-b167-447a-8e14-adf93406eccc" TargetMode="External"/><Relationship Id="rId4" Type="http://schemas.openxmlformats.org/officeDocument/2006/relationships/hyperlink" Target="https://www.ibm.com/docs/en/announcements/z-security-compliance-center-12-linuxone-security-compliance-center-12?region=US&amp;_gl=1*w25xh6*_ga*NTUxOTIxOTYzLjE2ODA1MjYxODg.*_ga_FYECCCS21D*MTY5NTcxOTM4Ni41Ni4xLjE2OTU3MTk5MjQuMC4wLjA."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ibm.com/docs/en/announcements/db2-automation-expert-zos-11-db2-query-monitor-zos-34-db2-high-performance-unload-zos-52-deliver-performance-usability-enhancements" TargetMode="External"/><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www.ibm.com/docs/en/announcements/hardware-withdrawal-z15-model-t02-linuxone-iii-model-lt2" TargetMode="External"/><Relationship Id="rId5" Type="http://schemas.openxmlformats.org/officeDocument/2006/relationships/hyperlink" Target="https://www.ibm.com/docs/en/announcements/preview-zos-31-ai-infused-operating-system-next-generation-computing?region=US" TargetMode="External"/><Relationship Id="rId4" Type="http://schemas.openxmlformats.org/officeDocument/2006/relationships/hyperlink" Target="https://www.ibm.com/docs/en/announcements/zos-25?region=CAN#smlcg"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community.ibm.com/community/user/ibmz-and-linuxone/blogs/carsten-mai1/2023/09/04/openapi-3-ist-ab-sofort-auch-mit-zos-connect-simul?CommunityKey=9a8b7fc3-b167-447a-8e14-adf93406eccc"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ibm.com/products/z-digital-integration-hub"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community.ibm.com/community/user/security/events/event-description?CalendarEventKey=c9d2ab9a-26ac-4f41-8e67-d663bdc230e9&amp;CommunityKey=44eb7c0d-9bc2-419b-9158-ad693e734065&amp;Home=%2fcommunity%2fuser%2fsecurity%2fcommunities%2fcommunity-home%2frecent-community-events" TargetMode="External"/><Relationship Id="rId4" Type="http://schemas.openxmlformats.org/officeDocument/2006/relationships/hyperlink" Target="https://www.ibm.com/docs/en/announcements/statement-direction-security-zos"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ibm.com/events/reg/flow/ibm/3o2ludmb/landing/page/landing" TargetMode="Externa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hyperlink" Target="https://ibm.webcasts.com/starthere.jsp?ei=1620465&amp;tp_key=2381c46119" TargetMode="External"/><Relationship Id="rId4" Type="http://schemas.openxmlformats.org/officeDocument/2006/relationships/hyperlink" Target="https://www.ibm.com/community/ibm-techxchange-summit-emea/"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ibm.com/community/z/" TargetMode="Externa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hyperlink" Target="https://community.ibm.com/community/user/ibmz-and-linuxone/groups/community-home?communitykey=9a8b7fc3-b167-447a-8e14-adf93406ecc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hteck 53">
            <a:extLst>
              <a:ext uri="{FF2B5EF4-FFF2-40B4-BE49-F238E27FC236}">
                <a16:creationId xmlns:a16="http://schemas.microsoft.com/office/drawing/2014/main" id="{B4A2D02F-72EB-F540-88FC-9C259A686BA5}"/>
              </a:ext>
            </a:extLst>
          </p:cNvPr>
          <p:cNvSpPr/>
          <p:nvPr/>
        </p:nvSpPr>
        <p:spPr>
          <a:xfrm>
            <a:off x="-14067" y="-28816"/>
            <a:ext cx="7570560" cy="16311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200" dirty="0">
              <a:solidFill>
                <a:sysClr val="windowText" lastClr="000000"/>
              </a:solidFill>
              <a:latin typeface="IBM Plex Sans" panose="020B0503050203000203" pitchFamily="34" charset="0"/>
              <a:cs typeface="Times New Roman" panose="02020603050405020304" pitchFamily="18" charset="0"/>
            </a:endParaRPr>
          </a:p>
        </p:txBody>
      </p:sp>
      <p:pic>
        <p:nvPicPr>
          <p:cNvPr id="5" name="Grafik 4" descr="Ein Bild, das Text, Zubehör, Regenschirm, Umschlag enthält.&#10;&#10;Automatisch generierte Beschreibung">
            <a:extLst>
              <a:ext uri="{FF2B5EF4-FFF2-40B4-BE49-F238E27FC236}">
                <a16:creationId xmlns:a16="http://schemas.microsoft.com/office/drawing/2014/main" id="{9E0D52F7-317D-955C-CE11-E134BFF88CAF}"/>
              </a:ext>
            </a:extLst>
          </p:cNvPr>
          <p:cNvPicPr>
            <a:picLocks noChangeAspect="1"/>
          </p:cNvPicPr>
          <p:nvPr/>
        </p:nvPicPr>
        <p:blipFill rotWithShape="1">
          <a:blip r:embed="rId3"/>
          <a:srcRect l="42" t="29612" r="-42" b="-27462"/>
          <a:stretch/>
        </p:blipFill>
        <p:spPr>
          <a:xfrm>
            <a:off x="-30065" y="-35647"/>
            <a:ext cx="7602556" cy="1840650"/>
          </a:xfrm>
          <a:prstGeom prst="rect">
            <a:avLst/>
          </a:prstGeom>
        </p:spPr>
      </p:pic>
      <p:sp>
        <p:nvSpPr>
          <p:cNvPr id="52" name="Rechteck 51">
            <a:extLst>
              <a:ext uri="{FF2B5EF4-FFF2-40B4-BE49-F238E27FC236}">
                <a16:creationId xmlns:a16="http://schemas.microsoft.com/office/drawing/2014/main" id="{2A402F1F-1925-2B49-85D9-DC1AF7E9FB7E}"/>
              </a:ext>
            </a:extLst>
          </p:cNvPr>
          <p:cNvSpPr/>
          <p:nvPr/>
        </p:nvSpPr>
        <p:spPr>
          <a:xfrm>
            <a:off x="0" y="1937195"/>
            <a:ext cx="2619898" cy="8754617"/>
          </a:xfrm>
          <a:prstGeom prst="rect">
            <a:avLst/>
          </a:prstGeom>
          <a:solidFill>
            <a:srgbClr val="919598">
              <a:alpha val="2941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lang="de-DE" b="1" dirty="0">
                <a:solidFill>
                  <a:srgbClr val="2C6CA5"/>
                </a:solidFill>
                <a:latin typeface="IBM Plex Sans" panose="020B0503050203000203" pitchFamily="34" charset="0"/>
                <a:cs typeface="Times New Roman" panose="02020603050405020304" pitchFamily="18" charset="0"/>
              </a:rPr>
              <a:t>THEMEN</a:t>
            </a:r>
            <a:endParaRPr lang="de-DE" sz="1100" dirty="0">
              <a:solidFill>
                <a:srgbClr val="2C6CA5"/>
              </a:solidFill>
              <a:latin typeface="IBM Plex Sans" panose="020B0503050203000203" pitchFamily="34" charset="0"/>
              <a:cs typeface="Times New Roman" panose="02020603050405020304" pitchFamily="18" charset="0"/>
            </a:endParaRPr>
          </a:p>
        </p:txBody>
      </p:sp>
      <p:sp>
        <p:nvSpPr>
          <p:cNvPr id="22" name="Rectangle 6">
            <a:extLst>
              <a:ext uri="{FF2B5EF4-FFF2-40B4-BE49-F238E27FC236}">
                <a16:creationId xmlns:a16="http://schemas.microsoft.com/office/drawing/2014/main" id="{5E91C30D-8E6C-704A-86A6-6AA6CD1AACBE}"/>
              </a:ext>
            </a:extLst>
          </p:cNvPr>
          <p:cNvSpPr>
            <a:spLocks noChangeArrowheads="1"/>
          </p:cNvSpPr>
          <p:nvPr/>
        </p:nvSpPr>
        <p:spPr bwMode="black">
          <a:xfrm>
            <a:off x="65375" y="10475073"/>
            <a:ext cx="13716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t"/>
          <a:lstStyle>
            <a:lvl1pPr>
              <a:defRPr b="1">
                <a:solidFill>
                  <a:schemeClr val="tx1"/>
                </a:solidFill>
                <a:latin typeface="Arial" panose="020B0604020202020204" pitchFamily="34" charset="0"/>
                <a:ea typeface="MS PGothic" panose="020B0600070205080204" pitchFamily="34" charset="-128"/>
              </a:defRPr>
            </a:lvl1pPr>
            <a:lvl2pPr marL="742950" indent="-285750">
              <a:defRPr b="1">
                <a:solidFill>
                  <a:schemeClr val="tx1"/>
                </a:solidFill>
                <a:latin typeface="Arial" panose="020B0604020202020204" pitchFamily="34" charset="0"/>
                <a:ea typeface="MS PGothic" panose="020B0600070205080204" pitchFamily="34" charset="-128"/>
              </a:defRPr>
            </a:lvl2pPr>
            <a:lvl3pPr marL="1143000" indent="-228600">
              <a:defRPr b="1">
                <a:solidFill>
                  <a:schemeClr val="tx1"/>
                </a:solidFill>
                <a:latin typeface="Arial" panose="020B0604020202020204" pitchFamily="34" charset="0"/>
                <a:ea typeface="MS PGothic" panose="020B0600070205080204" pitchFamily="34" charset="-128"/>
              </a:defRPr>
            </a:lvl3pPr>
            <a:lvl4pPr marL="1600200" indent="-228600">
              <a:defRPr b="1">
                <a:solidFill>
                  <a:schemeClr val="tx1"/>
                </a:solidFill>
                <a:latin typeface="Arial" panose="020B0604020202020204" pitchFamily="34" charset="0"/>
                <a:ea typeface="MS PGothic" panose="020B0600070205080204" pitchFamily="34" charset="-128"/>
              </a:defRPr>
            </a:lvl4pPr>
            <a:lvl5pPr marL="2057400" indent="-228600">
              <a:defRPr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9pPr>
          </a:lstStyle>
          <a:p>
            <a:pPr>
              <a:defRPr/>
            </a:pPr>
            <a:r>
              <a:rPr lang="en-US" sz="800" b="0" dirty="0">
                <a:latin typeface="IBM Plex Sans" panose="020B0503050203000203" pitchFamily="34" charset="0"/>
                <a:ea typeface="MS PGothic"/>
                <a:cs typeface="Times New Roman" panose="02020603050405020304" pitchFamily="18" charset="0"/>
              </a:rPr>
              <a:t>© 2026 IBM Corporation</a:t>
            </a:r>
          </a:p>
        </p:txBody>
      </p:sp>
      <p:sp>
        <p:nvSpPr>
          <p:cNvPr id="50" name="Rectangle 1">
            <a:extLst>
              <a:ext uri="{FF2B5EF4-FFF2-40B4-BE49-F238E27FC236}">
                <a16:creationId xmlns:a16="http://schemas.microsoft.com/office/drawing/2014/main" id="{0A9B8F8B-7BD1-0B42-A50C-DAA5CDACD1B0}"/>
              </a:ext>
            </a:extLst>
          </p:cNvPr>
          <p:cNvSpPr/>
          <p:nvPr/>
        </p:nvSpPr>
        <p:spPr>
          <a:xfrm>
            <a:off x="1222038" y="9597909"/>
            <a:ext cx="2462229" cy="553998"/>
          </a:xfrm>
          <a:prstGeom prst="rect">
            <a:avLst/>
          </a:prstGeom>
        </p:spPr>
        <p:txBody>
          <a:bodyPr wrap="square" lIns="91440" tIns="45720" rIns="91440" bIns="45720" anchor="t">
            <a:spAutoFit/>
          </a:bodyPr>
          <a:lstStyle/>
          <a:p>
            <a:endParaRPr lang="en-US" dirty="0">
              <a:latin typeface="IBM Plex Sans" panose="020B0503050203000203" pitchFamily="34" charset="0"/>
              <a:cs typeface="Times New Roman" panose="02020603050405020304" pitchFamily="18" charset="0"/>
            </a:endParaRPr>
          </a:p>
          <a:p>
            <a:pPr marL="171450" indent="-171450">
              <a:buFont typeface="Wingdings"/>
              <a:buChar char="§"/>
            </a:pPr>
            <a:endParaRPr lang="de-DE" sz="1200" dirty="0">
              <a:latin typeface="IBM Plex Sans" panose="020B0503050203000203" pitchFamily="34" charset="0"/>
              <a:cs typeface="Times New Roman" panose="02020603050405020304" pitchFamily="18" charset="0"/>
            </a:endParaRPr>
          </a:p>
        </p:txBody>
      </p:sp>
      <p:pic>
        <p:nvPicPr>
          <p:cNvPr id="35" name="Picture 46" descr="blue-tri-color-logo">
            <a:extLst>
              <a:ext uri="{FF2B5EF4-FFF2-40B4-BE49-F238E27FC236}">
                <a16:creationId xmlns:a16="http://schemas.microsoft.com/office/drawing/2014/main" id="{3E897938-D46D-4219-9E0D-10063099CB16}"/>
              </a:ext>
            </a:extLst>
          </p:cNvPr>
          <p:cNvPicPr>
            <a:picLocks noChangeAspect="1" noChangeArrowheads="1"/>
          </p:cNvPicPr>
          <p:nvPr/>
        </p:nvPicPr>
        <p:blipFill>
          <a:blip r:embed="rId4" cstate="print"/>
          <a:srcRect/>
          <a:stretch>
            <a:fillRect/>
          </a:stretch>
        </p:blipFill>
        <p:spPr bwMode="auto">
          <a:xfrm>
            <a:off x="1651479" y="10330138"/>
            <a:ext cx="751185" cy="304253"/>
          </a:xfrm>
          <a:prstGeom prst="rect">
            <a:avLst/>
          </a:prstGeom>
          <a:noFill/>
          <a:ln w="9525">
            <a:noFill/>
            <a:miter lim="800000"/>
            <a:headEnd/>
            <a:tailEnd/>
          </a:ln>
        </p:spPr>
      </p:pic>
      <p:sp>
        <p:nvSpPr>
          <p:cNvPr id="68" name="AutoShape 16" descr="24092019-dede-IBM-z15-444x320">
            <a:extLst>
              <a:ext uri="{FF2B5EF4-FFF2-40B4-BE49-F238E27FC236}">
                <a16:creationId xmlns:a16="http://schemas.microsoft.com/office/drawing/2014/main" id="{88C67BFD-1D54-FF4D-B79B-03176282C260}"/>
              </a:ext>
            </a:extLst>
          </p:cNvPr>
          <p:cNvSpPr>
            <a:spLocks noChangeAspect="1" noChangeArrowheads="1"/>
          </p:cNvSpPr>
          <p:nvPr/>
        </p:nvSpPr>
        <p:spPr bwMode="auto">
          <a:xfrm>
            <a:off x="3627438" y="51927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latin typeface="IBM Plex Sans" panose="020B0503050203000203" pitchFamily="34" charset="0"/>
              <a:cs typeface="Times New Roman" panose="02020603050405020304" pitchFamily="18" charset="0"/>
            </a:endParaRPr>
          </a:p>
        </p:txBody>
      </p:sp>
      <p:sp>
        <p:nvSpPr>
          <p:cNvPr id="77" name="AutoShape 44" descr="Female technician guiding male about cable in server room">
            <a:extLst>
              <a:ext uri="{FF2B5EF4-FFF2-40B4-BE49-F238E27FC236}">
                <a16:creationId xmlns:a16="http://schemas.microsoft.com/office/drawing/2014/main" id="{165F6588-F736-5C47-A72C-6E015F5F1F94}"/>
              </a:ext>
            </a:extLst>
          </p:cNvPr>
          <p:cNvSpPr>
            <a:spLocks noChangeAspect="1" noChangeArrowheads="1"/>
          </p:cNvSpPr>
          <p:nvPr/>
        </p:nvSpPr>
        <p:spPr bwMode="auto">
          <a:xfrm>
            <a:off x="3779838" y="53451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latin typeface="IBM Plex Sans" panose="020B0503050203000203" pitchFamily="34" charset="0"/>
              <a:cs typeface="Times New Roman" panose="02020603050405020304" pitchFamily="18" charset="0"/>
            </a:endParaRPr>
          </a:p>
        </p:txBody>
      </p:sp>
      <p:sp>
        <p:nvSpPr>
          <p:cNvPr id="81" name="Rechteck 80">
            <a:extLst>
              <a:ext uri="{FF2B5EF4-FFF2-40B4-BE49-F238E27FC236}">
                <a16:creationId xmlns:a16="http://schemas.microsoft.com/office/drawing/2014/main" id="{52CBB06D-57D5-4A42-A418-6B6FD06F67FF}"/>
              </a:ext>
            </a:extLst>
          </p:cNvPr>
          <p:cNvSpPr/>
          <p:nvPr/>
        </p:nvSpPr>
        <p:spPr>
          <a:xfrm>
            <a:off x="-14067" y="1286236"/>
            <a:ext cx="7602556" cy="650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IBM Plex Sans" panose="020B0503050203000203" pitchFamily="34" charset="0"/>
              <a:cs typeface="Times New Roman" panose="02020603050405020304" pitchFamily="18" charset="0"/>
            </a:endParaRPr>
          </a:p>
        </p:txBody>
      </p:sp>
      <p:pic>
        <p:nvPicPr>
          <p:cNvPr id="83" name="Grafik 82" descr="Ein Bild, das Sonnenuntergang, Sonne, dunkel enthält.&#10;&#10;Automatisch generierte Beschreibung">
            <a:extLst>
              <a:ext uri="{FF2B5EF4-FFF2-40B4-BE49-F238E27FC236}">
                <a16:creationId xmlns:a16="http://schemas.microsoft.com/office/drawing/2014/main" id="{6AB999FB-656C-CF43-A23B-A23B3DFFC72C}"/>
              </a:ext>
            </a:extLst>
          </p:cNvPr>
          <p:cNvPicPr>
            <a:picLocks noChangeAspect="1"/>
          </p:cNvPicPr>
          <p:nvPr/>
        </p:nvPicPr>
        <p:blipFill>
          <a:blip r:embed="rId5"/>
          <a:stretch>
            <a:fillRect/>
          </a:stretch>
        </p:blipFill>
        <p:spPr>
          <a:xfrm>
            <a:off x="5584870" y="1397289"/>
            <a:ext cx="1206787" cy="476875"/>
          </a:xfrm>
          <a:prstGeom prst="rect">
            <a:avLst/>
          </a:prstGeom>
        </p:spPr>
      </p:pic>
      <p:sp>
        <p:nvSpPr>
          <p:cNvPr id="84" name="Textfeld 83">
            <a:extLst>
              <a:ext uri="{FF2B5EF4-FFF2-40B4-BE49-F238E27FC236}">
                <a16:creationId xmlns:a16="http://schemas.microsoft.com/office/drawing/2014/main" id="{75F0D127-F975-6E4A-87EE-6C467C1271C4}"/>
              </a:ext>
            </a:extLst>
          </p:cNvPr>
          <p:cNvSpPr txBox="1"/>
          <p:nvPr/>
        </p:nvSpPr>
        <p:spPr>
          <a:xfrm>
            <a:off x="173806" y="1466449"/>
            <a:ext cx="1800999" cy="338554"/>
          </a:xfrm>
          <a:prstGeom prst="rect">
            <a:avLst/>
          </a:prstGeom>
          <a:noFill/>
        </p:spPr>
        <p:txBody>
          <a:bodyPr wrap="square" rtlCol="0">
            <a:spAutoFit/>
          </a:bodyPr>
          <a:lstStyle/>
          <a:p>
            <a:r>
              <a:rPr lang="de-DE" sz="1600" dirty="0" err="1">
                <a:solidFill>
                  <a:srgbClr val="989898"/>
                </a:solidFill>
                <a:latin typeface="IBM Plex Sans" panose="020B0503050203000203" pitchFamily="34" charset="0"/>
                <a:cs typeface="Times New Roman" panose="02020603050405020304" pitchFamily="18" charset="0"/>
              </a:rPr>
              <a:t>Issue</a:t>
            </a:r>
            <a:r>
              <a:rPr lang="de-DE" sz="1600" dirty="0">
                <a:solidFill>
                  <a:srgbClr val="989898"/>
                </a:solidFill>
                <a:latin typeface="IBM Plex Sans" panose="020B0503050203000203" pitchFamily="34" charset="0"/>
                <a:cs typeface="Times New Roman" panose="02020603050405020304" pitchFamily="18" charset="0"/>
              </a:rPr>
              <a:t> </a:t>
            </a:r>
            <a:r>
              <a:rPr lang="de-DE" sz="1600" dirty="0" err="1">
                <a:solidFill>
                  <a:srgbClr val="989898"/>
                </a:solidFill>
                <a:latin typeface="IBM Plex Sans" panose="020B0503050203000203" pitchFamily="34" charset="0"/>
                <a:cs typeface="Times New Roman" panose="02020603050405020304" pitchFamily="18" charset="0"/>
              </a:rPr>
              <a:t>No</a:t>
            </a:r>
            <a:r>
              <a:rPr lang="de-DE" sz="1600" dirty="0">
                <a:solidFill>
                  <a:srgbClr val="989898"/>
                </a:solidFill>
                <a:latin typeface="IBM Plex Sans" panose="020B0503050203000203" pitchFamily="34" charset="0"/>
                <a:cs typeface="Times New Roman" panose="02020603050405020304" pitchFamily="18" charset="0"/>
              </a:rPr>
              <a:t>. 13</a:t>
            </a:r>
          </a:p>
        </p:txBody>
      </p:sp>
      <p:sp>
        <p:nvSpPr>
          <p:cNvPr id="24" name="Oval 23">
            <a:extLst>
              <a:ext uri="{FF2B5EF4-FFF2-40B4-BE49-F238E27FC236}">
                <a16:creationId xmlns:a16="http://schemas.microsoft.com/office/drawing/2014/main" id="{921E9256-B41E-E04F-9F7B-6CC1B805987B}"/>
              </a:ext>
            </a:extLst>
          </p:cNvPr>
          <p:cNvSpPr/>
          <p:nvPr/>
        </p:nvSpPr>
        <p:spPr>
          <a:xfrm>
            <a:off x="2675589" y="2179349"/>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dirty="0">
                <a:latin typeface="IBM Plex Sans" panose="020B0503050203000203" pitchFamily="34" charset="0"/>
                <a:cs typeface="Times New Roman" panose="02020603050405020304" pitchFamily="18" charset="0"/>
              </a:rPr>
              <a:t>1</a:t>
            </a:r>
          </a:p>
        </p:txBody>
      </p:sp>
      <p:sp>
        <p:nvSpPr>
          <p:cNvPr id="67" name="Rechteck 66">
            <a:extLst>
              <a:ext uri="{FF2B5EF4-FFF2-40B4-BE49-F238E27FC236}">
                <a16:creationId xmlns:a16="http://schemas.microsoft.com/office/drawing/2014/main" id="{E2A8622E-A819-0D46-9C09-FCC4B1C45980}"/>
              </a:ext>
            </a:extLst>
          </p:cNvPr>
          <p:cNvSpPr/>
          <p:nvPr/>
        </p:nvSpPr>
        <p:spPr>
          <a:xfrm>
            <a:off x="61297" y="-40171"/>
            <a:ext cx="1173288" cy="1331219"/>
          </a:xfrm>
          <a:prstGeom prst="rect">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latin typeface="IBM Plex Sans" panose="020B0503050203000203" pitchFamily="34" charset="0"/>
                <a:cs typeface="Times New Roman" panose="02020603050405020304" pitchFamily="18" charset="0"/>
              </a:rPr>
              <a:t>Oktober</a:t>
            </a:r>
          </a:p>
          <a:p>
            <a:pPr algn="ctr"/>
            <a:endParaRPr lang="de-DE" dirty="0">
              <a:latin typeface="IBM Plex Sans" panose="020B0503050203000203" pitchFamily="34" charset="0"/>
              <a:cs typeface="Times New Roman" panose="02020603050405020304" pitchFamily="18" charset="0"/>
            </a:endParaRPr>
          </a:p>
          <a:p>
            <a:pPr algn="ctr"/>
            <a:r>
              <a:rPr lang="de-DE" dirty="0">
                <a:latin typeface="IBM Plex Sans" panose="020B0503050203000203" pitchFamily="34" charset="0"/>
                <a:cs typeface="Times New Roman" panose="02020603050405020304" pitchFamily="18" charset="0"/>
              </a:rPr>
              <a:t>2026</a:t>
            </a:r>
          </a:p>
        </p:txBody>
      </p:sp>
      <p:sp>
        <p:nvSpPr>
          <p:cNvPr id="6" name="Textfeld 5">
            <a:extLst>
              <a:ext uri="{FF2B5EF4-FFF2-40B4-BE49-F238E27FC236}">
                <a16:creationId xmlns:a16="http://schemas.microsoft.com/office/drawing/2014/main" id="{2E13CF58-C9D3-AE02-1E20-617C505AC354}"/>
              </a:ext>
            </a:extLst>
          </p:cNvPr>
          <p:cNvSpPr txBox="1"/>
          <p:nvPr/>
        </p:nvSpPr>
        <p:spPr>
          <a:xfrm>
            <a:off x="1309949" y="725968"/>
            <a:ext cx="3558988" cy="584775"/>
          </a:xfrm>
          <a:prstGeom prst="rect">
            <a:avLst/>
          </a:prstGeom>
          <a:noFill/>
        </p:spPr>
        <p:txBody>
          <a:bodyPr wrap="none" rtlCol="0">
            <a:spAutoFit/>
          </a:bodyPr>
          <a:lstStyle/>
          <a:p>
            <a:r>
              <a:rPr lang="de-DE" sz="3200" b="1" dirty="0">
                <a:solidFill>
                  <a:srgbClr val="2C6CA5"/>
                </a:solidFill>
                <a:latin typeface="IBM Plex Sans" panose="020B0503050203000203" pitchFamily="34" charset="0"/>
                <a:cs typeface="Times New Roman" panose="02020603050405020304" pitchFamily="18" charset="0"/>
              </a:rPr>
              <a:t>IBM Z Newsletter</a:t>
            </a:r>
          </a:p>
        </p:txBody>
      </p:sp>
      <p:sp>
        <p:nvSpPr>
          <p:cNvPr id="30" name="Oval 29">
            <a:extLst>
              <a:ext uri="{FF2B5EF4-FFF2-40B4-BE49-F238E27FC236}">
                <a16:creationId xmlns:a16="http://schemas.microsoft.com/office/drawing/2014/main" id="{1C9A77F9-A38C-FB1B-6084-E3D306614CD0}"/>
              </a:ext>
            </a:extLst>
          </p:cNvPr>
          <p:cNvSpPr/>
          <p:nvPr/>
        </p:nvSpPr>
        <p:spPr>
          <a:xfrm>
            <a:off x="141288" y="2413537"/>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dirty="0">
                <a:latin typeface="IBM Plex Sans" panose="020B0503050203000203" pitchFamily="34" charset="0"/>
                <a:cs typeface="Times New Roman" panose="02020603050405020304" pitchFamily="18" charset="0"/>
              </a:rPr>
              <a:t>1</a:t>
            </a:r>
          </a:p>
        </p:txBody>
      </p:sp>
      <p:sp>
        <p:nvSpPr>
          <p:cNvPr id="36" name="Oval 35">
            <a:extLst>
              <a:ext uri="{FF2B5EF4-FFF2-40B4-BE49-F238E27FC236}">
                <a16:creationId xmlns:a16="http://schemas.microsoft.com/office/drawing/2014/main" id="{5B93A902-4A36-61E6-9915-2D31B88AADB2}"/>
              </a:ext>
            </a:extLst>
          </p:cNvPr>
          <p:cNvSpPr/>
          <p:nvPr/>
        </p:nvSpPr>
        <p:spPr>
          <a:xfrm>
            <a:off x="130874" y="2815219"/>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dirty="0">
                <a:latin typeface="IBM Plex Sans" panose="020B0503050203000203" pitchFamily="34" charset="0"/>
                <a:cs typeface="Times New Roman" panose="02020603050405020304" pitchFamily="18" charset="0"/>
              </a:rPr>
              <a:t>2</a:t>
            </a:r>
          </a:p>
        </p:txBody>
      </p:sp>
      <p:sp>
        <p:nvSpPr>
          <p:cNvPr id="37" name="Oval 36">
            <a:extLst>
              <a:ext uri="{FF2B5EF4-FFF2-40B4-BE49-F238E27FC236}">
                <a16:creationId xmlns:a16="http://schemas.microsoft.com/office/drawing/2014/main" id="{FC95F5A7-7DFB-3FB6-C543-55AC6E0E8684}"/>
              </a:ext>
            </a:extLst>
          </p:cNvPr>
          <p:cNvSpPr/>
          <p:nvPr/>
        </p:nvSpPr>
        <p:spPr>
          <a:xfrm>
            <a:off x="130874" y="3229095"/>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IBM Plex Sans" panose="020B0503050203000203" pitchFamily="34" charset="0"/>
                <a:cs typeface="Times New Roman" panose="02020603050405020304" pitchFamily="18" charset="0"/>
              </a:rPr>
              <a:t>3</a:t>
            </a:r>
            <a:endParaRPr lang="de-DE" sz="1400" b="1" dirty="0">
              <a:latin typeface="IBM Plex Sans" panose="020B0503050203000203" pitchFamily="34" charset="0"/>
              <a:cs typeface="Times New Roman" panose="02020603050405020304" pitchFamily="18" charset="0"/>
            </a:endParaRPr>
          </a:p>
        </p:txBody>
      </p:sp>
      <p:sp>
        <p:nvSpPr>
          <p:cNvPr id="9" name="Textfeld 8">
            <a:extLst>
              <a:ext uri="{FF2B5EF4-FFF2-40B4-BE49-F238E27FC236}">
                <a16:creationId xmlns:a16="http://schemas.microsoft.com/office/drawing/2014/main" id="{E3D8CA21-49B5-1BC9-4031-62444E72045E}"/>
              </a:ext>
            </a:extLst>
          </p:cNvPr>
          <p:cNvSpPr txBox="1"/>
          <p:nvPr/>
        </p:nvSpPr>
        <p:spPr>
          <a:xfrm>
            <a:off x="3667001" y="10404617"/>
            <a:ext cx="257202" cy="253916"/>
          </a:xfrm>
          <a:prstGeom prst="rect">
            <a:avLst/>
          </a:prstGeom>
          <a:noFill/>
        </p:spPr>
        <p:txBody>
          <a:bodyPr wrap="square" rtlCol="0">
            <a:spAutoFit/>
          </a:bodyPr>
          <a:lstStyle/>
          <a:p>
            <a:r>
              <a:rPr lang="de-DE" sz="1050" dirty="0">
                <a:latin typeface="IBM Plex Sans" panose="020B0503050203000203" pitchFamily="34" charset="0"/>
              </a:rPr>
              <a:t>1</a:t>
            </a:r>
          </a:p>
        </p:txBody>
      </p:sp>
      <p:sp>
        <p:nvSpPr>
          <p:cNvPr id="11" name="Oval 10">
            <a:extLst>
              <a:ext uri="{FF2B5EF4-FFF2-40B4-BE49-F238E27FC236}">
                <a16:creationId xmlns:a16="http://schemas.microsoft.com/office/drawing/2014/main" id="{9DC38CDA-C45B-5BA4-D6EA-6CA17A54BAA3}"/>
              </a:ext>
            </a:extLst>
          </p:cNvPr>
          <p:cNvSpPr/>
          <p:nvPr/>
        </p:nvSpPr>
        <p:spPr>
          <a:xfrm>
            <a:off x="129842" y="3629433"/>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IBM Plex Sans" panose="020B0503050203000203" pitchFamily="34" charset="0"/>
                <a:cs typeface="Times New Roman" panose="02020603050405020304" pitchFamily="18" charset="0"/>
              </a:rPr>
              <a:t>4</a:t>
            </a:r>
            <a:endParaRPr lang="de-DE" sz="1400" b="1" dirty="0">
              <a:latin typeface="IBM Plex Sans" panose="020B0503050203000203" pitchFamily="34" charset="0"/>
              <a:cs typeface="Times New Roman" panose="02020603050405020304" pitchFamily="18" charset="0"/>
            </a:endParaRPr>
          </a:p>
        </p:txBody>
      </p:sp>
      <p:sp>
        <p:nvSpPr>
          <p:cNvPr id="4" name="Textfeld 2">
            <a:extLst>
              <a:ext uri="{FF2B5EF4-FFF2-40B4-BE49-F238E27FC236}">
                <a16:creationId xmlns:a16="http://schemas.microsoft.com/office/drawing/2014/main" id="{456E8A1D-CC4F-7010-39E2-991159FF04D8}"/>
              </a:ext>
            </a:extLst>
          </p:cNvPr>
          <p:cNvSpPr txBox="1"/>
          <p:nvPr/>
        </p:nvSpPr>
        <p:spPr>
          <a:xfrm>
            <a:off x="3039090" y="2085570"/>
            <a:ext cx="4500625" cy="523220"/>
          </a:xfrm>
          <a:prstGeom prst="rect">
            <a:avLst/>
          </a:prstGeom>
          <a:noFill/>
        </p:spPr>
        <p:txBody>
          <a:bodyPr wrap="square" lIns="91440" tIns="45720" rIns="91440" bIns="45720" rtlCol="0" anchor="t">
            <a:spAutoFit/>
          </a:bodyPr>
          <a:lstStyle/>
          <a:p>
            <a:r>
              <a:rPr lang="de-DE" sz="1400" b="1" dirty="0">
                <a:latin typeface="IBM Plex Sans" panose="020B0503050203000203" pitchFamily="34" charset="0"/>
              </a:rPr>
              <a:t>Die Cloud-Revolution: </a:t>
            </a:r>
            <a:br>
              <a:rPr lang="de-DE" sz="1400" b="1" dirty="0">
                <a:latin typeface="IBM Plex Sans" panose="020B0503050203000203" pitchFamily="34" charset="0"/>
              </a:rPr>
            </a:br>
            <a:r>
              <a:rPr lang="de-DE" sz="1400" b="1" dirty="0">
                <a:latin typeface="IBM Plex Sans" panose="020B0503050203000203" pitchFamily="34" charset="0"/>
              </a:rPr>
              <a:t>Welche Rolle spielen Server noch in Unternehmen?</a:t>
            </a:r>
          </a:p>
        </p:txBody>
      </p:sp>
      <p:sp>
        <p:nvSpPr>
          <p:cNvPr id="7" name="Textfeld 11">
            <a:extLst>
              <a:ext uri="{FF2B5EF4-FFF2-40B4-BE49-F238E27FC236}">
                <a16:creationId xmlns:a16="http://schemas.microsoft.com/office/drawing/2014/main" id="{12DEBB4C-EE9E-CA28-F6EA-A1F66B2A3CA2}"/>
              </a:ext>
            </a:extLst>
          </p:cNvPr>
          <p:cNvSpPr txBox="1"/>
          <p:nvPr/>
        </p:nvSpPr>
        <p:spPr>
          <a:xfrm>
            <a:off x="2633966" y="2785439"/>
            <a:ext cx="4794836" cy="7363554"/>
          </a:xfrm>
          <a:prstGeom prst="rect">
            <a:avLst/>
          </a:prstGeom>
          <a:noFill/>
        </p:spPr>
        <p:txBody>
          <a:bodyPr wrap="square" lIns="91440" tIns="45720" rIns="91440" bIns="45720" rtlCol="0" anchor="t">
            <a:spAutoFit/>
          </a:bodyPr>
          <a:lstStyle/>
          <a:p>
            <a:pPr algn="just"/>
            <a:r>
              <a:rPr lang="de-DE" sz="1050" dirty="0">
                <a:latin typeface="IBM Plex Sans"/>
                <a:cs typeface="Calibri"/>
              </a:rPr>
              <a:t>Steffen Janßen hat einen spannenden Blogeintrag zur Cloud-Revolution geschrieben, welchen man in seiner Gänze  </a:t>
            </a:r>
            <a:r>
              <a:rPr lang="de-DE" sz="1050" dirty="0">
                <a:latin typeface="IBM Plex Sans"/>
                <a:cs typeface="Calibri"/>
                <a:hlinkClick r:id="rId6"/>
              </a:rPr>
              <a:t>hier</a:t>
            </a:r>
            <a:r>
              <a:rPr lang="de-DE" sz="1050" dirty="0">
                <a:latin typeface="IBM Plex Sans"/>
                <a:cs typeface="Calibri"/>
              </a:rPr>
              <a:t> finden kann. Um für den Newsletter kompakt zu bleiben, finden Sie nachfolgend eine gekürzte Fassung:</a:t>
            </a:r>
          </a:p>
          <a:p>
            <a:pPr algn="just"/>
            <a:endParaRPr lang="de-DE" sz="1050" dirty="0">
              <a:latin typeface="IBM Plex Sans"/>
              <a:cs typeface="Calibri"/>
            </a:endParaRPr>
          </a:p>
          <a:p>
            <a:pPr algn="just"/>
            <a:r>
              <a:rPr lang="de-DE" sz="1050" dirty="0">
                <a:latin typeface="IBM Plex Sans"/>
                <a:cs typeface="Calibri"/>
              </a:rPr>
              <a:t>Mit der Einführung der Cloud-Technologie stehen viele Unternehmen vor der Herausforderung, ihre IT-Infrastruktur zu überdenken. Immer mehr Bereiche werden in die Cloud verlagert, jedoch verlieren On-</a:t>
            </a:r>
            <a:r>
              <a:rPr lang="de-DE" sz="1050" dirty="0" err="1">
                <a:latin typeface="IBM Plex Sans"/>
                <a:cs typeface="Calibri"/>
              </a:rPr>
              <a:t>Premise</a:t>
            </a:r>
            <a:r>
              <a:rPr lang="de-DE" sz="1050" dirty="0">
                <a:latin typeface="IBM Plex Sans"/>
                <a:cs typeface="Calibri"/>
              </a:rPr>
              <a:t>-Server nicht gänzlich ihre Relevanz.</a:t>
            </a:r>
          </a:p>
          <a:p>
            <a:pPr algn="just"/>
            <a:endParaRPr lang="de-DE" sz="1050" dirty="0">
              <a:latin typeface="IBM Plex Sans"/>
              <a:cs typeface="Calibri"/>
            </a:endParaRPr>
          </a:p>
          <a:p>
            <a:pPr algn="just"/>
            <a:r>
              <a:rPr lang="de-DE" sz="1050" dirty="0">
                <a:latin typeface="IBM Plex Sans"/>
                <a:cs typeface="Calibri"/>
              </a:rPr>
              <a:t>Der Umstieg in die Cloud bringt eine Reihe an Vorteilen mit sich, welche Unternehmen sich zu nutze machen können:</a:t>
            </a:r>
          </a:p>
          <a:p>
            <a:pPr algn="just"/>
            <a:endParaRPr lang="de-DE" sz="1050" dirty="0">
              <a:latin typeface="IBM Plex Sans"/>
              <a:cs typeface="Calibri"/>
            </a:endParaRPr>
          </a:p>
          <a:p>
            <a:pPr marL="171450" indent="-171450" algn="just">
              <a:buFont typeface="Arial" panose="020B0604020202020204" pitchFamily="34" charset="0"/>
              <a:buChar char="•"/>
            </a:pPr>
            <a:r>
              <a:rPr lang="de-DE" sz="1050" dirty="0">
                <a:latin typeface="IBM Plex Sans"/>
                <a:cs typeface="Calibri"/>
              </a:rPr>
              <a:t>Skalierbarkeit, sodass bei steigender Nachfrage ohne Aufwand mehr Ressourcen bereitgestellt werden können.</a:t>
            </a:r>
          </a:p>
          <a:p>
            <a:pPr marL="171450" indent="-171450" algn="just">
              <a:buFont typeface="Arial" panose="020B0604020202020204" pitchFamily="34" charset="0"/>
              <a:buChar char="•"/>
            </a:pPr>
            <a:r>
              <a:rPr lang="de-DE" sz="1050" dirty="0">
                <a:latin typeface="IBM Plex Sans"/>
                <a:cs typeface="Calibri"/>
              </a:rPr>
              <a:t>Effizienz, da Unternehmen mithilfe der Cloud neue Anwendungen schnell veröffentlichen können, ohne die komplette Infrastruktur aufbauen zu müssen.</a:t>
            </a:r>
          </a:p>
          <a:p>
            <a:pPr algn="just"/>
            <a:endParaRPr lang="de-DE" sz="1050" dirty="0">
              <a:latin typeface="IBM Plex Sans"/>
              <a:cs typeface="Calibri"/>
            </a:endParaRPr>
          </a:p>
          <a:p>
            <a:pPr algn="just"/>
            <a:r>
              <a:rPr lang="de-DE" sz="1050" dirty="0">
                <a:latin typeface="IBM Plex Sans"/>
                <a:cs typeface="Calibri"/>
              </a:rPr>
              <a:t>Trotz der vielen Vorteile der Cloud werden On-</a:t>
            </a:r>
            <a:r>
              <a:rPr lang="de-DE" sz="1050" dirty="0" err="1">
                <a:latin typeface="IBM Plex Sans"/>
                <a:cs typeface="Calibri"/>
              </a:rPr>
              <a:t>Premise</a:t>
            </a:r>
            <a:r>
              <a:rPr lang="de-DE" sz="1050" dirty="0">
                <a:latin typeface="IBM Plex Sans"/>
                <a:cs typeface="Calibri"/>
              </a:rPr>
              <a:t>-Server weiterhin in bestimmten Unternehmen unverzichtbar sein:</a:t>
            </a:r>
          </a:p>
          <a:p>
            <a:pPr algn="just"/>
            <a:endParaRPr lang="de-DE" sz="1050" dirty="0">
              <a:latin typeface="IBM Plex Sans"/>
              <a:cs typeface="Calibri"/>
            </a:endParaRPr>
          </a:p>
          <a:p>
            <a:pPr marL="171450" indent="-171450" algn="just">
              <a:buFont typeface="Arial" panose="020B0604020202020204" pitchFamily="34" charset="0"/>
              <a:buChar char="•"/>
            </a:pPr>
            <a:r>
              <a:rPr lang="de-DE" sz="1050" dirty="0">
                <a:latin typeface="IBM Plex Sans"/>
                <a:cs typeface="Calibri"/>
              </a:rPr>
              <a:t>Kontrolle und auch das Wissen, wo sich die Daten (auch geografisch) befinden. </a:t>
            </a:r>
          </a:p>
          <a:p>
            <a:pPr marL="171450" indent="-171450" algn="just">
              <a:buFont typeface="Arial" panose="020B0604020202020204" pitchFamily="34" charset="0"/>
              <a:buChar char="•"/>
            </a:pPr>
            <a:r>
              <a:rPr lang="de-DE" sz="1050" dirty="0">
                <a:latin typeface="IBM Plex Sans"/>
                <a:cs typeface="Calibri"/>
              </a:rPr>
              <a:t>Umsetzung persönlicher Sicherheitskonzepte, welche die von Cloud Anbietern übertreffen können. </a:t>
            </a:r>
          </a:p>
          <a:p>
            <a:pPr marL="171450" indent="-171450" algn="just">
              <a:buFont typeface="Arial" panose="020B0604020202020204" pitchFamily="34" charset="0"/>
              <a:buChar char="•"/>
            </a:pPr>
            <a:r>
              <a:rPr lang="de-DE" sz="1050" dirty="0">
                <a:latin typeface="IBM Plex Sans"/>
                <a:cs typeface="Calibri"/>
              </a:rPr>
              <a:t>Geringe Gefahr, dass ein Dritter, wie der Cloud Anbieter, die Aktivitäten der Server beobachtet. </a:t>
            </a:r>
          </a:p>
          <a:p>
            <a:pPr marL="171450" indent="-171450" algn="just">
              <a:buFont typeface="Arial" panose="020B0604020202020204" pitchFamily="34" charset="0"/>
              <a:buChar char="•"/>
            </a:pPr>
            <a:r>
              <a:rPr lang="de-DE" sz="1050" dirty="0">
                <a:latin typeface="IBM Plex Sans"/>
                <a:cs typeface="Calibri"/>
              </a:rPr>
              <a:t>Nachhaltigkeit, da man mit einem Umstieg von x86 zu IBM z16 den Energieverbrauch um bis zu 75% zu reduzieren kann. </a:t>
            </a:r>
          </a:p>
          <a:p>
            <a:pPr algn="just"/>
            <a:endParaRPr lang="de-DE" sz="1050" dirty="0">
              <a:latin typeface="IBM Plex Sans"/>
              <a:cs typeface="Calibri"/>
            </a:endParaRPr>
          </a:p>
          <a:p>
            <a:pPr algn="just"/>
            <a:r>
              <a:rPr lang="de-DE" sz="1050" dirty="0">
                <a:latin typeface="IBM Plex Sans"/>
                <a:cs typeface="Calibri"/>
              </a:rPr>
              <a:t>Sowohl die Cloud, als auch On-</a:t>
            </a:r>
            <a:r>
              <a:rPr lang="de-DE" sz="1050" dirty="0" err="1">
                <a:latin typeface="IBM Plex Sans"/>
                <a:cs typeface="Calibri"/>
              </a:rPr>
              <a:t>Premise</a:t>
            </a:r>
            <a:r>
              <a:rPr lang="de-DE" sz="1050" dirty="0">
                <a:latin typeface="IBM Plex Sans"/>
                <a:cs typeface="Calibri"/>
              </a:rPr>
              <a:t>-Server bieten eine Reihe von Vor- und Nachteilen. Für kleine, aber schnell wachsende Unternehmen, welche keine sicherheitskritischen Anwendungen oder sensible Daten nutzen, ist es sinnvoll die Cloud zu nutzen, da sie dort ohne Probleme skalieren und die Kapazität erweitern können. </a:t>
            </a:r>
          </a:p>
          <a:p>
            <a:pPr algn="just"/>
            <a:endParaRPr lang="de-DE" sz="1050" dirty="0">
              <a:latin typeface="IBM Plex Sans"/>
              <a:cs typeface="Calibri"/>
            </a:endParaRPr>
          </a:p>
          <a:p>
            <a:pPr algn="just"/>
            <a:r>
              <a:rPr lang="de-DE" sz="1050" dirty="0">
                <a:latin typeface="IBM Plex Sans"/>
                <a:cs typeface="Calibri"/>
              </a:rPr>
              <a:t>Für große Unternehmen, welche ihre Kapazitäten und Anforderungen kennen, sowie für Firmen bei denen die Sicherheit der Anwendungen und der Daten eine große Rolle spielen, sind On-</a:t>
            </a:r>
            <a:r>
              <a:rPr lang="de-DE" sz="1050" dirty="0" err="1">
                <a:latin typeface="IBM Plex Sans"/>
                <a:cs typeface="Calibri"/>
              </a:rPr>
              <a:t>Premise</a:t>
            </a:r>
            <a:r>
              <a:rPr lang="de-DE" sz="1050" dirty="0">
                <a:latin typeface="IBM Plex Sans"/>
                <a:cs typeface="Calibri"/>
              </a:rPr>
              <a:t> Server, wie IBM Z nahezu unverzichtbar. Neben der hohen Sicherheit bringt die Nachhaltigkeit von Z nicht nur ökologische, sondern auch ökonomische Vorteile mit sich.</a:t>
            </a:r>
          </a:p>
          <a:p>
            <a:pPr algn="just"/>
            <a:endParaRPr lang="de-DE" sz="1050" dirty="0">
              <a:latin typeface="IBM Plex Sans"/>
              <a:cs typeface="Calibri"/>
            </a:endParaRPr>
          </a:p>
          <a:p>
            <a:pPr algn="just"/>
            <a:r>
              <a:rPr lang="de-DE" sz="1050" dirty="0">
                <a:latin typeface="IBM Plex Sans"/>
                <a:cs typeface="Calibri"/>
              </a:rPr>
              <a:t>So stellt IBM Z für viele Unternehmen, welche auf diese Eigenschaften angewiesen sind, eine bessere Wahl als die Cloud dar.</a:t>
            </a:r>
          </a:p>
        </p:txBody>
      </p:sp>
      <p:sp>
        <p:nvSpPr>
          <p:cNvPr id="10" name="TextBox 9">
            <a:extLst>
              <a:ext uri="{FF2B5EF4-FFF2-40B4-BE49-F238E27FC236}">
                <a16:creationId xmlns:a16="http://schemas.microsoft.com/office/drawing/2014/main" id="{3A23798F-C8D2-9B37-D883-E149DBCD45D9}"/>
              </a:ext>
            </a:extLst>
          </p:cNvPr>
          <p:cNvSpPr txBox="1"/>
          <p:nvPr/>
        </p:nvSpPr>
        <p:spPr>
          <a:xfrm>
            <a:off x="437688" y="2424997"/>
            <a:ext cx="1691489" cy="276999"/>
          </a:xfrm>
          <a:prstGeom prst="rect">
            <a:avLst/>
          </a:prstGeom>
          <a:noFill/>
        </p:spPr>
        <p:txBody>
          <a:bodyPr wrap="none" rtlCol="0">
            <a:spAutoFit/>
          </a:bodyPr>
          <a:lstStyle/>
          <a:p>
            <a:r>
              <a:rPr lang="en-US" sz="1200" b="1" dirty="0">
                <a:latin typeface="IBM Plex Sans" panose="020B0503050203000203" pitchFamily="34" charset="0"/>
              </a:rPr>
              <a:t>Die Cloud Revolution</a:t>
            </a:r>
            <a:endParaRPr lang="de-DE" sz="1200" b="1" dirty="0">
              <a:latin typeface="IBM Plex Sans" panose="020B0503050203000203" pitchFamily="34" charset="0"/>
            </a:endParaRPr>
          </a:p>
        </p:txBody>
      </p:sp>
      <p:sp>
        <p:nvSpPr>
          <p:cNvPr id="14" name="TextBox 13">
            <a:extLst>
              <a:ext uri="{FF2B5EF4-FFF2-40B4-BE49-F238E27FC236}">
                <a16:creationId xmlns:a16="http://schemas.microsoft.com/office/drawing/2014/main" id="{6B8C0878-55BE-E710-647C-6861786CC7E6}"/>
              </a:ext>
            </a:extLst>
          </p:cNvPr>
          <p:cNvSpPr txBox="1"/>
          <p:nvPr/>
        </p:nvSpPr>
        <p:spPr>
          <a:xfrm>
            <a:off x="429288" y="2820126"/>
            <a:ext cx="1460656" cy="276999"/>
          </a:xfrm>
          <a:prstGeom prst="rect">
            <a:avLst/>
          </a:prstGeom>
          <a:noFill/>
        </p:spPr>
        <p:txBody>
          <a:bodyPr wrap="none" rtlCol="0">
            <a:spAutoFit/>
          </a:bodyPr>
          <a:lstStyle/>
          <a:p>
            <a:r>
              <a:rPr lang="en-US" sz="1200" b="1" dirty="0">
                <a:latin typeface="IBM Plex Sans" panose="020B0503050203000203" pitchFamily="34" charset="0"/>
              </a:rPr>
              <a:t>Replay IBM Z Day</a:t>
            </a:r>
            <a:endParaRPr lang="de-DE" sz="1200" b="1" dirty="0">
              <a:latin typeface="IBM Plex Sans" panose="020B0503050203000203" pitchFamily="34" charset="0"/>
            </a:endParaRPr>
          </a:p>
        </p:txBody>
      </p:sp>
      <p:sp>
        <p:nvSpPr>
          <p:cNvPr id="15" name="TextBox 14">
            <a:extLst>
              <a:ext uri="{FF2B5EF4-FFF2-40B4-BE49-F238E27FC236}">
                <a16:creationId xmlns:a16="http://schemas.microsoft.com/office/drawing/2014/main" id="{167A46F0-09CA-2DBC-BAB4-06960065A201}"/>
              </a:ext>
            </a:extLst>
          </p:cNvPr>
          <p:cNvSpPr txBox="1"/>
          <p:nvPr/>
        </p:nvSpPr>
        <p:spPr>
          <a:xfrm>
            <a:off x="418874" y="3224516"/>
            <a:ext cx="1662635" cy="276999"/>
          </a:xfrm>
          <a:prstGeom prst="rect">
            <a:avLst/>
          </a:prstGeom>
          <a:noFill/>
        </p:spPr>
        <p:txBody>
          <a:bodyPr wrap="none" rtlCol="0">
            <a:spAutoFit/>
          </a:bodyPr>
          <a:lstStyle/>
          <a:p>
            <a:r>
              <a:rPr lang="en-US" sz="1200" b="1" dirty="0" err="1">
                <a:latin typeface="IBM Plex Sans" panose="020B0503050203000203" pitchFamily="34" charset="0"/>
              </a:rPr>
              <a:t>Neues</a:t>
            </a:r>
            <a:r>
              <a:rPr lang="en-US" sz="1200" b="1" dirty="0">
                <a:latin typeface="IBM Plex Sans" panose="020B0503050203000203" pitchFamily="34" charset="0"/>
              </a:rPr>
              <a:t> Release </a:t>
            </a:r>
            <a:r>
              <a:rPr lang="en-US" sz="1200" b="1" dirty="0" err="1">
                <a:latin typeface="IBM Plex Sans" panose="020B0503050203000203" pitchFamily="34" charset="0"/>
              </a:rPr>
              <a:t>zSCC</a:t>
            </a:r>
            <a:endParaRPr lang="de-DE" sz="1200" b="1" dirty="0">
              <a:latin typeface="IBM Plex Sans" panose="020B0503050203000203" pitchFamily="34" charset="0"/>
            </a:endParaRPr>
          </a:p>
        </p:txBody>
      </p:sp>
      <p:sp>
        <p:nvSpPr>
          <p:cNvPr id="19" name="TextBox 18">
            <a:extLst>
              <a:ext uri="{FF2B5EF4-FFF2-40B4-BE49-F238E27FC236}">
                <a16:creationId xmlns:a16="http://schemas.microsoft.com/office/drawing/2014/main" id="{58D57B05-755B-34CB-B2D6-4B31FF0B64DC}"/>
              </a:ext>
            </a:extLst>
          </p:cNvPr>
          <p:cNvSpPr txBox="1"/>
          <p:nvPr/>
        </p:nvSpPr>
        <p:spPr>
          <a:xfrm>
            <a:off x="418874" y="3628602"/>
            <a:ext cx="2018501" cy="276999"/>
          </a:xfrm>
          <a:prstGeom prst="rect">
            <a:avLst/>
          </a:prstGeom>
          <a:noFill/>
        </p:spPr>
        <p:txBody>
          <a:bodyPr wrap="none" rtlCol="0">
            <a:spAutoFit/>
          </a:bodyPr>
          <a:lstStyle/>
          <a:p>
            <a:r>
              <a:rPr lang="en-US" sz="1200" b="1" dirty="0">
                <a:latin typeface="IBM Plex Sans" panose="020B0503050203000203" pitchFamily="34" charset="0"/>
              </a:rPr>
              <a:t>Unified Key Orchestrator </a:t>
            </a:r>
            <a:endParaRPr lang="de-DE" sz="1200" b="1" dirty="0">
              <a:latin typeface="IBM Plex Sans" panose="020B0503050203000203" pitchFamily="34" charset="0"/>
            </a:endParaRPr>
          </a:p>
        </p:txBody>
      </p:sp>
      <p:sp>
        <p:nvSpPr>
          <p:cNvPr id="20" name="Oval 19">
            <a:extLst>
              <a:ext uri="{FF2B5EF4-FFF2-40B4-BE49-F238E27FC236}">
                <a16:creationId xmlns:a16="http://schemas.microsoft.com/office/drawing/2014/main" id="{CFC0B4DA-C2EE-ABBB-AFA6-D25BE70B828B}"/>
              </a:ext>
            </a:extLst>
          </p:cNvPr>
          <p:cNvSpPr/>
          <p:nvPr/>
        </p:nvSpPr>
        <p:spPr>
          <a:xfrm>
            <a:off x="130298" y="4032636"/>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IBM Plex Sans" panose="020B0503050203000203" pitchFamily="34" charset="0"/>
                <a:cs typeface="Times New Roman" panose="02020603050405020304" pitchFamily="18" charset="0"/>
              </a:rPr>
              <a:t>5</a:t>
            </a:r>
            <a:endParaRPr lang="de-DE" sz="1400" b="1" dirty="0">
              <a:latin typeface="IBM Plex Sans" panose="020B0503050203000203" pitchFamily="34" charset="0"/>
              <a:cs typeface="Times New Roman" panose="02020603050405020304" pitchFamily="18" charset="0"/>
            </a:endParaRPr>
          </a:p>
        </p:txBody>
      </p:sp>
      <p:sp>
        <p:nvSpPr>
          <p:cNvPr id="21" name="Oval 20">
            <a:extLst>
              <a:ext uri="{FF2B5EF4-FFF2-40B4-BE49-F238E27FC236}">
                <a16:creationId xmlns:a16="http://schemas.microsoft.com/office/drawing/2014/main" id="{1ACFF9A4-5969-A5BF-5763-28E22BC0DAA7}"/>
              </a:ext>
            </a:extLst>
          </p:cNvPr>
          <p:cNvSpPr/>
          <p:nvPr/>
        </p:nvSpPr>
        <p:spPr>
          <a:xfrm>
            <a:off x="119884" y="4434318"/>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IBM Plex Sans" panose="020B0503050203000203" pitchFamily="34" charset="0"/>
                <a:cs typeface="Times New Roman" panose="02020603050405020304" pitchFamily="18" charset="0"/>
              </a:rPr>
              <a:t>6</a:t>
            </a:r>
            <a:endParaRPr lang="de-DE" sz="1400" b="1" dirty="0">
              <a:latin typeface="IBM Plex Sans" panose="020B0503050203000203" pitchFamily="34" charset="0"/>
              <a:cs typeface="Times New Roman" panose="02020603050405020304" pitchFamily="18" charset="0"/>
            </a:endParaRPr>
          </a:p>
        </p:txBody>
      </p:sp>
      <p:sp>
        <p:nvSpPr>
          <p:cNvPr id="23" name="Oval 22">
            <a:extLst>
              <a:ext uri="{FF2B5EF4-FFF2-40B4-BE49-F238E27FC236}">
                <a16:creationId xmlns:a16="http://schemas.microsoft.com/office/drawing/2014/main" id="{F0B68C0E-E62D-1225-ED77-9280C94F1984}"/>
              </a:ext>
            </a:extLst>
          </p:cNvPr>
          <p:cNvSpPr/>
          <p:nvPr/>
        </p:nvSpPr>
        <p:spPr>
          <a:xfrm>
            <a:off x="119884" y="4848194"/>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IBM Plex Sans" panose="020B0503050203000203" pitchFamily="34" charset="0"/>
                <a:cs typeface="Times New Roman" panose="02020603050405020304" pitchFamily="18" charset="0"/>
              </a:rPr>
              <a:t>7</a:t>
            </a:r>
            <a:endParaRPr lang="de-DE" sz="1400" b="1" dirty="0">
              <a:latin typeface="IBM Plex Sans" panose="020B0503050203000203" pitchFamily="34" charset="0"/>
              <a:cs typeface="Times New Roman" panose="02020603050405020304" pitchFamily="18" charset="0"/>
            </a:endParaRPr>
          </a:p>
        </p:txBody>
      </p:sp>
      <p:sp>
        <p:nvSpPr>
          <p:cNvPr id="25" name="Oval 24">
            <a:extLst>
              <a:ext uri="{FF2B5EF4-FFF2-40B4-BE49-F238E27FC236}">
                <a16:creationId xmlns:a16="http://schemas.microsoft.com/office/drawing/2014/main" id="{D57F165E-0786-C569-6119-74A6A94DEFCB}"/>
              </a:ext>
            </a:extLst>
          </p:cNvPr>
          <p:cNvSpPr/>
          <p:nvPr/>
        </p:nvSpPr>
        <p:spPr>
          <a:xfrm>
            <a:off x="118852" y="5248532"/>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IBM Plex Sans" panose="020B0503050203000203" pitchFamily="34" charset="0"/>
                <a:cs typeface="Times New Roman" panose="02020603050405020304" pitchFamily="18" charset="0"/>
              </a:rPr>
              <a:t>8</a:t>
            </a:r>
            <a:endParaRPr lang="de-DE" sz="1400" b="1" dirty="0">
              <a:latin typeface="IBM Plex Sans" panose="020B0503050203000203" pitchFamily="34" charset="0"/>
              <a:cs typeface="Times New Roman" panose="02020603050405020304" pitchFamily="18" charset="0"/>
            </a:endParaRPr>
          </a:p>
        </p:txBody>
      </p:sp>
      <p:sp>
        <p:nvSpPr>
          <p:cNvPr id="26" name="TextBox 25">
            <a:extLst>
              <a:ext uri="{FF2B5EF4-FFF2-40B4-BE49-F238E27FC236}">
                <a16:creationId xmlns:a16="http://schemas.microsoft.com/office/drawing/2014/main" id="{8518AF34-E861-FDDA-CAA0-40F348912250}"/>
              </a:ext>
            </a:extLst>
          </p:cNvPr>
          <p:cNvSpPr txBox="1"/>
          <p:nvPr/>
        </p:nvSpPr>
        <p:spPr>
          <a:xfrm>
            <a:off x="421333" y="4019407"/>
            <a:ext cx="923651" cy="276999"/>
          </a:xfrm>
          <a:prstGeom prst="rect">
            <a:avLst/>
          </a:prstGeom>
          <a:noFill/>
        </p:spPr>
        <p:txBody>
          <a:bodyPr wrap="none" rtlCol="0">
            <a:spAutoFit/>
          </a:bodyPr>
          <a:lstStyle/>
          <a:p>
            <a:r>
              <a:rPr lang="en-US" sz="1200" b="1" dirty="0">
                <a:latin typeface="IBM Plex Sans" panose="020B0503050203000203" pitchFamily="34" charset="0"/>
              </a:rPr>
              <a:t>Neue </a:t>
            </a:r>
            <a:r>
              <a:rPr lang="en-US" sz="1200" b="1" dirty="0" err="1">
                <a:latin typeface="IBM Plex Sans" panose="020B0503050203000203" pitchFamily="34" charset="0"/>
              </a:rPr>
              <a:t>zSW</a:t>
            </a:r>
            <a:endParaRPr lang="de-DE" sz="1200" b="1" dirty="0">
              <a:latin typeface="IBM Plex Sans" panose="020B0503050203000203" pitchFamily="34" charset="0"/>
            </a:endParaRPr>
          </a:p>
        </p:txBody>
      </p:sp>
      <p:sp>
        <p:nvSpPr>
          <p:cNvPr id="27" name="TextBox 26">
            <a:extLst>
              <a:ext uri="{FF2B5EF4-FFF2-40B4-BE49-F238E27FC236}">
                <a16:creationId xmlns:a16="http://schemas.microsoft.com/office/drawing/2014/main" id="{F73F4218-41F3-2B36-2830-84E1A3D8495D}"/>
              </a:ext>
            </a:extLst>
          </p:cNvPr>
          <p:cNvSpPr txBox="1"/>
          <p:nvPr/>
        </p:nvSpPr>
        <p:spPr>
          <a:xfrm>
            <a:off x="412933" y="4448558"/>
            <a:ext cx="1653017" cy="276999"/>
          </a:xfrm>
          <a:prstGeom prst="rect">
            <a:avLst/>
          </a:prstGeom>
          <a:noFill/>
        </p:spPr>
        <p:txBody>
          <a:bodyPr wrap="none" rtlCol="0">
            <a:spAutoFit/>
          </a:bodyPr>
          <a:lstStyle/>
          <a:p>
            <a:r>
              <a:rPr lang="en-US" sz="1200" b="1" dirty="0">
                <a:latin typeface="IBM Plex Sans" panose="020B0503050203000203" pitchFamily="34" charset="0"/>
              </a:rPr>
              <a:t>WDFM Update z/OS </a:t>
            </a:r>
            <a:endParaRPr lang="de-DE" sz="1200" b="1" dirty="0">
              <a:latin typeface="IBM Plex Sans" panose="020B0503050203000203" pitchFamily="34" charset="0"/>
            </a:endParaRPr>
          </a:p>
        </p:txBody>
      </p:sp>
      <p:sp>
        <p:nvSpPr>
          <p:cNvPr id="28" name="TextBox 27">
            <a:extLst>
              <a:ext uri="{FF2B5EF4-FFF2-40B4-BE49-F238E27FC236}">
                <a16:creationId xmlns:a16="http://schemas.microsoft.com/office/drawing/2014/main" id="{7CF05A3B-1972-54EE-1161-390F463EDF78}"/>
              </a:ext>
            </a:extLst>
          </p:cNvPr>
          <p:cNvSpPr txBox="1"/>
          <p:nvPr/>
        </p:nvSpPr>
        <p:spPr>
          <a:xfrm>
            <a:off x="402519" y="4861337"/>
            <a:ext cx="1454244" cy="276999"/>
          </a:xfrm>
          <a:prstGeom prst="rect">
            <a:avLst/>
          </a:prstGeom>
          <a:noFill/>
        </p:spPr>
        <p:txBody>
          <a:bodyPr wrap="none" rtlCol="0">
            <a:spAutoFit/>
          </a:bodyPr>
          <a:lstStyle/>
          <a:p>
            <a:r>
              <a:rPr lang="en-US" sz="1200" b="1" dirty="0">
                <a:latin typeface="IBM Plex Sans" panose="020B0503050203000203" pitchFamily="34" charset="0"/>
              </a:rPr>
              <a:t>WDFM Type 8562</a:t>
            </a:r>
            <a:endParaRPr lang="de-DE" sz="1200" b="1" dirty="0">
              <a:latin typeface="IBM Plex Sans" panose="020B0503050203000203" pitchFamily="34" charset="0"/>
            </a:endParaRPr>
          </a:p>
        </p:txBody>
      </p:sp>
      <p:sp>
        <p:nvSpPr>
          <p:cNvPr id="29" name="TextBox 28">
            <a:extLst>
              <a:ext uri="{FF2B5EF4-FFF2-40B4-BE49-F238E27FC236}">
                <a16:creationId xmlns:a16="http://schemas.microsoft.com/office/drawing/2014/main" id="{0F6CAFF7-A4E2-305E-786E-1F2507238FF0}"/>
              </a:ext>
            </a:extLst>
          </p:cNvPr>
          <p:cNvSpPr txBox="1"/>
          <p:nvPr/>
        </p:nvSpPr>
        <p:spPr>
          <a:xfrm>
            <a:off x="402519" y="5257034"/>
            <a:ext cx="968535" cy="276999"/>
          </a:xfrm>
          <a:prstGeom prst="rect">
            <a:avLst/>
          </a:prstGeom>
          <a:noFill/>
        </p:spPr>
        <p:txBody>
          <a:bodyPr wrap="none" rtlCol="0">
            <a:spAutoFit/>
          </a:bodyPr>
          <a:lstStyle/>
          <a:p>
            <a:r>
              <a:rPr lang="de-DE" sz="1200" b="1" dirty="0" err="1">
                <a:latin typeface="IBM Plex Sans" panose="020B0503050203000203" pitchFamily="34" charset="0"/>
              </a:rPr>
              <a:t>OpenAPI</a:t>
            </a:r>
            <a:r>
              <a:rPr lang="de-DE" sz="1200" b="1" dirty="0">
                <a:latin typeface="IBM Plex Sans" panose="020B0503050203000203" pitchFamily="34" charset="0"/>
              </a:rPr>
              <a:t> 3</a:t>
            </a:r>
          </a:p>
        </p:txBody>
      </p:sp>
      <p:sp>
        <p:nvSpPr>
          <p:cNvPr id="41" name="Oval 40">
            <a:extLst>
              <a:ext uri="{FF2B5EF4-FFF2-40B4-BE49-F238E27FC236}">
                <a16:creationId xmlns:a16="http://schemas.microsoft.com/office/drawing/2014/main" id="{B9B4CA05-3E0B-5D53-CE7E-637C8855B6E2}"/>
              </a:ext>
            </a:extLst>
          </p:cNvPr>
          <p:cNvSpPr/>
          <p:nvPr/>
        </p:nvSpPr>
        <p:spPr>
          <a:xfrm>
            <a:off x="119884" y="5654148"/>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IBM Plex Sans" panose="020B0503050203000203" pitchFamily="34" charset="0"/>
                <a:cs typeface="Times New Roman" panose="02020603050405020304" pitchFamily="18" charset="0"/>
              </a:rPr>
              <a:t>9</a:t>
            </a:r>
            <a:endParaRPr lang="de-DE" sz="1400" b="1" dirty="0">
              <a:latin typeface="IBM Plex Sans" panose="020B0503050203000203" pitchFamily="34" charset="0"/>
              <a:cs typeface="Times New Roman" panose="02020603050405020304" pitchFamily="18" charset="0"/>
            </a:endParaRPr>
          </a:p>
        </p:txBody>
      </p:sp>
      <p:sp>
        <p:nvSpPr>
          <p:cNvPr id="42" name="Oval 41">
            <a:extLst>
              <a:ext uri="{FF2B5EF4-FFF2-40B4-BE49-F238E27FC236}">
                <a16:creationId xmlns:a16="http://schemas.microsoft.com/office/drawing/2014/main" id="{E5455A29-01D6-6250-A822-C5933E29F2BC}"/>
              </a:ext>
            </a:extLst>
          </p:cNvPr>
          <p:cNvSpPr/>
          <p:nvPr/>
        </p:nvSpPr>
        <p:spPr>
          <a:xfrm>
            <a:off x="119884" y="6068024"/>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400" b="1" dirty="0">
                <a:latin typeface="IBM Plex Sans" panose="020B0503050203000203" pitchFamily="34" charset="0"/>
                <a:cs typeface="Times New Roman" panose="02020603050405020304" pitchFamily="18" charset="0"/>
              </a:rPr>
              <a:t>10</a:t>
            </a:r>
            <a:endParaRPr lang="de-DE" sz="1400" b="1" dirty="0">
              <a:latin typeface="IBM Plex Sans" panose="020B0503050203000203" pitchFamily="34" charset="0"/>
              <a:cs typeface="Times New Roman" panose="02020603050405020304" pitchFamily="18" charset="0"/>
            </a:endParaRPr>
          </a:p>
        </p:txBody>
      </p:sp>
      <p:sp>
        <p:nvSpPr>
          <p:cNvPr id="43" name="Oval 42">
            <a:extLst>
              <a:ext uri="{FF2B5EF4-FFF2-40B4-BE49-F238E27FC236}">
                <a16:creationId xmlns:a16="http://schemas.microsoft.com/office/drawing/2014/main" id="{8F0CE363-7045-D3C2-F7A4-690E5100F1ED}"/>
              </a:ext>
            </a:extLst>
          </p:cNvPr>
          <p:cNvSpPr/>
          <p:nvPr/>
        </p:nvSpPr>
        <p:spPr>
          <a:xfrm>
            <a:off x="118852" y="6468362"/>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400" b="1" dirty="0">
                <a:latin typeface="IBM Plex Sans" panose="020B0503050203000203" pitchFamily="34" charset="0"/>
                <a:cs typeface="Times New Roman" panose="02020603050405020304" pitchFamily="18" charset="0"/>
              </a:rPr>
              <a:t>11</a:t>
            </a:r>
            <a:endParaRPr lang="de-DE" sz="1400" b="1" dirty="0">
              <a:latin typeface="IBM Plex Sans" panose="020B0503050203000203" pitchFamily="34" charset="0"/>
              <a:cs typeface="Times New Roman" panose="02020603050405020304" pitchFamily="18" charset="0"/>
            </a:endParaRPr>
          </a:p>
        </p:txBody>
      </p:sp>
      <p:sp>
        <p:nvSpPr>
          <p:cNvPr id="44" name="TextBox 43">
            <a:extLst>
              <a:ext uri="{FF2B5EF4-FFF2-40B4-BE49-F238E27FC236}">
                <a16:creationId xmlns:a16="http://schemas.microsoft.com/office/drawing/2014/main" id="{71BE1CF6-27EB-72DF-CCC0-B15FA3D462EC}"/>
              </a:ext>
            </a:extLst>
          </p:cNvPr>
          <p:cNvSpPr txBox="1"/>
          <p:nvPr/>
        </p:nvSpPr>
        <p:spPr>
          <a:xfrm>
            <a:off x="412933" y="5685166"/>
            <a:ext cx="1571264" cy="276999"/>
          </a:xfrm>
          <a:prstGeom prst="rect">
            <a:avLst/>
          </a:prstGeom>
          <a:noFill/>
        </p:spPr>
        <p:txBody>
          <a:bodyPr wrap="none" rtlCol="0">
            <a:spAutoFit/>
          </a:bodyPr>
          <a:lstStyle/>
          <a:p>
            <a:r>
              <a:rPr lang="nn-NO" sz="1200" b="1" dirty="0">
                <a:latin typeface="IBM Plex Sans" panose="020B0503050203000203" pitchFamily="34" charset="0"/>
              </a:rPr>
              <a:t>IBM Db2 Data Gate</a:t>
            </a:r>
            <a:endParaRPr lang="de-DE" sz="1200" b="1" dirty="0">
              <a:latin typeface="IBM Plex Sans" panose="020B0503050203000203" pitchFamily="34" charset="0"/>
            </a:endParaRPr>
          </a:p>
        </p:txBody>
      </p:sp>
      <p:sp>
        <p:nvSpPr>
          <p:cNvPr id="45" name="TextBox 44">
            <a:extLst>
              <a:ext uri="{FF2B5EF4-FFF2-40B4-BE49-F238E27FC236}">
                <a16:creationId xmlns:a16="http://schemas.microsoft.com/office/drawing/2014/main" id="{D584B1D1-C6AB-B8D6-D382-231118800700}"/>
              </a:ext>
            </a:extLst>
          </p:cNvPr>
          <p:cNvSpPr txBox="1"/>
          <p:nvPr/>
        </p:nvSpPr>
        <p:spPr>
          <a:xfrm>
            <a:off x="402519" y="6089556"/>
            <a:ext cx="881973" cy="276999"/>
          </a:xfrm>
          <a:prstGeom prst="rect">
            <a:avLst/>
          </a:prstGeom>
          <a:noFill/>
        </p:spPr>
        <p:txBody>
          <a:bodyPr wrap="none" rtlCol="0">
            <a:spAutoFit/>
          </a:bodyPr>
          <a:lstStyle/>
          <a:p>
            <a:r>
              <a:rPr lang="en-US" sz="1200" b="1" dirty="0">
                <a:latin typeface="IBM Plex Sans" panose="020B0503050203000203" pitchFamily="34" charset="0"/>
              </a:rPr>
              <a:t>IBM </a:t>
            </a:r>
            <a:r>
              <a:rPr lang="en-US" sz="1200" b="1" dirty="0" err="1">
                <a:latin typeface="IBM Plex Sans" panose="020B0503050203000203" pitchFamily="34" charset="0"/>
              </a:rPr>
              <a:t>zDIH</a:t>
            </a:r>
            <a:endParaRPr lang="de-DE" sz="1200" b="1" dirty="0">
              <a:latin typeface="IBM Plex Sans" panose="020B0503050203000203" pitchFamily="34" charset="0"/>
            </a:endParaRPr>
          </a:p>
        </p:txBody>
      </p:sp>
      <p:sp>
        <p:nvSpPr>
          <p:cNvPr id="46" name="TextBox 45">
            <a:extLst>
              <a:ext uri="{FF2B5EF4-FFF2-40B4-BE49-F238E27FC236}">
                <a16:creationId xmlns:a16="http://schemas.microsoft.com/office/drawing/2014/main" id="{C75AF17C-6BA3-BF70-A1B0-8FB9B1A55C05}"/>
              </a:ext>
            </a:extLst>
          </p:cNvPr>
          <p:cNvSpPr txBox="1"/>
          <p:nvPr/>
        </p:nvSpPr>
        <p:spPr>
          <a:xfrm>
            <a:off x="402519" y="6468475"/>
            <a:ext cx="2154757" cy="276999"/>
          </a:xfrm>
          <a:prstGeom prst="rect">
            <a:avLst/>
          </a:prstGeom>
          <a:noFill/>
        </p:spPr>
        <p:txBody>
          <a:bodyPr wrap="none" rtlCol="0">
            <a:spAutoFit/>
          </a:bodyPr>
          <a:lstStyle/>
          <a:p>
            <a:r>
              <a:rPr lang="en-US" sz="1200" b="1" dirty="0">
                <a:latin typeface="IBM Plex Sans" panose="020B0503050203000203" pitchFamily="34" charset="0"/>
              </a:rPr>
              <a:t>Anti-malware for IBM z/OS</a:t>
            </a:r>
            <a:endParaRPr lang="de-DE" sz="1200" b="1" dirty="0">
              <a:latin typeface="IBM Plex Sans" panose="020B0503050203000203" pitchFamily="34" charset="0"/>
            </a:endParaRPr>
          </a:p>
        </p:txBody>
      </p:sp>
      <p:sp>
        <p:nvSpPr>
          <p:cNvPr id="47" name="TextBox 46">
            <a:extLst>
              <a:ext uri="{FF2B5EF4-FFF2-40B4-BE49-F238E27FC236}">
                <a16:creationId xmlns:a16="http://schemas.microsoft.com/office/drawing/2014/main" id="{EF435F4A-6518-4212-0944-4D13A9EEC5F4}"/>
              </a:ext>
            </a:extLst>
          </p:cNvPr>
          <p:cNvSpPr txBox="1"/>
          <p:nvPr/>
        </p:nvSpPr>
        <p:spPr>
          <a:xfrm>
            <a:off x="796857" y="6955580"/>
            <a:ext cx="1059906" cy="646331"/>
          </a:xfrm>
          <a:prstGeom prst="rect">
            <a:avLst/>
          </a:prstGeom>
          <a:noFill/>
        </p:spPr>
        <p:txBody>
          <a:bodyPr wrap="none" rtlCol="0">
            <a:spAutoFit/>
          </a:bodyPr>
          <a:lstStyle/>
          <a:p>
            <a:r>
              <a:rPr lang="de-DE" b="1" dirty="0">
                <a:solidFill>
                  <a:srgbClr val="2C6CA5"/>
                </a:solidFill>
                <a:latin typeface="IBM Plex Sans" panose="020B0503050203000203" pitchFamily="34" charset="0"/>
                <a:cs typeface="Times New Roman" panose="02020603050405020304" pitchFamily="18" charset="0"/>
              </a:rPr>
              <a:t>EVENTS</a:t>
            </a:r>
            <a:endParaRPr lang="de-DE" sz="1100" dirty="0">
              <a:solidFill>
                <a:srgbClr val="2C6CA5"/>
              </a:solidFill>
              <a:latin typeface="IBM Plex Sans" panose="020B0503050203000203" pitchFamily="34" charset="0"/>
              <a:cs typeface="Times New Roman" panose="02020603050405020304" pitchFamily="18" charset="0"/>
            </a:endParaRPr>
          </a:p>
          <a:p>
            <a:endParaRPr lang="de-DE" dirty="0"/>
          </a:p>
        </p:txBody>
      </p:sp>
      <p:sp>
        <p:nvSpPr>
          <p:cNvPr id="48" name="Oval 47">
            <a:extLst>
              <a:ext uri="{FF2B5EF4-FFF2-40B4-BE49-F238E27FC236}">
                <a16:creationId xmlns:a16="http://schemas.microsoft.com/office/drawing/2014/main" id="{8B697F80-77C5-AA26-ED7F-2983F3469FAC}"/>
              </a:ext>
            </a:extLst>
          </p:cNvPr>
          <p:cNvSpPr/>
          <p:nvPr/>
        </p:nvSpPr>
        <p:spPr>
          <a:xfrm>
            <a:off x="143747" y="7426705"/>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dirty="0">
                <a:latin typeface="IBM Plex Sans" panose="020B0503050203000203" pitchFamily="34" charset="0"/>
                <a:cs typeface="Times New Roman" panose="02020603050405020304" pitchFamily="18" charset="0"/>
              </a:rPr>
              <a:t>1</a:t>
            </a:r>
          </a:p>
        </p:txBody>
      </p:sp>
      <p:sp>
        <p:nvSpPr>
          <p:cNvPr id="49" name="Oval 48">
            <a:extLst>
              <a:ext uri="{FF2B5EF4-FFF2-40B4-BE49-F238E27FC236}">
                <a16:creationId xmlns:a16="http://schemas.microsoft.com/office/drawing/2014/main" id="{F312B277-4F89-B9B5-01DE-2ACBEC11BAEA}"/>
              </a:ext>
            </a:extLst>
          </p:cNvPr>
          <p:cNvSpPr/>
          <p:nvPr/>
        </p:nvSpPr>
        <p:spPr>
          <a:xfrm>
            <a:off x="133333" y="7828387"/>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dirty="0">
                <a:latin typeface="IBM Plex Sans" panose="020B0503050203000203" pitchFamily="34" charset="0"/>
                <a:cs typeface="Times New Roman" panose="02020603050405020304" pitchFamily="18" charset="0"/>
              </a:rPr>
              <a:t>2</a:t>
            </a:r>
          </a:p>
        </p:txBody>
      </p:sp>
      <p:sp>
        <p:nvSpPr>
          <p:cNvPr id="51" name="Oval 50">
            <a:extLst>
              <a:ext uri="{FF2B5EF4-FFF2-40B4-BE49-F238E27FC236}">
                <a16:creationId xmlns:a16="http://schemas.microsoft.com/office/drawing/2014/main" id="{AF5CBEAA-B9DD-B061-9B9E-826AADE924B0}"/>
              </a:ext>
            </a:extLst>
          </p:cNvPr>
          <p:cNvSpPr/>
          <p:nvPr/>
        </p:nvSpPr>
        <p:spPr>
          <a:xfrm>
            <a:off x="133333" y="8242263"/>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IBM Plex Sans" panose="020B0503050203000203" pitchFamily="34" charset="0"/>
                <a:cs typeface="Times New Roman" panose="02020603050405020304" pitchFamily="18" charset="0"/>
              </a:rPr>
              <a:t>3</a:t>
            </a:r>
            <a:endParaRPr lang="de-DE" sz="1400" b="1" dirty="0">
              <a:latin typeface="IBM Plex Sans" panose="020B0503050203000203" pitchFamily="34" charset="0"/>
              <a:cs typeface="Times New Roman" panose="02020603050405020304" pitchFamily="18" charset="0"/>
            </a:endParaRPr>
          </a:p>
        </p:txBody>
      </p:sp>
      <p:sp>
        <p:nvSpPr>
          <p:cNvPr id="53" name="Oval 52">
            <a:extLst>
              <a:ext uri="{FF2B5EF4-FFF2-40B4-BE49-F238E27FC236}">
                <a16:creationId xmlns:a16="http://schemas.microsoft.com/office/drawing/2014/main" id="{9B5854E0-B3FA-C334-764F-846ADFF38BA7}"/>
              </a:ext>
            </a:extLst>
          </p:cNvPr>
          <p:cNvSpPr/>
          <p:nvPr/>
        </p:nvSpPr>
        <p:spPr>
          <a:xfrm>
            <a:off x="132301" y="8642601"/>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IBM Plex Sans" panose="020B0503050203000203" pitchFamily="34" charset="0"/>
                <a:cs typeface="Times New Roman" panose="02020603050405020304" pitchFamily="18" charset="0"/>
              </a:rPr>
              <a:t>4</a:t>
            </a:r>
            <a:endParaRPr lang="de-DE" sz="1400" b="1" dirty="0">
              <a:latin typeface="IBM Plex Sans" panose="020B0503050203000203"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DBB83091-188C-0B21-671B-1127597BE921}"/>
              </a:ext>
            </a:extLst>
          </p:cNvPr>
          <p:cNvSpPr txBox="1"/>
          <p:nvPr/>
        </p:nvSpPr>
        <p:spPr>
          <a:xfrm>
            <a:off x="440147" y="7437699"/>
            <a:ext cx="1927131" cy="276999"/>
          </a:xfrm>
          <a:prstGeom prst="rect">
            <a:avLst/>
          </a:prstGeom>
          <a:noFill/>
        </p:spPr>
        <p:txBody>
          <a:bodyPr wrap="none" rtlCol="0">
            <a:spAutoFit/>
          </a:bodyPr>
          <a:lstStyle/>
          <a:p>
            <a:r>
              <a:rPr lang="en-US" sz="1200" b="1" dirty="0">
                <a:latin typeface="IBM Plex Sans" panose="020B0503050203000203" pitchFamily="34" charset="0"/>
              </a:rPr>
              <a:t>Z Alerts With Your SIEM</a:t>
            </a:r>
            <a:endParaRPr lang="de-DE" sz="1200" b="1" dirty="0">
              <a:latin typeface="IBM Plex Sans" panose="020B0503050203000203" pitchFamily="34" charset="0"/>
            </a:endParaRPr>
          </a:p>
        </p:txBody>
      </p:sp>
      <p:sp>
        <p:nvSpPr>
          <p:cNvPr id="56" name="TextBox 55">
            <a:extLst>
              <a:ext uri="{FF2B5EF4-FFF2-40B4-BE49-F238E27FC236}">
                <a16:creationId xmlns:a16="http://schemas.microsoft.com/office/drawing/2014/main" id="{39B47CAF-F6EE-9A42-2F0A-9367F80286A5}"/>
              </a:ext>
            </a:extLst>
          </p:cNvPr>
          <p:cNvSpPr txBox="1"/>
          <p:nvPr/>
        </p:nvSpPr>
        <p:spPr>
          <a:xfrm>
            <a:off x="431747" y="7833294"/>
            <a:ext cx="2206053" cy="276999"/>
          </a:xfrm>
          <a:prstGeom prst="rect">
            <a:avLst/>
          </a:prstGeom>
          <a:noFill/>
        </p:spPr>
        <p:txBody>
          <a:bodyPr wrap="none" rtlCol="0">
            <a:spAutoFit/>
          </a:bodyPr>
          <a:lstStyle/>
          <a:p>
            <a:r>
              <a:rPr lang="en-US" sz="1200" b="1" dirty="0">
                <a:latin typeface="IBM Plex Sans" panose="020B0503050203000203" pitchFamily="34" charset="0"/>
              </a:rPr>
              <a:t>Innovating in the Age of AI </a:t>
            </a:r>
            <a:endParaRPr lang="de-DE" sz="1200" b="1" dirty="0">
              <a:latin typeface="IBM Plex Sans" panose="020B0503050203000203" pitchFamily="34" charset="0"/>
            </a:endParaRPr>
          </a:p>
        </p:txBody>
      </p:sp>
      <p:sp>
        <p:nvSpPr>
          <p:cNvPr id="57" name="TextBox 56">
            <a:extLst>
              <a:ext uri="{FF2B5EF4-FFF2-40B4-BE49-F238E27FC236}">
                <a16:creationId xmlns:a16="http://schemas.microsoft.com/office/drawing/2014/main" id="{6C363151-2BDA-2621-625D-B2AC1E9B34C4}"/>
              </a:ext>
            </a:extLst>
          </p:cNvPr>
          <p:cNvSpPr txBox="1"/>
          <p:nvPr/>
        </p:nvSpPr>
        <p:spPr>
          <a:xfrm>
            <a:off x="421333" y="8254462"/>
            <a:ext cx="1718740" cy="461665"/>
          </a:xfrm>
          <a:prstGeom prst="rect">
            <a:avLst/>
          </a:prstGeom>
          <a:noFill/>
        </p:spPr>
        <p:txBody>
          <a:bodyPr wrap="none" rtlCol="0">
            <a:spAutoFit/>
          </a:bodyPr>
          <a:lstStyle/>
          <a:p>
            <a:r>
              <a:rPr lang="en-US" sz="1200" b="1" dirty="0">
                <a:latin typeface="IBM Plex Sans"/>
                <a:cs typeface="Calibri"/>
              </a:rPr>
              <a:t>Bank &amp; Zukunft 2023</a:t>
            </a:r>
          </a:p>
          <a:p>
            <a:endParaRPr lang="de-DE" sz="1200" b="1" dirty="0">
              <a:latin typeface="IBM Plex Sans" panose="020B0503050203000203" pitchFamily="34" charset="0"/>
            </a:endParaRPr>
          </a:p>
        </p:txBody>
      </p:sp>
      <p:sp>
        <p:nvSpPr>
          <p:cNvPr id="58" name="TextBox 57">
            <a:extLst>
              <a:ext uri="{FF2B5EF4-FFF2-40B4-BE49-F238E27FC236}">
                <a16:creationId xmlns:a16="http://schemas.microsoft.com/office/drawing/2014/main" id="{62AE2DEE-FFE2-8F0B-1ACB-F264DC53A108}"/>
              </a:ext>
            </a:extLst>
          </p:cNvPr>
          <p:cNvSpPr txBox="1"/>
          <p:nvPr/>
        </p:nvSpPr>
        <p:spPr>
          <a:xfrm>
            <a:off x="421333" y="8641770"/>
            <a:ext cx="1882247" cy="276999"/>
          </a:xfrm>
          <a:prstGeom prst="rect">
            <a:avLst/>
          </a:prstGeom>
          <a:noFill/>
        </p:spPr>
        <p:txBody>
          <a:bodyPr wrap="none" rtlCol="0">
            <a:spAutoFit/>
          </a:bodyPr>
          <a:lstStyle/>
          <a:p>
            <a:r>
              <a:rPr lang="en-US" sz="1200" b="1" dirty="0">
                <a:latin typeface="IBM Plex Sans"/>
              </a:rPr>
              <a:t>IBM Data and AI Forum</a:t>
            </a:r>
          </a:p>
        </p:txBody>
      </p:sp>
      <p:sp>
        <p:nvSpPr>
          <p:cNvPr id="59" name="TextBox 58">
            <a:extLst>
              <a:ext uri="{FF2B5EF4-FFF2-40B4-BE49-F238E27FC236}">
                <a16:creationId xmlns:a16="http://schemas.microsoft.com/office/drawing/2014/main" id="{D664BEAA-3754-B1D1-CC7F-D12596D40179}"/>
              </a:ext>
            </a:extLst>
          </p:cNvPr>
          <p:cNvSpPr txBox="1"/>
          <p:nvPr/>
        </p:nvSpPr>
        <p:spPr>
          <a:xfrm>
            <a:off x="352795" y="9467908"/>
            <a:ext cx="1914307" cy="646331"/>
          </a:xfrm>
          <a:prstGeom prst="rect">
            <a:avLst/>
          </a:prstGeom>
          <a:noFill/>
        </p:spPr>
        <p:txBody>
          <a:bodyPr wrap="none" rtlCol="0">
            <a:spAutoFit/>
          </a:bodyPr>
          <a:lstStyle/>
          <a:p>
            <a:r>
              <a:rPr lang="de-DE" b="1" dirty="0">
                <a:solidFill>
                  <a:srgbClr val="2C6CA5"/>
                </a:solidFill>
                <a:latin typeface="IBM Plex Sans" panose="020B0503050203000203" pitchFamily="34" charset="0"/>
                <a:cs typeface="Times New Roman" panose="02020603050405020304" pitchFamily="18" charset="0"/>
              </a:rPr>
              <a:t>und</a:t>
            </a:r>
            <a:r>
              <a:rPr lang="de-DE" b="1" dirty="0">
                <a:latin typeface="IBM Plex Sans" panose="020B0503050203000203" pitchFamily="34" charset="0"/>
                <a:cs typeface="Times New Roman" panose="02020603050405020304" pitchFamily="18" charset="0"/>
              </a:rPr>
              <a:t> </a:t>
            </a:r>
            <a:r>
              <a:rPr lang="de-DE" b="1" dirty="0">
                <a:solidFill>
                  <a:srgbClr val="2C6CA5"/>
                </a:solidFill>
                <a:latin typeface="IBM Plex Sans" panose="020B0503050203000203" pitchFamily="34" charset="0"/>
                <a:cs typeface="Times New Roman" panose="02020603050405020304" pitchFamily="18" charset="0"/>
              </a:rPr>
              <a:t>vieles</a:t>
            </a:r>
            <a:r>
              <a:rPr lang="de-DE" b="1" dirty="0">
                <a:latin typeface="IBM Plex Sans" panose="020B0503050203000203" pitchFamily="34" charset="0"/>
                <a:cs typeface="Times New Roman" panose="02020603050405020304" pitchFamily="18" charset="0"/>
              </a:rPr>
              <a:t> </a:t>
            </a:r>
            <a:r>
              <a:rPr lang="de-DE" b="1" dirty="0">
                <a:solidFill>
                  <a:srgbClr val="2C6CA5"/>
                </a:solidFill>
                <a:latin typeface="IBM Plex Sans" panose="020B0503050203000203" pitchFamily="34" charset="0"/>
                <a:cs typeface="Times New Roman" panose="02020603050405020304" pitchFamily="18" charset="0"/>
              </a:rPr>
              <a:t>mehr</a:t>
            </a:r>
            <a:endParaRPr lang="de-DE" dirty="0">
              <a:solidFill>
                <a:srgbClr val="2C6CA5"/>
              </a:solidFill>
              <a:latin typeface="IBM Plex Sans" panose="020B0503050203000203" pitchFamily="34" charset="0"/>
              <a:cs typeface="Times New Roman" panose="02020603050405020304" pitchFamily="18" charset="0"/>
            </a:endParaRPr>
          </a:p>
          <a:p>
            <a:endParaRPr lang="de-DE" b="1" dirty="0">
              <a:latin typeface="IBM Plex Sans" panose="020B0503050203000203" pitchFamily="34" charset="0"/>
              <a:cs typeface="Times New Roman" panose="02020603050405020304" pitchFamily="18" charset="0"/>
            </a:endParaRPr>
          </a:p>
        </p:txBody>
      </p:sp>
      <p:pic>
        <p:nvPicPr>
          <p:cNvPr id="3" name="Picture 14">
            <a:extLst>
              <a:ext uri="{FF2B5EF4-FFF2-40B4-BE49-F238E27FC236}">
                <a16:creationId xmlns:a16="http://schemas.microsoft.com/office/drawing/2014/main" id="{89D63BFA-150F-C58E-09FE-D85743E7E1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87211" y="1397289"/>
            <a:ext cx="1000828" cy="47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3120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FBB0517A-8B6D-394E-8E07-AD5825CE91B9}"/>
              </a:ext>
            </a:extLst>
          </p:cNvPr>
          <p:cNvSpPr/>
          <p:nvPr/>
        </p:nvSpPr>
        <p:spPr>
          <a:xfrm>
            <a:off x="-5676" y="0"/>
            <a:ext cx="7565335" cy="5989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latin typeface="IBM Plex Sans" panose="020B0503050203000203" pitchFamily="34" charset="0"/>
            </a:endParaRPr>
          </a:p>
        </p:txBody>
      </p:sp>
      <p:sp>
        <p:nvSpPr>
          <p:cNvPr id="9" name="Rectangle 4">
            <a:extLst>
              <a:ext uri="{FF2B5EF4-FFF2-40B4-BE49-F238E27FC236}">
                <a16:creationId xmlns:a16="http://schemas.microsoft.com/office/drawing/2014/main" id="{9EC5508E-5F00-73FC-BB46-90ADF11BD6ED}"/>
              </a:ext>
            </a:extLst>
          </p:cNvPr>
          <p:cNvSpPr>
            <a:spLocks noChangeArrowheads="1"/>
          </p:cNvSpPr>
          <p:nvPr/>
        </p:nvSpPr>
        <p:spPr bwMode="auto">
          <a:xfrm>
            <a:off x="0" y="2412911"/>
            <a:ext cx="34811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latin typeface="IBM Plex Sans" panose="020B0503050203000203" pitchFamily="34" charset="0"/>
            </a:endParaRPr>
          </a:p>
        </p:txBody>
      </p:sp>
      <p:pic>
        <p:nvPicPr>
          <p:cNvPr id="4" name="Picture 46" descr="blue-tri-color-logo">
            <a:extLst>
              <a:ext uri="{FF2B5EF4-FFF2-40B4-BE49-F238E27FC236}">
                <a16:creationId xmlns:a16="http://schemas.microsoft.com/office/drawing/2014/main" id="{D7D6DE4C-CE7D-1C47-A95D-B5FA1EB1534F}"/>
              </a:ext>
            </a:extLst>
          </p:cNvPr>
          <p:cNvPicPr>
            <a:picLocks noChangeAspect="1" noChangeArrowheads="1"/>
          </p:cNvPicPr>
          <p:nvPr/>
        </p:nvPicPr>
        <p:blipFill>
          <a:blip r:embed="rId2" cstate="print"/>
          <a:srcRect/>
          <a:stretch>
            <a:fillRect/>
          </a:stretch>
        </p:blipFill>
        <p:spPr bwMode="auto">
          <a:xfrm>
            <a:off x="6544192" y="144431"/>
            <a:ext cx="751185" cy="304253"/>
          </a:xfrm>
          <a:prstGeom prst="rect">
            <a:avLst/>
          </a:prstGeom>
          <a:noFill/>
          <a:ln w="9525">
            <a:noFill/>
            <a:miter lim="800000"/>
            <a:headEnd/>
            <a:tailEnd/>
          </a:ln>
        </p:spPr>
      </p:pic>
      <p:sp>
        <p:nvSpPr>
          <p:cNvPr id="8" name="Oval 7">
            <a:extLst>
              <a:ext uri="{FF2B5EF4-FFF2-40B4-BE49-F238E27FC236}">
                <a16:creationId xmlns:a16="http://schemas.microsoft.com/office/drawing/2014/main" id="{B31E91AA-14E8-8BA7-3D02-172E3C82239A}"/>
              </a:ext>
            </a:extLst>
          </p:cNvPr>
          <p:cNvSpPr/>
          <p:nvPr/>
        </p:nvSpPr>
        <p:spPr>
          <a:xfrm>
            <a:off x="45952" y="792500"/>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IBM Plex Sans" panose="020B0503050203000203" pitchFamily="34" charset="0"/>
              </a:rPr>
              <a:t>2</a:t>
            </a:r>
            <a:endParaRPr lang="de-DE" sz="1400" b="1" dirty="0">
              <a:solidFill>
                <a:schemeClr val="bg1"/>
              </a:solidFill>
              <a:latin typeface="IBM Plex Sans" panose="020B0503050203000203" pitchFamily="34" charset="0"/>
            </a:endParaRPr>
          </a:p>
        </p:txBody>
      </p:sp>
      <p:cxnSp>
        <p:nvCxnSpPr>
          <p:cNvPr id="17" name="Gerade Verbindung 19">
            <a:extLst>
              <a:ext uri="{FF2B5EF4-FFF2-40B4-BE49-F238E27FC236}">
                <a16:creationId xmlns:a16="http://schemas.microsoft.com/office/drawing/2014/main" id="{C84463F9-CBFC-4EB5-04E6-EA5B6202FCC8}"/>
              </a:ext>
            </a:extLst>
          </p:cNvPr>
          <p:cNvCxnSpPr/>
          <p:nvPr/>
        </p:nvCxnSpPr>
        <p:spPr>
          <a:xfrm>
            <a:off x="28783" y="2292951"/>
            <a:ext cx="7530892"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feld 2">
            <a:extLst>
              <a:ext uri="{FF2B5EF4-FFF2-40B4-BE49-F238E27FC236}">
                <a16:creationId xmlns:a16="http://schemas.microsoft.com/office/drawing/2014/main" id="{CD3DCFD5-87EA-ECB3-8DB4-54D3A8036E42}"/>
              </a:ext>
            </a:extLst>
          </p:cNvPr>
          <p:cNvSpPr txBox="1"/>
          <p:nvPr/>
        </p:nvSpPr>
        <p:spPr>
          <a:xfrm>
            <a:off x="372051" y="2484345"/>
            <a:ext cx="7171841" cy="307777"/>
          </a:xfrm>
          <a:prstGeom prst="rect">
            <a:avLst/>
          </a:prstGeom>
          <a:noFill/>
        </p:spPr>
        <p:txBody>
          <a:bodyPr wrap="square" lIns="91440" tIns="45720" rIns="91440" bIns="45720" rtlCol="0" anchor="t">
            <a:spAutoFit/>
          </a:bodyPr>
          <a:lstStyle/>
          <a:p>
            <a:r>
              <a:rPr lang="en-US" sz="1400" b="1" dirty="0">
                <a:latin typeface="IBM Plex Sans" panose="020B0503050203000203" pitchFamily="34" charset="0"/>
                <a:ea typeface="+mn-lt"/>
                <a:cs typeface="+mn-lt"/>
              </a:rPr>
              <a:t>IBM Z &amp; </a:t>
            </a:r>
            <a:r>
              <a:rPr lang="en-US" sz="1400" b="1" dirty="0" err="1">
                <a:latin typeface="IBM Plex Sans" panose="020B0503050203000203" pitchFamily="34" charset="0"/>
                <a:ea typeface="+mn-lt"/>
                <a:cs typeface="+mn-lt"/>
              </a:rPr>
              <a:t>LinuxONE</a:t>
            </a:r>
            <a:r>
              <a:rPr lang="en-US" sz="1400" b="1" dirty="0">
                <a:latin typeface="IBM Plex Sans" panose="020B0503050203000203" pitchFamily="34" charset="0"/>
                <a:ea typeface="+mn-lt"/>
                <a:cs typeface="+mn-lt"/>
              </a:rPr>
              <a:t> Security and Compliance Center Version 1.2 </a:t>
            </a:r>
          </a:p>
        </p:txBody>
      </p:sp>
      <p:sp>
        <p:nvSpPr>
          <p:cNvPr id="19" name="Oval 18">
            <a:extLst>
              <a:ext uri="{FF2B5EF4-FFF2-40B4-BE49-F238E27FC236}">
                <a16:creationId xmlns:a16="http://schemas.microsoft.com/office/drawing/2014/main" id="{0C8F70F1-6B45-E593-EBA9-953EDC56788F}"/>
              </a:ext>
            </a:extLst>
          </p:cNvPr>
          <p:cNvSpPr/>
          <p:nvPr/>
        </p:nvSpPr>
        <p:spPr>
          <a:xfrm>
            <a:off x="52675" y="2484345"/>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IBM Plex Sans" panose="020B0503050203000203" pitchFamily="34" charset="0"/>
              </a:rPr>
              <a:t>3</a:t>
            </a:r>
            <a:endParaRPr lang="de-DE" sz="1400" b="1" dirty="0">
              <a:solidFill>
                <a:schemeClr val="bg1"/>
              </a:solidFill>
              <a:latin typeface="IBM Plex Sans" panose="020B0503050203000203" pitchFamily="34" charset="0"/>
            </a:endParaRPr>
          </a:p>
        </p:txBody>
      </p:sp>
      <p:sp>
        <p:nvSpPr>
          <p:cNvPr id="22" name="Textfeld 11">
            <a:extLst>
              <a:ext uri="{FF2B5EF4-FFF2-40B4-BE49-F238E27FC236}">
                <a16:creationId xmlns:a16="http://schemas.microsoft.com/office/drawing/2014/main" id="{A569BF2A-F113-C518-8C6B-3C564560A976}"/>
              </a:ext>
            </a:extLst>
          </p:cNvPr>
          <p:cNvSpPr txBox="1"/>
          <p:nvPr/>
        </p:nvSpPr>
        <p:spPr>
          <a:xfrm>
            <a:off x="70872" y="2985416"/>
            <a:ext cx="7325349" cy="1384995"/>
          </a:xfrm>
          <a:prstGeom prst="rect">
            <a:avLst/>
          </a:prstGeom>
          <a:noFill/>
        </p:spPr>
        <p:txBody>
          <a:bodyPr wrap="square" lIns="91440" tIns="45720" rIns="91440" bIns="45720" rtlCol="0" anchor="t">
            <a:spAutoFit/>
          </a:bodyPr>
          <a:lstStyle/>
          <a:p>
            <a:pPr algn="just"/>
            <a:r>
              <a:rPr lang="de-DE" sz="1050" dirty="0">
                <a:latin typeface="IBM Plex Sans" panose="020B0503050203000203" pitchFamily="34" charset="0"/>
                <a:cs typeface="Calibri" panose="020F0502020204030204"/>
              </a:rPr>
              <a:t>Die IBM Z &amp; </a:t>
            </a:r>
            <a:r>
              <a:rPr lang="de-DE" sz="1050" dirty="0" err="1">
                <a:latin typeface="IBM Plex Sans" panose="020B0503050203000203" pitchFamily="34" charset="0"/>
                <a:cs typeface="Calibri" panose="020F0502020204030204"/>
              </a:rPr>
              <a:t>LinuxONE</a:t>
            </a:r>
            <a:r>
              <a:rPr lang="de-DE" sz="1050" dirty="0">
                <a:latin typeface="IBM Plex Sans" panose="020B0503050203000203" pitchFamily="34" charset="0"/>
                <a:cs typeface="Calibri" panose="020F0502020204030204"/>
              </a:rPr>
              <a:t> Security and Compliance Center (</a:t>
            </a:r>
            <a:r>
              <a:rPr lang="de-DE" sz="1050" dirty="0" err="1">
                <a:latin typeface="IBM Plex Sans" panose="020B0503050203000203" pitchFamily="34" charset="0"/>
                <a:cs typeface="Calibri" panose="020F0502020204030204"/>
              </a:rPr>
              <a:t>zSCC</a:t>
            </a:r>
            <a:r>
              <a:rPr lang="de-DE" sz="1050" dirty="0">
                <a:latin typeface="IBM Plex Sans" panose="020B0503050203000203" pitchFamily="34" charset="0"/>
                <a:cs typeface="Calibri" panose="020F0502020204030204"/>
              </a:rPr>
              <a:t>) 1.2 wurden angekündigt. Dies sind moderne, browserbasierte Anwendungen, die Organisationen bei der Compliance-Fähigkeitszuordnung, der Faktensammlung und Validierung unterstützen können. Diese Lösungen sind für Benutzer mit unterschiedlichen Fähigkeiten konzipiert und können die automatisierte Sammlung von Nachweisen zu Compliance-bezogenen Fakten von IBM Z-Plattformen erleichtern.</a:t>
            </a:r>
          </a:p>
          <a:p>
            <a:pPr algn="just"/>
            <a:endParaRPr lang="de-DE" sz="1050" dirty="0">
              <a:latin typeface="IBM Plex Sans" panose="020B0503050203000203" pitchFamily="34" charset="0"/>
              <a:cs typeface="Calibri" panose="020F0502020204030204"/>
            </a:endParaRPr>
          </a:p>
          <a:p>
            <a:pPr algn="just"/>
            <a:r>
              <a:rPr lang="de-DE" sz="1050" dirty="0">
                <a:latin typeface="IBM Plex Sans" panose="020B0503050203000203" pitchFamily="34" charset="0"/>
                <a:cs typeface="Calibri" panose="020F0502020204030204"/>
              </a:rPr>
              <a:t>Mehr Information über die </a:t>
            </a:r>
            <a:r>
              <a:rPr lang="de-DE" sz="1050" dirty="0" err="1">
                <a:latin typeface="IBM Plex Sans" panose="020B0503050203000203" pitchFamily="34" charset="0"/>
                <a:cs typeface="Calibri" panose="020F0502020204030204"/>
              </a:rPr>
              <a:t>zSCC</a:t>
            </a:r>
            <a:r>
              <a:rPr lang="de-DE" sz="1050" dirty="0">
                <a:latin typeface="IBM Plex Sans" panose="020B0503050203000203" pitchFamily="34" charset="0"/>
                <a:cs typeface="Calibri" panose="020F0502020204030204"/>
              </a:rPr>
              <a:t> und die Neuerungen der Version 1.2 finden sich </a:t>
            </a:r>
            <a:r>
              <a:rPr lang="de-DE" sz="1050" dirty="0">
                <a:latin typeface="IBM Plex Sans" panose="020B0503050203000203" pitchFamily="34" charset="0"/>
                <a:cs typeface="Calibri" panose="020F0502020204030204"/>
                <a:hlinkClick r:id="rId3"/>
              </a:rPr>
              <a:t>hier</a:t>
            </a:r>
            <a:r>
              <a:rPr lang="de-DE" sz="1050" dirty="0">
                <a:latin typeface="IBM Plex Sans" panose="020B0503050203000203" pitchFamily="34" charset="0"/>
                <a:cs typeface="Calibri" panose="020F0502020204030204"/>
              </a:rPr>
              <a:t> und </a:t>
            </a:r>
            <a:r>
              <a:rPr lang="de-DE" sz="1050" dirty="0">
                <a:latin typeface="IBM Plex Sans" panose="020B0503050203000203" pitchFamily="34" charset="0"/>
                <a:cs typeface="Calibri" panose="020F0502020204030204"/>
                <a:hlinkClick r:id="rId4"/>
              </a:rPr>
              <a:t>hier</a:t>
            </a:r>
            <a:r>
              <a:rPr lang="de-DE" sz="1050" dirty="0">
                <a:latin typeface="IBM Plex Sans" panose="020B0503050203000203" pitchFamily="34" charset="0"/>
                <a:cs typeface="Calibri" panose="020F0502020204030204"/>
              </a:rPr>
              <a:t>.</a:t>
            </a:r>
          </a:p>
          <a:p>
            <a:pPr algn="just"/>
            <a:endParaRPr lang="de-DE" sz="1050" dirty="0">
              <a:latin typeface="IBM Plex Sans" panose="020B0503050203000203" pitchFamily="34" charset="0"/>
              <a:cs typeface="Calibri" panose="020F0502020204030204"/>
            </a:endParaRPr>
          </a:p>
        </p:txBody>
      </p:sp>
      <p:sp>
        <p:nvSpPr>
          <p:cNvPr id="23" name="Rechteck 3">
            <a:extLst>
              <a:ext uri="{FF2B5EF4-FFF2-40B4-BE49-F238E27FC236}">
                <a16:creationId xmlns:a16="http://schemas.microsoft.com/office/drawing/2014/main" id="{44BE1013-B36C-44CE-7298-89761EF02956}"/>
              </a:ext>
            </a:extLst>
          </p:cNvPr>
          <p:cNvSpPr/>
          <p:nvPr/>
        </p:nvSpPr>
        <p:spPr>
          <a:xfrm>
            <a:off x="-2830" y="10175607"/>
            <a:ext cx="7565335" cy="5989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IBM Plex Sans" panose="020B0503050203000203" pitchFamily="34" charset="0"/>
            </a:endParaRPr>
          </a:p>
        </p:txBody>
      </p:sp>
      <p:sp>
        <p:nvSpPr>
          <p:cNvPr id="24" name="Rectangle 6">
            <a:extLst>
              <a:ext uri="{FF2B5EF4-FFF2-40B4-BE49-F238E27FC236}">
                <a16:creationId xmlns:a16="http://schemas.microsoft.com/office/drawing/2014/main" id="{4104B917-8903-3CB1-4DE5-B3834F24FB8C}"/>
              </a:ext>
            </a:extLst>
          </p:cNvPr>
          <p:cNvSpPr>
            <a:spLocks noChangeArrowheads="1"/>
          </p:cNvSpPr>
          <p:nvPr/>
        </p:nvSpPr>
        <p:spPr bwMode="black">
          <a:xfrm>
            <a:off x="65375" y="10475073"/>
            <a:ext cx="13716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t"/>
          <a:lstStyle>
            <a:lvl1pPr>
              <a:defRPr b="1">
                <a:solidFill>
                  <a:schemeClr val="tx1"/>
                </a:solidFill>
                <a:latin typeface="Arial" panose="020B0604020202020204" pitchFamily="34" charset="0"/>
                <a:ea typeface="MS PGothic" panose="020B0600070205080204" pitchFamily="34" charset="-128"/>
              </a:defRPr>
            </a:lvl1pPr>
            <a:lvl2pPr marL="742950" indent="-285750">
              <a:defRPr b="1">
                <a:solidFill>
                  <a:schemeClr val="tx1"/>
                </a:solidFill>
                <a:latin typeface="Arial" panose="020B0604020202020204" pitchFamily="34" charset="0"/>
                <a:ea typeface="MS PGothic" panose="020B0600070205080204" pitchFamily="34" charset="-128"/>
              </a:defRPr>
            </a:lvl2pPr>
            <a:lvl3pPr marL="1143000" indent="-228600">
              <a:defRPr b="1">
                <a:solidFill>
                  <a:schemeClr val="tx1"/>
                </a:solidFill>
                <a:latin typeface="Arial" panose="020B0604020202020204" pitchFamily="34" charset="0"/>
                <a:ea typeface="MS PGothic" panose="020B0600070205080204" pitchFamily="34" charset="-128"/>
              </a:defRPr>
            </a:lvl3pPr>
            <a:lvl4pPr marL="1600200" indent="-228600">
              <a:defRPr b="1">
                <a:solidFill>
                  <a:schemeClr val="tx1"/>
                </a:solidFill>
                <a:latin typeface="Arial" panose="020B0604020202020204" pitchFamily="34" charset="0"/>
                <a:ea typeface="MS PGothic" panose="020B0600070205080204" pitchFamily="34" charset="-128"/>
              </a:defRPr>
            </a:lvl4pPr>
            <a:lvl5pPr marL="2057400" indent="-228600">
              <a:defRPr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9pPr>
          </a:lstStyle>
          <a:p>
            <a:pPr>
              <a:defRPr/>
            </a:pPr>
            <a:r>
              <a:rPr lang="en-US" sz="800" b="0" dirty="0">
                <a:latin typeface="IBM Plex Sans" panose="020B0503050203000203" pitchFamily="34" charset="0"/>
                <a:ea typeface="MS PGothic"/>
              </a:rPr>
              <a:t>© 2026 IBM Corporation</a:t>
            </a:r>
          </a:p>
        </p:txBody>
      </p:sp>
      <p:sp>
        <p:nvSpPr>
          <p:cNvPr id="25" name="Textfeld 13">
            <a:extLst>
              <a:ext uri="{FF2B5EF4-FFF2-40B4-BE49-F238E27FC236}">
                <a16:creationId xmlns:a16="http://schemas.microsoft.com/office/drawing/2014/main" id="{413B8593-6E02-1EAA-FA73-FDAD080985D5}"/>
              </a:ext>
            </a:extLst>
          </p:cNvPr>
          <p:cNvSpPr txBox="1"/>
          <p:nvPr/>
        </p:nvSpPr>
        <p:spPr>
          <a:xfrm>
            <a:off x="3667001" y="10404617"/>
            <a:ext cx="257202" cy="253916"/>
          </a:xfrm>
          <a:prstGeom prst="rect">
            <a:avLst/>
          </a:prstGeom>
          <a:noFill/>
        </p:spPr>
        <p:txBody>
          <a:bodyPr wrap="square" rtlCol="0">
            <a:spAutoFit/>
          </a:bodyPr>
          <a:lstStyle/>
          <a:p>
            <a:r>
              <a:rPr lang="en-GB" sz="1050" dirty="0">
                <a:latin typeface="IBM Plex Sans" panose="020B0503050203000203" pitchFamily="34" charset="0"/>
              </a:rPr>
              <a:t>2</a:t>
            </a:r>
            <a:endParaRPr lang="de-DE" sz="1050" dirty="0">
              <a:latin typeface="IBM Plex Sans" panose="020B0503050203000203" pitchFamily="34" charset="0"/>
            </a:endParaRPr>
          </a:p>
        </p:txBody>
      </p:sp>
      <p:pic>
        <p:nvPicPr>
          <p:cNvPr id="27" name="Picture 46" descr="blue-tri-color-logo">
            <a:extLst>
              <a:ext uri="{FF2B5EF4-FFF2-40B4-BE49-F238E27FC236}">
                <a16:creationId xmlns:a16="http://schemas.microsoft.com/office/drawing/2014/main" id="{EB11B885-E09A-35A7-A335-D23E0A9DCC84}"/>
              </a:ext>
            </a:extLst>
          </p:cNvPr>
          <p:cNvPicPr>
            <a:picLocks noChangeAspect="1" noChangeArrowheads="1"/>
          </p:cNvPicPr>
          <p:nvPr/>
        </p:nvPicPr>
        <p:blipFill>
          <a:blip r:embed="rId2" cstate="print"/>
          <a:srcRect/>
          <a:stretch>
            <a:fillRect/>
          </a:stretch>
        </p:blipFill>
        <p:spPr bwMode="auto">
          <a:xfrm>
            <a:off x="6708673" y="10338928"/>
            <a:ext cx="751185" cy="304253"/>
          </a:xfrm>
          <a:prstGeom prst="rect">
            <a:avLst/>
          </a:prstGeom>
          <a:noFill/>
          <a:ln w="9525">
            <a:noFill/>
            <a:miter lim="800000"/>
            <a:headEnd/>
            <a:tailEnd/>
          </a:ln>
        </p:spPr>
      </p:pic>
      <p:cxnSp>
        <p:nvCxnSpPr>
          <p:cNvPr id="10" name="Gerade Verbindung 19">
            <a:extLst>
              <a:ext uri="{FF2B5EF4-FFF2-40B4-BE49-F238E27FC236}">
                <a16:creationId xmlns:a16="http://schemas.microsoft.com/office/drawing/2014/main" id="{7BAF8B44-B936-27FD-4BAF-3B5E667C0C96}"/>
              </a:ext>
            </a:extLst>
          </p:cNvPr>
          <p:cNvCxnSpPr/>
          <p:nvPr/>
        </p:nvCxnSpPr>
        <p:spPr>
          <a:xfrm>
            <a:off x="13403" y="4441933"/>
            <a:ext cx="7530892"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feld 2">
            <a:extLst>
              <a:ext uri="{FF2B5EF4-FFF2-40B4-BE49-F238E27FC236}">
                <a16:creationId xmlns:a16="http://schemas.microsoft.com/office/drawing/2014/main" id="{AF341F55-70BA-FCFE-BBD6-02944E477DB0}"/>
              </a:ext>
            </a:extLst>
          </p:cNvPr>
          <p:cNvSpPr txBox="1"/>
          <p:nvPr/>
        </p:nvSpPr>
        <p:spPr>
          <a:xfrm>
            <a:off x="353375" y="4642667"/>
            <a:ext cx="7171841" cy="523220"/>
          </a:xfrm>
          <a:prstGeom prst="rect">
            <a:avLst/>
          </a:prstGeom>
          <a:noFill/>
        </p:spPr>
        <p:txBody>
          <a:bodyPr wrap="square" lIns="91440" tIns="45720" rIns="91440" bIns="45720" rtlCol="0" anchor="t">
            <a:spAutoFit/>
          </a:bodyPr>
          <a:lstStyle/>
          <a:p>
            <a:r>
              <a:rPr lang="en-US" sz="1400" b="1" dirty="0">
                <a:latin typeface="IBM Plex Sans" panose="020B0503050203000203" pitchFamily="34" charset="0"/>
                <a:ea typeface="+mn-lt"/>
                <a:cs typeface="+mn-lt"/>
              </a:rPr>
              <a:t>NEU </a:t>
            </a:r>
            <a:r>
              <a:rPr lang="en-US" sz="1400" b="1" dirty="0" err="1">
                <a:latin typeface="IBM Plex Sans" panose="020B0503050203000203" pitchFamily="34" charset="0"/>
                <a:ea typeface="+mn-lt"/>
                <a:cs typeface="+mn-lt"/>
              </a:rPr>
              <a:t>mit</a:t>
            </a:r>
            <a:r>
              <a:rPr lang="en-US" sz="1400" b="1" dirty="0">
                <a:latin typeface="IBM Plex Sans" panose="020B0503050203000203" pitchFamily="34" charset="0"/>
                <a:ea typeface="+mn-lt"/>
                <a:cs typeface="+mn-lt"/>
              </a:rPr>
              <a:t> Unified Key Orchestrator for IBM z/OS (</a:t>
            </a:r>
            <a:r>
              <a:rPr lang="en-US" sz="1400" b="1" dirty="0" err="1">
                <a:latin typeface="IBM Plex Sans" panose="020B0503050203000203" pitchFamily="34" charset="0"/>
                <a:ea typeface="+mn-lt"/>
                <a:cs typeface="+mn-lt"/>
              </a:rPr>
              <a:t>vormals</a:t>
            </a:r>
            <a:r>
              <a:rPr lang="en-US" sz="1400" b="1" dirty="0">
                <a:latin typeface="IBM Plex Sans" panose="020B0503050203000203" pitchFamily="34" charset="0"/>
                <a:ea typeface="+mn-lt"/>
                <a:cs typeface="+mn-lt"/>
              </a:rPr>
              <a:t> </a:t>
            </a:r>
            <a:r>
              <a:rPr lang="en-US" sz="1400" b="1" dirty="0" err="1">
                <a:latin typeface="IBM Plex Sans" panose="020B0503050203000203" pitchFamily="34" charset="0"/>
                <a:ea typeface="+mn-lt"/>
                <a:cs typeface="+mn-lt"/>
              </a:rPr>
              <a:t>bekannt</a:t>
            </a:r>
            <a:r>
              <a:rPr lang="en-US" sz="1400" b="1" dirty="0">
                <a:latin typeface="IBM Plex Sans" panose="020B0503050203000203" pitchFamily="34" charset="0"/>
                <a:ea typeface="+mn-lt"/>
                <a:cs typeface="+mn-lt"/>
              </a:rPr>
              <a:t> </a:t>
            </a:r>
            <a:r>
              <a:rPr lang="en-US" sz="1400" b="1" dirty="0" err="1">
                <a:latin typeface="IBM Plex Sans" panose="020B0503050203000203" pitchFamily="34" charset="0"/>
                <a:ea typeface="+mn-lt"/>
                <a:cs typeface="+mn-lt"/>
              </a:rPr>
              <a:t>als</a:t>
            </a:r>
            <a:r>
              <a:rPr lang="en-US" sz="1400" b="1" dirty="0">
                <a:latin typeface="IBM Plex Sans" panose="020B0503050203000203" pitchFamily="34" charset="0"/>
                <a:ea typeface="+mn-lt"/>
                <a:cs typeface="+mn-lt"/>
              </a:rPr>
              <a:t> EKMF Web): Multi-Cloud </a:t>
            </a:r>
            <a:r>
              <a:rPr lang="en-US" sz="1400" b="1" dirty="0" err="1">
                <a:latin typeface="IBM Plex Sans" panose="020B0503050203000203" pitchFamily="34" charset="0"/>
                <a:ea typeface="+mn-lt"/>
                <a:cs typeface="+mn-lt"/>
              </a:rPr>
              <a:t>Unterstützung</a:t>
            </a:r>
            <a:r>
              <a:rPr lang="en-US" sz="1400" b="1" dirty="0">
                <a:latin typeface="IBM Plex Sans" panose="020B0503050203000203" pitchFamily="34" charset="0"/>
                <a:ea typeface="+mn-lt"/>
                <a:cs typeface="+mn-lt"/>
              </a:rPr>
              <a:t> um Google Cloud Platform (GCP) </a:t>
            </a:r>
            <a:r>
              <a:rPr lang="en-US" sz="1400" b="1" dirty="0" err="1">
                <a:latin typeface="IBM Plex Sans" panose="020B0503050203000203" pitchFamily="34" charset="0"/>
                <a:ea typeface="+mn-lt"/>
                <a:cs typeface="+mn-lt"/>
              </a:rPr>
              <a:t>erweitert</a:t>
            </a:r>
            <a:endParaRPr lang="en-US" sz="1400" b="1" dirty="0">
              <a:latin typeface="IBM Plex Sans" panose="020B0503050203000203" pitchFamily="34" charset="0"/>
              <a:ea typeface="+mn-lt"/>
              <a:cs typeface="+mn-lt"/>
            </a:endParaRPr>
          </a:p>
        </p:txBody>
      </p:sp>
      <p:sp>
        <p:nvSpPr>
          <p:cNvPr id="13" name="Oval 12">
            <a:extLst>
              <a:ext uri="{FF2B5EF4-FFF2-40B4-BE49-F238E27FC236}">
                <a16:creationId xmlns:a16="http://schemas.microsoft.com/office/drawing/2014/main" id="{59F7985A-2018-AAF3-3AE3-4776D99C5EB3}"/>
              </a:ext>
            </a:extLst>
          </p:cNvPr>
          <p:cNvSpPr/>
          <p:nvPr/>
        </p:nvSpPr>
        <p:spPr>
          <a:xfrm>
            <a:off x="32355" y="4706111"/>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IBM Plex Sans" panose="020B0503050203000203" pitchFamily="34" charset="0"/>
              </a:rPr>
              <a:t>4</a:t>
            </a:r>
            <a:endParaRPr lang="de-DE" sz="1400" b="1" dirty="0">
              <a:solidFill>
                <a:schemeClr val="bg1"/>
              </a:solidFill>
              <a:latin typeface="IBM Plex Sans" panose="020B0503050203000203" pitchFamily="34" charset="0"/>
            </a:endParaRPr>
          </a:p>
        </p:txBody>
      </p:sp>
      <p:sp>
        <p:nvSpPr>
          <p:cNvPr id="14" name="Textfeld 11">
            <a:extLst>
              <a:ext uri="{FF2B5EF4-FFF2-40B4-BE49-F238E27FC236}">
                <a16:creationId xmlns:a16="http://schemas.microsoft.com/office/drawing/2014/main" id="{0D0241AB-E088-6A21-7BE7-D0E6E3D6D3E1}"/>
              </a:ext>
            </a:extLst>
          </p:cNvPr>
          <p:cNvSpPr txBox="1"/>
          <p:nvPr/>
        </p:nvSpPr>
        <p:spPr>
          <a:xfrm>
            <a:off x="84051" y="5201509"/>
            <a:ext cx="7325349" cy="2354491"/>
          </a:xfrm>
          <a:prstGeom prst="rect">
            <a:avLst/>
          </a:prstGeom>
          <a:noFill/>
        </p:spPr>
        <p:txBody>
          <a:bodyPr wrap="square" lIns="91440" tIns="45720" rIns="91440" bIns="45720" rtlCol="0" anchor="t">
            <a:spAutoFit/>
          </a:bodyPr>
          <a:lstStyle/>
          <a:p>
            <a:pPr algn="just"/>
            <a:r>
              <a:rPr lang="de-DE" sz="1050" dirty="0">
                <a:latin typeface="IBM Plex Sans" panose="020B0503050203000203" pitchFamily="34" charset="0"/>
                <a:cs typeface="Calibri" panose="020F0502020204030204"/>
              </a:rPr>
              <a:t>Seit dem 25.08.2023 ist der Unified Key </a:t>
            </a:r>
            <a:r>
              <a:rPr lang="de-DE" sz="1050" dirty="0" err="1">
                <a:latin typeface="IBM Plex Sans" panose="020B0503050203000203" pitchFamily="34" charset="0"/>
                <a:cs typeface="Calibri" panose="020F0502020204030204"/>
              </a:rPr>
              <a:t>Orchestrator</a:t>
            </a:r>
            <a:r>
              <a:rPr lang="de-DE" sz="1050" dirty="0">
                <a:latin typeface="IBM Plex Sans" panose="020B0503050203000203" pitchFamily="34" charset="0"/>
                <a:cs typeface="Calibri" panose="020F0502020204030204"/>
              </a:rPr>
              <a:t> für z/OS (UKO für z/OS) offiziell verfügbar. </a:t>
            </a:r>
          </a:p>
          <a:p>
            <a:pPr algn="just"/>
            <a:r>
              <a:rPr lang="de-DE" sz="1050" dirty="0">
                <a:latin typeface="IBM Plex Sans" panose="020B0503050203000203" pitchFamily="34" charset="0"/>
                <a:cs typeface="Calibri" panose="020F0502020204030204"/>
              </a:rPr>
              <a:t>Es handelt sich dabei sowohl um ein Rebranding als auch um  funktionale Erweiterungen der bisher erfolgreichen z/OS Software für zentrales Enterprise Key Management, dem EKMF Web.</a:t>
            </a:r>
          </a:p>
          <a:p>
            <a:pPr algn="just"/>
            <a:endParaRPr lang="de-DE" sz="1050" dirty="0">
              <a:latin typeface="IBM Plex Sans" panose="020B0503050203000203" pitchFamily="34" charset="0"/>
              <a:cs typeface="Calibri" panose="020F0502020204030204"/>
            </a:endParaRPr>
          </a:p>
          <a:p>
            <a:pPr algn="just"/>
            <a:r>
              <a:rPr lang="de-DE" sz="1050" dirty="0">
                <a:latin typeface="IBM Plex Sans" panose="020B0503050203000203" pitchFamily="34" charset="0"/>
                <a:cs typeface="Calibri" panose="020F0502020204030204"/>
              </a:rPr>
              <a:t>Neben diversen Verbesserungen z.B. am User Interface, welches jetzt ein einheitliches 'Look-and-feel' mit der SaaS Variante </a:t>
            </a:r>
            <a:r>
              <a:rPr lang="de-DE" sz="1050" dirty="0" err="1">
                <a:latin typeface="IBM Plex Sans" panose="020B0503050203000203" pitchFamily="34" charset="0"/>
                <a:cs typeface="Calibri" panose="020F0502020204030204"/>
              </a:rPr>
              <a:t>Hyper</a:t>
            </a:r>
            <a:r>
              <a:rPr lang="de-DE" sz="1050" dirty="0">
                <a:latin typeface="IBM Plex Sans" panose="020B0503050203000203" pitchFamily="34" charset="0"/>
                <a:cs typeface="Calibri" panose="020F0502020204030204"/>
              </a:rPr>
              <a:t> </a:t>
            </a:r>
            <a:r>
              <a:rPr lang="de-DE" sz="1050" dirty="0" err="1">
                <a:latin typeface="IBM Plex Sans" panose="020B0503050203000203" pitchFamily="34" charset="0"/>
                <a:cs typeface="Calibri" panose="020F0502020204030204"/>
              </a:rPr>
              <a:t>Protect</a:t>
            </a:r>
            <a:r>
              <a:rPr lang="de-DE" sz="1050" dirty="0">
                <a:latin typeface="IBM Plex Sans" panose="020B0503050203000203" pitchFamily="34" charset="0"/>
                <a:cs typeface="Calibri" panose="020F0502020204030204"/>
              </a:rPr>
              <a:t> Crypto Services mit UKO bietet, unterstützt UKO für z/OS mit der Google Cloud </a:t>
            </a:r>
            <a:r>
              <a:rPr lang="de-DE" sz="1050" dirty="0" err="1">
                <a:latin typeface="IBM Plex Sans" panose="020B0503050203000203" pitchFamily="34" charset="0"/>
                <a:cs typeface="Calibri" panose="020F0502020204030204"/>
              </a:rPr>
              <a:t>Platform</a:t>
            </a:r>
            <a:r>
              <a:rPr lang="de-DE" sz="1050" dirty="0">
                <a:latin typeface="IBM Plex Sans" panose="020B0503050203000203" pitchFamily="34" charset="0"/>
                <a:cs typeface="Calibri" panose="020F0502020204030204"/>
              </a:rPr>
              <a:t> (GCP) einen weiteren Cloud Key Store für operationale Schlüssel.</a:t>
            </a:r>
          </a:p>
          <a:p>
            <a:pPr algn="just"/>
            <a:endParaRPr lang="de-DE" sz="1050" dirty="0">
              <a:latin typeface="IBM Plex Sans" panose="020B0503050203000203" pitchFamily="34" charset="0"/>
              <a:cs typeface="Calibri" panose="020F0502020204030204"/>
            </a:endParaRPr>
          </a:p>
          <a:p>
            <a:pPr algn="just"/>
            <a:r>
              <a:rPr lang="de-DE" sz="1050" dirty="0">
                <a:latin typeface="IBM Plex Sans" panose="020B0503050203000203" pitchFamily="34" charset="0"/>
                <a:cs typeface="Calibri" panose="020F0502020204030204"/>
              </a:rPr>
              <a:t>Damit können nun  - von zentraler Stelle vom Mainframe aus - benötigte Schlüssel für die Cloud Key Stores von Amazon AWS, IBM Cloud, Microsoft Azure und Google GCP mit UKO für z/OS sicher erstellt, verteilt und bei Verlust mit nur einem Mausklick wiederhergestellt werden.</a:t>
            </a:r>
          </a:p>
          <a:p>
            <a:pPr algn="just"/>
            <a:endParaRPr lang="de-DE" sz="1050" dirty="0">
              <a:latin typeface="IBM Plex Sans" panose="020B0503050203000203" pitchFamily="34" charset="0"/>
              <a:cs typeface="Calibri" panose="020F0502020204030204"/>
            </a:endParaRPr>
          </a:p>
          <a:p>
            <a:pPr algn="just"/>
            <a:r>
              <a:rPr lang="de-DE" sz="1050" dirty="0">
                <a:latin typeface="IBM Plex Sans" panose="020B0503050203000203" pitchFamily="34" charset="0"/>
                <a:cs typeface="Calibri" panose="020F0502020204030204"/>
              </a:rPr>
              <a:t>Mehr dazu unter diesem </a:t>
            </a:r>
            <a:r>
              <a:rPr lang="de-DE" sz="1050" dirty="0">
                <a:latin typeface="IBM Plex Sans" panose="020B0503050203000203" pitchFamily="34" charset="0"/>
                <a:cs typeface="Calibri" panose="020F0502020204030204"/>
                <a:hlinkClick r:id="rId5"/>
              </a:rPr>
              <a:t>Link</a:t>
            </a:r>
            <a:endParaRPr lang="de-DE" sz="1050" dirty="0">
              <a:latin typeface="IBM Plex Sans" panose="020B0503050203000203" pitchFamily="34" charset="0"/>
              <a:cs typeface="Calibri" panose="020F0502020204030204"/>
            </a:endParaRPr>
          </a:p>
          <a:p>
            <a:pPr algn="just"/>
            <a:endParaRPr lang="de-DE" sz="1050" dirty="0">
              <a:latin typeface="IBM Plex Sans" panose="020B0503050203000203" pitchFamily="34" charset="0"/>
              <a:cs typeface="Calibri" panose="020F0502020204030204"/>
            </a:endParaRPr>
          </a:p>
        </p:txBody>
      </p:sp>
      <p:sp>
        <p:nvSpPr>
          <p:cNvPr id="15" name="Textfeld 11">
            <a:extLst>
              <a:ext uri="{FF2B5EF4-FFF2-40B4-BE49-F238E27FC236}">
                <a16:creationId xmlns:a16="http://schemas.microsoft.com/office/drawing/2014/main" id="{374BDF3B-A453-FE33-BC64-C1170657F0EB}"/>
              </a:ext>
            </a:extLst>
          </p:cNvPr>
          <p:cNvSpPr txBox="1"/>
          <p:nvPr/>
        </p:nvSpPr>
        <p:spPr>
          <a:xfrm>
            <a:off x="81373" y="1203127"/>
            <a:ext cx="7164730" cy="900246"/>
          </a:xfrm>
          <a:prstGeom prst="rect">
            <a:avLst/>
          </a:prstGeom>
          <a:noFill/>
        </p:spPr>
        <p:txBody>
          <a:bodyPr wrap="square" rtlCol="0">
            <a:spAutoFit/>
          </a:bodyPr>
          <a:lstStyle/>
          <a:p>
            <a:r>
              <a:rPr lang="de-DE" sz="1050" dirty="0">
                <a:solidFill>
                  <a:srgbClr val="323232"/>
                </a:solidFill>
                <a:latin typeface="IBM Plex Sans" panose="020B0503050203000203" pitchFamily="34" charset="0"/>
              </a:rPr>
              <a:t>Am 18.10.23 hat wieder unser allseits bekannter und beliebter IBM </a:t>
            </a:r>
            <a:r>
              <a:rPr lang="de-DE" sz="1050" dirty="0" err="1">
                <a:solidFill>
                  <a:srgbClr val="323232"/>
                </a:solidFill>
                <a:latin typeface="IBM Plex Sans" panose="020B0503050203000203" pitchFamily="34" charset="0"/>
              </a:rPr>
              <a:t>zDay</a:t>
            </a:r>
            <a:r>
              <a:rPr lang="de-DE" sz="1050" dirty="0">
                <a:solidFill>
                  <a:srgbClr val="323232"/>
                </a:solidFill>
                <a:latin typeface="IBM Plex Sans" panose="020B0503050203000203" pitchFamily="34" charset="0"/>
              </a:rPr>
              <a:t> stattgefunden.</a:t>
            </a:r>
            <a:br>
              <a:rPr lang="de-DE" sz="1050" dirty="0">
                <a:solidFill>
                  <a:srgbClr val="323232"/>
                </a:solidFill>
                <a:latin typeface="IBM Plex Sans" panose="020B0503050203000203" pitchFamily="34" charset="0"/>
              </a:rPr>
            </a:br>
            <a:br>
              <a:rPr lang="de-DE" sz="1050" dirty="0">
                <a:solidFill>
                  <a:srgbClr val="323232"/>
                </a:solidFill>
                <a:latin typeface="IBM Plex Sans" panose="020B0503050203000203" pitchFamily="34" charset="0"/>
              </a:rPr>
            </a:br>
            <a:r>
              <a:rPr lang="de-DE" sz="1050" dirty="0">
                <a:solidFill>
                  <a:srgbClr val="323232"/>
                </a:solidFill>
                <a:latin typeface="IBM Plex Sans" panose="020B0503050203000203" pitchFamily="34" charset="0"/>
              </a:rPr>
              <a:t>Sollten Sie das Event verpasst haben, stehen ab sofort Replays zur Verfügung.</a:t>
            </a:r>
          </a:p>
          <a:p>
            <a:endParaRPr lang="de-DE" sz="1050" dirty="0">
              <a:solidFill>
                <a:srgbClr val="323232"/>
              </a:solidFill>
              <a:latin typeface="IBM Plex Sans" panose="020B0503050203000203" pitchFamily="34" charset="0"/>
            </a:endParaRPr>
          </a:p>
          <a:p>
            <a:r>
              <a:rPr lang="de-DE" sz="1050" dirty="0">
                <a:solidFill>
                  <a:srgbClr val="323232"/>
                </a:solidFill>
                <a:latin typeface="IBM Plex Sans" panose="020B0503050203000203" pitchFamily="34" charset="0"/>
              </a:rPr>
              <a:t>Diese finden sich unter folgendem </a:t>
            </a:r>
            <a:r>
              <a:rPr lang="de-DE" sz="1050" dirty="0">
                <a:solidFill>
                  <a:srgbClr val="323232"/>
                </a:solidFill>
                <a:latin typeface="IBM Plex Sans" panose="020B0503050203000203" pitchFamily="34" charset="0"/>
                <a:hlinkClick r:id="rId6"/>
              </a:rPr>
              <a:t>Link.</a:t>
            </a:r>
            <a:endParaRPr lang="de-DE" sz="1050" b="0" i="0" dirty="0">
              <a:solidFill>
                <a:srgbClr val="323232"/>
              </a:solidFill>
              <a:effectLst/>
              <a:latin typeface="IBM Plex Sans" panose="020B0503050203000203" pitchFamily="34" charset="0"/>
            </a:endParaRPr>
          </a:p>
        </p:txBody>
      </p:sp>
      <p:sp>
        <p:nvSpPr>
          <p:cNvPr id="16" name="Textfeld 19">
            <a:extLst>
              <a:ext uri="{FF2B5EF4-FFF2-40B4-BE49-F238E27FC236}">
                <a16:creationId xmlns:a16="http://schemas.microsoft.com/office/drawing/2014/main" id="{1FF160B7-4D6C-435A-0ACB-6ACA40073B43}"/>
              </a:ext>
            </a:extLst>
          </p:cNvPr>
          <p:cNvSpPr txBox="1"/>
          <p:nvPr/>
        </p:nvSpPr>
        <p:spPr>
          <a:xfrm>
            <a:off x="410540" y="798306"/>
            <a:ext cx="6440352" cy="307777"/>
          </a:xfrm>
          <a:prstGeom prst="rect">
            <a:avLst/>
          </a:prstGeom>
          <a:noFill/>
        </p:spPr>
        <p:txBody>
          <a:bodyPr wrap="square" rtlCol="0">
            <a:spAutoFit/>
          </a:bodyPr>
          <a:lstStyle/>
          <a:p>
            <a:pPr fontAlgn="base"/>
            <a:r>
              <a:rPr lang="en-US" sz="1400" b="1" dirty="0">
                <a:latin typeface="IBM Plex Sans" panose="020B0503050203000203" pitchFamily="34" charset="0"/>
              </a:rPr>
              <a:t>Replays </a:t>
            </a:r>
            <a:r>
              <a:rPr lang="en-US" sz="1400" b="1" dirty="0" err="1">
                <a:latin typeface="IBM Plex Sans" panose="020B0503050203000203" pitchFamily="34" charset="0"/>
              </a:rPr>
              <a:t>vom</a:t>
            </a:r>
            <a:r>
              <a:rPr lang="en-US" sz="1400" b="1" dirty="0">
                <a:latin typeface="IBM Plex Sans" panose="020B0503050203000203" pitchFamily="34" charset="0"/>
              </a:rPr>
              <a:t> IBM Z Day am 18.10.23</a:t>
            </a:r>
            <a:endParaRPr lang="de-DE" sz="1400" b="1" dirty="0">
              <a:latin typeface="IBM Plex Sans" panose="020B0503050203000203" pitchFamily="34" charset="0"/>
            </a:endParaRPr>
          </a:p>
        </p:txBody>
      </p:sp>
      <p:pic>
        <p:nvPicPr>
          <p:cNvPr id="21" name="Picture 20">
            <a:extLst>
              <a:ext uri="{FF2B5EF4-FFF2-40B4-BE49-F238E27FC236}">
                <a16:creationId xmlns:a16="http://schemas.microsoft.com/office/drawing/2014/main" id="{DC9DC047-E33F-459A-92B1-02F3D754CA51}"/>
              </a:ext>
            </a:extLst>
          </p:cNvPr>
          <p:cNvPicPr>
            <a:picLocks noChangeAspect="1"/>
          </p:cNvPicPr>
          <p:nvPr/>
        </p:nvPicPr>
        <p:blipFill>
          <a:blip r:embed="rId7"/>
          <a:stretch>
            <a:fillRect/>
          </a:stretch>
        </p:blipFill>
        <p:spPr>
          <a:xfrm>
            <a:off x="5634083" y="1027561"/>
            <a:ext cx="1762138" cy="971557"/>
          </a:xfrm>
          <a:prstGeom prst="rect">
            <a:avLst/>
          </a:prstGeom>
        </p:spPr>
      </p:pic>
      <p:pic>
        <p:nvPicPr>
          <p:cNvPr id="29" name="Picture 28">
            <a:extLst>
              <a:ext uri="{FF2B5EF4-FFF2-40B4-BE49-F238E27FC236}">
                <a16:creationId xmlns:a16="http://schemas.microsoft.com/office/drawing/2014/main" id="{16785515-F6B9-8DE6-906C-1D440493C7E6}"/>
              </a:ext>
            </a:extLst>
          </p:cNvPr>
          <p:cNvPicPr>
            <a:picLocks noChangeAspect="1"/>
          </p:cNvPicPr>
          <p:nvPr/>
        </p:nvPicPr>
        <p:blipFill>
          <a:blip r:embed="rId8"/>
          <a:stretch>
            <a:fillRect/>
          </a:stretch>
        </p:blipFill>
        <p:spPr>
          <a:xfrm>
            <a:off x="3219299" y="7061541"/>
            <a:ext cx="3905808" cy="2770106"/>
          </a:xfrm>
          <a:prstGeom prst="rect">
            <a:avLst/>
          </a:prstGeom>
        </p:spPr>
      </p:pic>
    </p:spTree>
    <p:extLst>
      <p:ext uri="{BB962C8B-B14F-4D97-AF65-F5344CB8AC3E}">
        <p14:creationId xmlns:p14="http://schemas.microsoft.com/office/powerpoint/2010/main" val="2966826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hteck 3">
            <a:extLst>
              <a:ext uri="{FF2B5EF4-FFF2-40B4-BE49-F238E27FC236}">
                <a16:creationId xmlns:a16="http://schemas.microsoft.com/office/drawing/2014/main" id="{3B8D06D0-D6E2-77BD-9D8B-784EB160DCB1}"/>
              </a:ext>
            </a:extLst>
          </p:cNvPr>
          <p:cNvSpPr/>
          <p:nvPr/>
        </p:nvSpPr>
        <p:spPr>
          <a:xfrm>
            <a:off x="-2830" y="10175607"/>
            <a:ext cx="7565335" cy="5989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tangle 6">
            <a:extLst>
              <a:ext uri="{FF2B5EF4-FFF2-40B4-BE49-F238E27FC236}">
                <a16:creationId xmlns:a16="http://schemas.microsoft.com/office/drawing/2014/main" id="{F88CE8D4-7DF2-4940-AF60-CD6D38F25814}"/>
              </a:ext>
            </a:extLst>
          </p:cNvPr>
          <p:cNvSpPr>
            <a:spLocks noChangeArrowheads="1"/>
          </p:cNvSpPr>
          <p:nvPr/>
        </p:nvSpPr>
        <p:spPr bwMode="black">
          <a:xfrm>
            <a:off x="65375" y="10475073"/>
            <a:ext cx="13716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t"/>
          <a:lstStyle>
            <a:lvl1pPr>
              <a:defRPr b="1">
                <a:solidFill>
                  <a:schemeClr val="tx1"/>
                </a:solidFill>
                <a:latin typeface="Arial" panose="020B0604020202020204" pitchFamily="34" charset="0"/>
                <a:ea typeface="MS PGothic" panose="020B0600070205080204" pitchFamily="34" charset="-128"/>
              </a:defRPr>
            </a:lvl1pPr>
            <a:lvl2pPr marL="742950" indent="-285750">
              <a:defRPr b="1">
                <a:solidFill>
                  <a:schemeClr val="tx1"/>
                </a:solidFill>
                <a:latin typeface="Arial" panose="020B0604020202020204" pitchFamily="34" charset="0"/>
                <a:ea typeface="MS PGothic" panose="020B0600070205080204" pitchFamily="34" charset="-128"/>
              </a:defRPr>
            </a:lvl2pPr>
            <a:lvl3pPr marL="1143000" indent="-228600">
              <a:defRPr b="1">
                <a:solidFill>
                  <a:schemeClr val="tx1"/>
                </a:solidFill>
                <a:latin typeface="Arial" panose="020B0604020202020204" pitchFamily="34" charset="0"/>
                <a:ea typeface="MS PGothic" panose="020B0600070205080204" pitchFamily="34" charset="-128"/>
              </a:defRPr>
            </a:lvl3pPr>
            <a:lvl4pPr marL="1600200" indent="-228600">
              <a:defRPr b="1">
                <a:solidFill>
                  <a:schemeClr val="tx1"/>
                </a:solidFill>
                <a:latin typeface="Arial" panose="020B0604020202020204" pitchFamily="34" charset="0"/>
                <a:ea typeface="MS PGothic" panose="020B0600070205080204" pitchFamily="34" charset="-128"/>
              </a:defRPr>
            </a:lvl4pPr>
            <a:lvl5pPr marL="2057400" indent="-228600">
              <a:defRPr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9pPr>
          </a:lstStyle>
          <a:p>
            <a:pPr>
              <a:defRPr/>
            </a:pPr>
            <a:r>
              <a:rPr lang="en-US" sz="800" b="0" dirty="0">
                <a:latin typeface="IBM Plex Sans"/>
                <a:ea typeface="MS PGothic"/>
              </a:rPr>
              <a:t>© 2026 IBM Corporation</a:t>
            </a:r>
          </a:p>
        </p:txBody>
      </p:sp>
      <p:sp>
        <p:nvSpPr>
          <p:cNvPr id="6" name="Rechteck 5">
            <a:extLst>
              <a:ext uri="{FF2B5EF4-FFF2-40B4-BE49-F238E27FC236}">
                <a16:creationId xmlns:a16="http://schemas.microsoft.com/office/drawing/2014/main" id="{FBB0517A-8B6D-394E-8E07-AD5825CE91B9}"/>
              </a:ext>
            </a:extLst>
          </p:cNvPr>
          <p:cNvSpPr/>
          <p:nvPr/>
        </p:nvSpPr>
        <p:spPr>
          <a:xfrm>
            <a:off x="-5676" y="0"/>
            <a:ext cx="7565335" cy="5989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4" name="Textfeld 13">
            <a:extLst>
              <a:ext uri="{FF2B5EF4-FFF2-40B4-BE49-F238E27FC236}">
                <a16:creationId xmlns:a16="http://schemas.microsoft.com/office/drawing/2014/main" id="{2BE17F19-F2DC-4C46-99CA-93538088980B}"/>
              </a:ext>
            </a:extLst>
          </p:cNvPr>
          <p:cNvSpPr txBox="1"/>
          <p:nvPr/>
        </p:nvSpPr>
        <p:spPr>
          <a:xfrm>
            <a:off x="3667001" y="10404617"/>
            <a:ext cx="257202" cy="253916"/>
          </a:xfrm>
          <a:prstGeom prst="rect">
            <a:avLst/>
          </a:prstGeom>
          <a:noFill/>
        </p:spPr>
        <p:txBody>
          <a:bodyPr wrap="square" rtlCol="0">
            <a:spAutoFit/>
          </a:bodyPr>
          <a:lstStyle/>
          <a:p>
            <a:r>
              <a:rPr lang="de-DE" sz="1050" dirty="0">
                <a:latin typeface="IBM Plex Sans" panose="020B0503050203000203" pitchFamily="34" charset="0"/>
              </a:rPr>
              <a:t>3</a:t>
            </a:r>
          </a:p>
        </p:txBody>
      </p:sp>
      <p:sp>
        <p:nvSpPr>
          <p:cNvPr id="9" name="Rectangle 4">
            <a:extLst>
              <a:ext uri="{FF2B5EF4-FFF2-40B4-BE49-F238E27FC236}">
                <a16:creationId xmlns:a16="http://schemas.microsoft.com/office/drawing/2014/main" id="{9EC5508E-5F00-73FC-BB46-90ADF11BD6ED}"/>
              </a:ext>
            </a:extLst>
          </p:cNvPr>
          <p:cNvSpPr>
            <a:spLocks noChangeArrowheads="1"/>
          </p:cNvSpPr>
          <p:nvPr/>
        </p:nvSpPr>
        <p:spPr bwMode="auto">
          <a:xfrm>
            <a:off x="0" y="2723352"/>
            <a:ext cx="34811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de-DE">
              <a:latin typeface="IBM Plex Sans" panose="020B0503050203000203" pitchFamily="34" charset="0"/>
            </a:endParaRPr>
          </a:p>
        </p:txBody>
      </p:sp>
      <p:pic>
        <p:nvPicPr>
          <p:cNvPr id="4" name="Picture 46" descr="blue-tri-color-logo">
            <a:extLst>
              <a:ext uri="{FF2B5EF4-FFF2-40B4-BE49-F238E27FC236}">
                <a16:creationId xmlns:a16="http://schemas.microsoft.com/office/drawing/2014/main" id="{D7D6DE4C-CE7D-1C47-A95D-B5FA1EB1534F}"/>
              </a:ext>
            </a:extLst>
          </p:cNvPr>
          <p:cNvPicPr>
            <a:picLocks noChangeAspect="1" noChangeArrowheads="1"/>
          </p:cNvPicPr>
          <p:nvPr/>
        </p:nvPicPr>
        <p:blipFill>
          <a:blip r:embed="rId2" cstate="print"/>
          <a:srcRect/>
          <a:stretch>
            <a:fillRect/>
          </a:stretch>
        </p:blipFill>
        <p:spPr bwMode="auto">
          <a:xfrm>
            <a:off x="6544192" y="144431"/>
            <a:ext cx="751185" cy="304253"/>
          </a:xfrm>
          <a:prstGeom prst="rect">
            <a:avLst/>
          </a:prstGeom>
          <a:noFill/>
          <a:ln w="9525">
            <a:noFill/>
            <a:miter lim="800000"/>
            <a:headEnd/>
            <a:tailEnd/>
          </a:ln>
        </p:spPr>
      </p:pic>
      <p:pic>
        <p:nvPicPr>
          <p:cNvPr id="30" name="Picture 46" descr="blue-tri-color-logo">
            <a:extLst>
              <a:ext uri="{FF2B5EF4-FFF2-40B4-BE49-F238E27FC236}">
                <a16:creationId xmlns:a16="http://schemas.microsoft.com/office/drawing/2014/main" id="{9046AB2D-C36B-FD75-BF5B-87169C31915C}"/>
              </a:ext>
            </a:extLst>
          </p:cNvPr>
          <p:cNvPicPr>
            <a:picLocks noChangeAspect="1" noChangeArrowheads="1"/>
          </p:cNvPicPr>
          <p:nvPr/>
        </p:nvPicPr>
        <p:blipFill>
          <a:blip r:embed="rId2" cstate="print"/>
          <a:srcRect/>
          <a:stretch>
            <a:fillRect/>
          </a:stretch>
        </p:blipFill>
        <p:spPr bwMode="auto">
          <a:xfrm>
            <a:off x="6708673" y="10338928"/>
            <a:ext cx="751185" cy="304253"/>
          </a:xfrm>
          <a:prstGeom prst="rect">
            <a:avLst/>
          </a:prstGeom>
          <a:noFill/>
          <a:ln w="9525">
            <a:noFill/>
            <a:miter lim="800000"/>
            <a:headEnd/>
            <a:tailEnd/>
          </a:ln>
        </p:spPr>
      </p:pic>
      <p:sp>
        <p:nvSpPr>
          <p:cNvPr id="7" name="Textfeld 6">
            <a:extLst>
              <a:ext uri="{FF2B5EF4-FFF2-40B4-BE49-F238E27FC236}">
                <a16:creationId xmlns:a16="http://schemas.microsoft.com/office/drawing/2014/main" id="{F41F0DD5-48A4-89B8-DF3A-3863AB2D6E4C}"/>
              </a:ext>
            </a:extLst>
          </p:cNvPr>
          <p:cNvSpPr txBox="1"/>
          <p:nvPr/>
        </p:nvSpPr>
        <p:spPr>
          <a:xfrm>
            <a:off x="63216" y="1405876"/>
            <a:ext cx="7325349" cy="4455066"/>
          </a:xfrm>
          <a:prstGeom prst="rect">
            <a:avLst/>
          </a:prstGeom>
          <a:noFill/>
        </p:spPr>
        <p:txBody>
          <a:bodyPr wrap="square" lIns="91440" tIns="45720" rIns="91440" bIns="45720" rtlCol="0" anchor="t">
            <a:spAutoFit/>
          </a:bodyPr>
          <a:lstStyle/>
          <a:p>
            <a:pPr algn="just"/>
            <a:r>
              <a:rPr lang="de-DE" sz="1050" dirty="0">
                <a:latin typeface="IBM Plex Sans" panose="020B0503050203000203" pitchFamily="34" charset="0"/>
                <a:cs typeface="Calibri" panose="020F0502020204030204"/>
              </a:rPr>
              <a:t>Erwarten Sie Leistungs- und Benutzerfreundlichkeitsverbesserungen mit IBM Db2 Automation Expert für z/OS 1.1, IBM Db2 Query Monitor für z/OS 3.4 und IBM Db2 High Performance Unload für z/OS 5.2.</a:t>
            </a:r>
          </a:p>
          <a:p>
            <a:pPr algn="just"/>
            <a:endParaRPr lang="de-DE" sz="1050" dirty="0">
              <a:latin typeface="IBM Plex Sans" panose="020B0503050203000203" pitchFamily="34" charset="0"/>
              <a:cs typeface="Calibri" panose="020F0502020204030204"/>
            </a:endParaRPr>
          </a:p>
          <a:p>
            <a:pPr algn="just"/>
            <a:r>
              <a:rPr lang="de-DE" sz="1050" dirty="0">
                <a:latin typeface="IBM Plex Sans" panose="020B0503050203000203" pitchFamily="34" charset="0"/>
                <a:cs typeface="Calibri" panose="020F0502020204030204"/>
              </a:rPr>
              <a:t>IBM® Db2® Automation Expert für z/OS® 1.1 (5698-DAE) ist ein neues Angebot, das die automatisierte Verarbeitung von Maintenance für eine rechtzeitige Optimierung ermöglicht. Die Leistungsstärke und Flexibilität helfen Db2-Administratoren dabei, Db2-Daten leichter verfügbar zu halten, den Zugriff zu optimieren und sie innerhalb eines festgelegten Zeitrahmen wiederherstellbar zu machen. Zu den Hauptfunktionen gehören:</a:t>
            </a:r>
          </a:p>
          <a:p>
            <a:pPr marL="171450" indent="-171450" algn="just">
              <a:buFont typeface="Arial" panose="020B0604020202020204" pitchFamily="34" charset="0"/>
              <a:buChar char="•"/>
            </a:pPr>
            <a:r>
              <a:rPr lang="de-DE" sz="1050" dirty="0">
                <a:latin typeface="IBM Plex Sans" panose="020B0503050203000203" pitchFamily="34" charset="0"/>
                <a:cs typeface="Calibri" panose="020F0502020204030204"/>
              </a:rPr>
              <a:t>Vollständige Integration autonomer Terminplanungsfunktionen</a:t>
            </a:r>
          </a:p>
          <a:p>
            <a:pPr marL="171450" indent="-171450" algn="just">
              <a:buFont typeface="Arial" panose="020B0604020202020204" pitchFamily="34" charset="0"/>
              <a:buChar char="•"/>
            </a:pPr>
            <a:r>
              <a:rPr lang="de-DE" sz="1050" dirty="0">
                <a:latin typeface="IBM Plex Sans" panose="020B0503050203000203" pitchFamily="34" charset="0"/>
                <a:cs typeface="Calibri" panose="020F0502020204030204"/>
              </a:rPr>
              <a:t>Verbesserte Best Practices-Profile</a:t>
            </a:r>
          </a:p>
          <a:p>
            <a:pPr marL="171450" indent="-171450" algn="just">
              <a:buFont typeface="Arial" panose="020B0604020202020204" pitchFamily="34" charset="0"/>
              <a:buChar char="•"/>
            </a:pPr>
            <a:r>
              <a:rPr lang="de-DE" sz="1050" dirty="0">
                <a:latin typeface="IBM Plex Sans" panose="020B0503050203000203" pitchFamily="34" charset="0"/>
                <a:cs typeface="Calibri" panose="020F0502020204030204"/>
              </a:rPr>
              <a:t>ODP-Stream zur Bereitstellung von statistischen Daten für externe Dashboard-Lösungen</a:t>
            </a:r>
          </a:p>
          <a:p>
            <a:pPr marL="171450" indent="-171450" algn="just">
              <a:buFont typeface="Arial" panose="020B0604020202020204" pitchFamily="34" charset="0"/>
              <a:buChar char="•"/>
            </a:pPr>
            <a:r>
              <a:rPr lang="de-DE" sz="1050" dirty="0">
                <a:latin typeface="IBM Plex Sans" panose="020B0503050203000203" pitchFamily="34" charset="0"/>
                <a:cs typeface="Calibri" panose="020F0502020204030204"/>
              </a:rPr>
              <a:t>Unterstützung von </a:t>
            </a:r>
            <a:r>
              <a:rPr lang="de-DE" sz="1050" dirty="0" err="1">
                <a:latin typeface="IBM Plex Sans" panose="020B0503050203000203" pitchFamily="34" charset="0"/>
                <a:cs typeface="Calibri" panose="020F0502020204030204"/>
              </a:rPr>
              <a:t>Ansible</a:t>
            </a:r>
            <a:r>
              <a:rPr lang="de-DE" sz="1050" dirty="0">
                <a:latin typeface="IBM Plex Sans" panose="020B0503050203000203" pitchFamily="34" charset="0"/>
                <a:cs typeface="Calibri" panose="020F0502020204030204"/>
              </a:rPr>
              <a:t>® für externe Automatisierung (REST API)</a:t>
            </a:r>
          </a:p>
          <a:p>
            <a:pPr algn="just"/>
            <a:endParaRPr lang="de-DE" sz="1050" dirty="0">
              <a:latin typeface="IBM Plex Sans" panose="020B0503050203000203" pitchFamily="34" charset="0"/>
              <a:cs typeface="Calibri" panose="020F0502020204030204"/>
            </a:endParaRPr>
          </a:p>
          <a:p>
            <a:pPr algn="just"/>
            <a:r>
              <a:rPr lang="de-DE" sz="1050" dirty="0">
                <a:latin typeface="IBM Plex Sans" panose="020B0503050203000203" pitchFamily="34" charset="0"/>
                <a:cs typeface="Calibri" panose="020F0502020204030204"/>
              </a:rPr>
              <a:t>IBM Db2 Query Monitor für z/OS 3.4 (5655-V42) bringt folgende Verbesserungen:</a:t>
            </a:r>
          </a:p>
          <a:p>
            <a:pPr marL="171450" indent="-171450" algn="just">
              <a:buFont typeface="Arial" panose="020B0604020202020204" pitchFamily="34" charset="0"/>
              <a:buChar char="•"/>
            </a:pPr>
            <a:r>
              <a:rPr lang="de-DE" sz="1050" dirty="0">
                <a:latin typeface="IBM Plex Sans" panose="020B0503050203000203" pitchFamily="34" charset="0"/>
                <a:cs typeface="Calibri" panose="020F0502020204030204"/>
              </a:rPr>
              <a:t>Leistungs- und Kostenoptimierungen mit </a:t>
            </a:r>
            <a:r>
              <a:rPr lang="de-DE" sz="1050" dirty="0" err="1">
                <a:latin typeface="IBM Plex Sans" panose="020B0503050203000203" pitchFamily="34" charset="0"/>
                <a:cs typeface="Calibri" panose="020F0502020204030204"/>
              </a:rPr>
              <a:t>zIIP</a:t>
            </a:r>
            <a:r>
              <a:rPr lang="de-DE" sz="1050" dirty="0">
                <a:latin typeface="IBM Plex Sans" panose="020B0503050203000203" pitchFamily="34" charset="0"/>
                <a:cs typeface="Calibri" panose="020F0502020204030204"/>
              </a:rPr>
              <a:t>-</a:t>
            </a:r>
            <a:r>
              <a:rPr lang="de-DE" sz="1050" dirty="0" err="1">
                <a:latin typeface="IBM Plex Sans" panose="020B0503050203000203" pitchFamily="34" charset="0"/>
                <a:cs typeface="Calibri" panose="020F0502020204030204"/>
              </a:rPr>
              <a:t>Offload</a:t>
            </a:r>
            <a:r>
              <a:rPr lang="de-DE" sz="1050" dirty="0">
                <a:latin typeface="IBM Plex Sans" panose="020B0503050203000203" pitchFamily="34" charset="0"/>
                <a:cs typeface="Calibri" panose="020F0502020204030204"/>
              </a:rPr>
              <a:t>-Unterstützung</a:t>
            </a:r>
          </a:p>
          <a:p>
            <a:pPr marL="171450" indent="-171450" algn="just">
              <a:buFont typeface="Arial" panose="020B0604020202020204" pitchFamily="34" charset="0"/>
              <a:buChar char="•"/>
            </a:pPr>
            <a:r>
              <a:rPr lang="de-DE" sz="1050" dirty="0">
                <a:latin typeface="IBM Plex Sans" panose="020B0503050203000203" pitchFamily="34" charset="0"/>
                <a:cs typeface="Calibri" panose="020F0502020204030204"/>
              </a:rPr>
              <a:t>Verbesserte </a:t>
            </a:r>
            <a:r>
              <a:rPr lang="de-DE" sz="1050" dirty="0" err="1">
                <a:latin typeface="IBM Plex Sans" panose="020B0503050203000203" pitchFamily="34" charset="0"/>
                <a:cs typeface="Calibri" panose="020F0502020204030204"/>
              </a:rPr>
              <a:t>Anomalieerkennung</a:t>
            </a:r>
            <a:endParaRPr lang="de-DE" sz="1050" dirty="0">
              <a:latin typeface="IBM Plex Sans" panose="020B0503050203000203" pitchFamily="34" charset="0"/>
              <a:cs typeface="Calibri" panose="020F0502020204030204"/>
            </a:endParaRPr>
          </a:p>
          <a:p>
            <a:pPr marL="171450" indent="-171450" algn="just">
              <a:buFont typeface="Arial" panose="020B0604020202020204" pitchFamily="34" charset="0"/>
              <a:buChar char="•"/>
            </a:pPr>
            <a:r>
              <a:rPr lang="de-DE" sz="1050" dirty="0">
                <a:latin typeface="IBM Plex Sans" panose="020B0503050203000203" pitchFamily="34" charset="0"/>
                <a:cs typeface="Calibri" panose="020F0502020204030204"/>
              </a:rPr>
              <a:t>Verschiedene Benutzerfreundlichkeitsverbesserungen, einschließlich OMEGAMON® Data Provider (ODP) Metriken für das benutzerdefinierte Dashboard</a:t>
            </a:r>
          </a:p>
          <a:p>
            <a:pPr algn="just"/>
            <a:endParaRPr lang="de-DE" sz="1050" dirty="0">
              <a:latin typeface="IBM Plex Sans" panose="020B0503050203000203" pitchFamily="34" charset="0"/>
              <a:cs typeface="Calibri" panose="020F0502020204030204"/>
            </a:endParaRPr>
          </a:p>
          <a:p>
            <a:pPr algn="just"/>
            <a:r>
              <a:rPr lang="de-DE" sz="1050" dirty="0">
                <a:latin typeface="IBM Plex Sans" panose="020B0503050203000203" pitchFamily="34" charset="0"/>
                <a:cs typeface="Calibri" panose="020F0502020204030204"/>
              </a:rPr>
              <a:t>IBM Db2 High Performance Unload für z/OS 5.2 (5655-HP5) erleichtert die Befüllung von </a:t>
            </a:r>
            <a:r>
              <a:rPr lang="de-DE" sz="1050" dirty="0" err="1">
                <a:latin typeface="IBM Plex Sans" panose="020B0503050203000203" pitchFamily="34" charset="0"/>
                <a:cs typeface="Calibri" panose="020F0502020204030204"/>
              </a:rPr>
              <a:t>History</a:t>
            </a:r>
            <a:r>
              <a:rPr lang="de-DE" sz="1050" dirty="0">
                <a:latin typeface="IBM Plex Sans" panose="020B0503050203000203" pitchFamily="34" charset="0"/>
                <a:cs typeface="Calibri" panose="020F0502020204030204"/>
              </a:rPr>
              <a:t> Collection </a:t>
            </a:r>
            <a:r>
              <a:rPr lang="de-DE" sz="1050" dirty="0" err="1">
                <a:latin typeface="IBM Plex Sans" panose="020B0503050203000203" pitchFamily="34" charset="0"/>
                <a:cs typeface="Calibri" panose="020F0502020204030204"/>
              </a:rPr>
              <a:t>Tables</a:t>
            </a:r>
            <a:r>
              <a:rPr lang="de-DE" sz="1050" dirty="0">
                <a:latin typeface="IBM Plex Sans" panose="020B0503050203000203" pitchFamily="34" charset="0"/>
                <a:cs typeface="Calibri" panose="020F0502020204030204"/>
              </a:rPr>
              <a:t> und erlaubt eine einfachere Erzeugung von Ausgabedaten. Key Features umfassen:</a:t>
            </a:r>
          </a:p>
          <a:p>
            <a:pPr marL="171450" indent="-171450" algn="just">
              <a:buFont typeface="Arial" panose="020B0604020202020204" pitchFamily="34" charset="0"/>
              <a:buChar char="•"/>
            </a:pPr>
            <a:r>
              <a:rPr lang="de-DE" sz="1050" dirty="0">
                <a:latin typeface="IBM Plex Sans" panose="020B0503050203000203" pitchFamily="34" charset="0"/>
                <a:cs typeface="Calibri" panose="020F0502020204030204"/>
              </a:rPr>
              <a:t>Historisierung für ein einfacheres Utility Monitoring</a:t>
            </a:r>
          </a:p>
          <a:p>
            <a:pPr marL="171450" indent="-171450" algn="just">
              <a:buFont typeface="Arial" panose="020B0604020202020204" pitchFamily="34" charset="0"/>
              <a:buChar char="•"/>
            </a:pPr>
            <a:r>
              <a:rPr lang="de-DE" sz="1050" dirty="0">
                <a:latin typeface="IBM Plex Sans" panose="020B0503050203000203" pitchFamily="34" charset="0"/>
                <a:cs typeface="Calibri" panose="020F0502020204030204"/>
              </a:rPr>
              <a:t>Anzeige zusätzlicher Informationen zur leichteren Optimierung oder Fehlerbehebung</a:t>
            </a:r>
          </a:p>
          <a:p>
            <a:pPr marL="171450" indent="-171450" algn="just">
              <a:buFont typeface="Arial" panose="020B0604020202020204" pitchFamily="34" charset="0"/>
              <a:buChar char="•"/>
            </a:pPr>
            <a:r>
              <a:rPr lang="de-DE" sz="1050" dirty="0">
                <a:latin typeface="IBM Plex Sans" panose="020B0503050203000203" pitchFamily="34" charset="0"/>
                <a:cs typeface="Calibri" panose="020F0502020204030204"/>
              </a:rPr>
              <a:t>Feinere Kontrolle des internen Verarbeitungsprozesses</a:t>
            </a:r>
          </a:p>
          <a:p>
            <a:pPr marL="171450" indent="-171450" algn="just">
              <a:buFont typeface="Arial" panose="020B0604020202020204" pitchFamily="34" charset="0"/>
              <a:buChar char="•"/>
            </a:pPr>
            <a:endParaRPr lang="de-DE" sz="1050" dirty="0">
              <a:latin typeface="IBM Plex Sans" panose="020B0503050203000203" pitchFamily="34" charset="0"/>
              <a:cs typeface="Calibri" panose="020F0502020204030204"/>
            </a:endParaRPr>
          </a:p>
          <a:p>
            <a:pPr algn="just"/>
            <a:r>
              <a:rPr lang="de-DE" sz="1050" dirty="0">
                <a:latin typeface="IBM Plex Sans" panose="020B0503050203000203" pitchFamily="34" charset="0"/>
                <a:cs typeface="Calibri" panose="020F0502020204030204"/>
              </a:rPr>
              <a:t>Mehr Informationen befinden sich </a:t>
            </a:r>
            <a:r>
              <a:rPr lang="de-DE" sz="1050" dirty="0">
                <a:latin typeface="IBM Plex Sans" panose="020B0503050203000203" pitchFamily="34" charset="0"/>
                <a:cs typeface="Calibri" panose="020F0502020204030204"/>
                <a:hlinkClick r:id="rId3">
                  <a:extLst>
                    <a:ext uri="{A12FA001-AC4F-418D-AE19-62706E023703}">
                      <ahyp:hlinkClr xmlns:ahyp="http://schemas.microsoft.com/office/drawing/2018/hyperlinkcolor" val="tx"/>
                    </a:ext>
                  </a:extLst>
                </a:hlinkClick>
              </a:rPr>
              <a:t>hier</a:t>
            </a:r>
            <a:r>
              <a:rPr lang="de-DE" sz="1050" dirty="0">
                <a:latin typeface="IBM Plex Sans" panose="020B0503050203000203" pitchFamily="34" charset="0"/>
                <a:cs typeface="Calibri" panose="020F0502020204030204"/>
              </a:rPr>
              <a:t>.</a:t>
            </a:r>
          </a:p>
          <a:p>
            <a:pPr algn="just"/>
            <a:endParaRPr lang="de-DE" sz="1050" dirty="0">
              <a:cs typeface="Calibri"/>
            </a:endParaRPr>
          </a:p>
        </p:txBody>
      </p:sp>
      <p:cxnSp>
        <p:nvCxnSpPr>
          <p:cNvPr id="2" name="Gerade Verbindung 19">
            <a:extLst>
              <a:ext uri="{FF2B5EF4-FFF2-40B4-BE49-F238E27FC236}">
                <a16:creationId xmlns:a16="http://schemas.microsoft.com/office/drawing/2014/main" id="{3372BD54-7AD3-8B91-D361-DB0FD6FF8B9B}"/>
              </a:ext>
            </a:extLst>
          </p:cNvPr>
          <p:cNvCxnSpPr/>
          <p:nvPr/>
        </p:nvCxnSpPr>
        <p:spPr>
          <a:xfrm>
            <a:off x="28783" y="5648551"/>
            <a:ext cx="7530892"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feld 11">
            <a:extLst>
              <a:ext uri="{FF2B5EF4-FFF2-40B4-BE49-F238E27FC236}">
                <a16:creationId xmlns:a16="http://schemas.microsoft.com/office/drawing/2014/main" id="{9BD5CAC8-F6A3-387E-28B3-C668B06B6ED0}"/>
              </a:ext>
            </a:extLst>
          </p:cNvPr>
          <p:cNvSpPr txBox="1"/>
          <p:nvPr/>
        </p:nvSpPr>
        <p:spPr>
          <a:xfrm>
            <a:off x="62916" y="6260303"/>
            <a:ext cx="7102425" cy="1061829"/>
          </a:xfrm>
          <a:prstGeom prst="rect">
            <a:avLst/>
          </a:prstGeom>
          <a:noFill/>
        </p:spPr>
        <p:txBody>
          <a:bodyPr wrap="square" rtlCol="0">
            <a:spAutoFit/>
          </a:bodyPr>
          <a:lstStyle/>
          <a:p>
            <a:pPr algn="just"/>
            <a:r>
              <a:rPr lang="de-DE" sz="1050" b="0" i="0" dirty="0">
                <a:solidFill>
                  <a:srgbClr val="323232"/>
                </a:solidFill>
                <a:effectLst/>
                <a:latin typeface="IBM Plex Sans" panose="020B0503050203000203" pitchFamily="34" charset="0"/>
              </a:rPr>
              <a:t>Die MLC Version 5650-ZOS z/OS 2.5 ist zum 29.01.2024 Withdrawn from Marketing. Der Service für die Programmversion besteht weiterhin. Mehr Informationen finden sich </a:t>
            </a:r>
            <a:r>
              <a:rPr lang="de-DE" sz="1050" b="0" i="0" dirty="0">
                <a:solidFill>
                  <a:srgbClr val="323232"/>
                </a:solidFill>
                <a:effectLst/>
                <a:latin typeface="IBM Plex Sans" panose="020B0503050203000203" pitchFamily="34" charset="0"/>
                <a:hlinkClick r:id="rId4"/>
              </a:rPr>
              <a:t>hier.</a:t>
            </a:r>
            <a:endParaRPr lang="de-DE" sz="1050" b="0" i="0" dirty="0">
              <a:solidFill>
                <a:srgbClr val="323232"/>
              </a:solidFill>
              <a:effectLst/>
              <a:latin typeface="IBM Plex Sans" panose="020B0503050203000203" pitchFamily="34" charset="0"/>
            </a:endParaRPr>
          </a:p>
          <a:p>
            <a:pPr algn="just"/>
            <a:endParaRPr lang="de-DE" sz="1050" dirty="0">
              <a:solidFill>
                <a:srgbClr val="323232"/>
              </a:solidFill>
              <a:latin typeface="IBM Plex Sans" panose="020B0503050203000203" pitchFamily="34" charset="0"/>
            </a:endParaRPr>
          </a:p>
          <a:p>
            <a:pPr algn="just"/>
            <a:r>
              <a:rPr lang="de-DE" sz="1050" b="0" i="0" dirty="0">
                <a:solidFill>
                  <a:srgbClr val="323232"/>
                </a:solidFill>
                <a:effectLst/>
                <a:latin typeface="IBM Plex Sans" panose="020B0503050203000203" pitchFamily="34" charset="0"/>
              </a:rPr>
              <a:t>Der </a:t>
            </a:r>
            <a:r>
              <a:rPr lang="de-DE" sz="1050" b="0" i="0" dirty="0" err="1">
                <a:solidFill>
                  <a:srgbClr val="323232"/>
                </a:solidFill>
                <a:effectLst/>
                <a:latin typeface="IBM Plex Sans" panose="020B0503050203000203" pitchFamily="34" charset="0"/>
              </a:rPr>
              <a:t>Announcement</a:t>
            </a:r>
            <a:r>
              <a:rPr lang="de-DE" sz="1050" b="0" i="0" dirty="0">
                <a:solidFill>
                  <a:srgbClr val="323232"/>
                </a:solidFill>
                <a:effectLst/>
                <a:latin typeface="IBM Plex Sans" panose="020B0503050203000203" pitchFamily="34" charset="0"/>
              </a:rPr>
              <a:t> </a:t>
            </a:r>
            <a:r>
              <a:rPr lang="de-DE" sz="1050" b="0" i="0" dirty="0" err="1">
                <a:solidFill>
                  <a:srgbClr val="323232"/>
                </a:solidFill>
                <a:effectLst/>
                <a:latin typeface="IBM Plex Sans" panose="020B0503050203000203" pitchFamily="34" charset="0"/>
              </a:rPr>
              <a:t>letter</a:t>
            </a:r>
            <a:r>
              <a:rPr lang="de-DE" sz="1050" b="0" i="0" dirty="0">
                <a:solidFill>
                  <a:srgbClr val="323232"/>
                </a:solidFill>
                <a:effectLst/>
                <a:latin typeface="IBM Plex Sans" panose="020B0503050203000203" pitchFamily="34" charset="0"/>
              </a:rPr>
              <a:t> zu z/OS 3.1 finden sich unter folgendem </a:t>
            </a:r>
            <a:r>
              <a:rPr lang="de-DE" sz="1050" b="0" i="0" dirty="0">
                <a:solidFill>
                  <a:srgbClr val="323232"/>
                </a:solidFill>
                <a:effectLst/>
                <a:latin typeface="IBM Plex Sans" panose="020B0503050203000203" pitchFamily="34" charset="0"/>
                <a:hlinkClick r:id="rId5"/>
              </a:rPr>
              <a:t>Link. </a:t>
            </a:r>
            <a:endParaRPr lang="de-DE" sz="1050" b="0" i="0" dirty="0">
              <a:solidFill>
                <a:srgbClr val="323232"/>
              </a:solidFill>
              <a:effectLst/>
              <a:latin typeface="IBM Plex Sans" panose="020B0503050203000203" pitchFamily="34" charset="0"/>
            </a:endParaRPr>
          </a:p>
          <a:p>
            <a:pPr algn="just"/>
            <a:endParaRPr lang="de-DE" sz="1050" dirty="0">
              <a:solidFill>
                <a:srgbClr val="323232"/>
              </a:solidFill>
              <a:latin typeface="IBM Plex Sans" panose="020B0503050203000203" pitchFamily="34" charset="0"/>
            </a:endParaRPr>
          </a:p>
          <a:p>
            <a:pPr algn="just"/>
            <a:endParaRPr lang="de-DE" sz="1050" b="0" i="0" dirty="0">
              <a:solidFill>
                <a:srgbClr val="323232"/>
              </a:solidFill>
              <a:effectLst/>
              <a:latin typeface="IBM Plex Sans" panose="020B0503050203000203" pitchFamily="34" charset="0"/>
            </a:endParaRPr>
          </a:p>
        </p:txBody>
      </p:sp>
      <p:sp>
        <p:nvSpPr>
          <p:cNvPr id="11" name="Textfeld 10">
            <a:extLst>
              <a:ext uri="{FF2B5EF4-FFF2-40B4-BE49-F238E27FC236}">
                <a16:creationId xmlns:a16="http://schemas.microsoft.com/office/drawing/2014/main" id="{4E35F4A7-54F4-40DC-08E5-89235F47E9ED}"/>
              </a:ext>
            </a:extLst>
          </p:cNvPr>
          <p:cNvSpPr txBox="1"/>
          <p:nvPr/>
        </p:nvSpPr>
        <p:spPr>
          <a:xfrm>
            <a:off x="385376" y="5810260"/>
            <a:ext cx="5920984" cy="307777"/>
          </a:xfrm>
          <a:prstGeom prst="rect">
            <a:avLst/>
          </a:prstGeom>
          <a:noFill/>
        </p:spPr>
        <p:txBody>
          <a:bodyPr wrap="square" rtlCol="0">
            <a:spAutoFit/>
          </a:bodyPr>
          <a:lstStyle/>
          <a:p>
            <a:pPr algn="l" fontAlgn="base"/>
            <a:r>
              <a:rPr lang="en-US" sz="1400" b="1" dirty="0">
                <a:latin typeface="IBM Plex Sans" panose="020B0503050203000203" pitchFamily="34" charset="0"/>
              </a:rPr>
              <a:t>Withdrawn from Marketing 5650ZOS z/OS 2.5</a:t>
            </a:r>
            <a:endParaRPr lang="de-DE" sz="1400" b="1" dirty="0">
              <a:latin typeface="IBM Plex Sans" panose="020B0503050203000203" pitchFamily="34" charset="0"/>
            </a:endParaRPr>
          </a:p>
        </p:txBody>
      </p:sp>
      <p:sp>
        <p:nvSpPr>
          <p:cNvPr id="12" name="Oval 11">
            <a:extLst>
              <a:ext uri="{FF2B5EF4-FFF2-40B4-BE49-F238E27FC236}">
                <a16:creationId xmlns:a16="http://schemas.microsoft.com/office/drawing/2014/main" id="{8B5A7A0D-C8DD-E62E-328C-C0AAFC2862AE}"/>
              </a:ext>
            </a:extLst>
          </p:cNvPr>
          <p:cNvSpPr/>
          <p:nvPr/>
        </p:nvSpPr>
        <p:spPr>
          <a:xfrm>
            <a:off x="46575" y="5830037"/>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IBM Plex Sans" panose="020B0503050203000203" pitchFamily="34" charset="0"/>
              </a:rPr>
              <a:t>6</a:t>
            </a:r>
            <a:endParaRPr lang="de-DE" sz="1400" b="1" dirty="0">
              <a:solidFill>
                <a:schemeClr val="bg1"/>
              </a:solidFill>
              <a:latin typeface="IBM Plex Sans" panose="020B0503050203000203" pitchFamily="34" charset="0"/>
            </a:endParaRPr>
          </a:p>
        </p:txBody>
      </p:sp>
      <p:sp>
        <p:nvSpPr>
          <p:cNvPr id="13" name="Textfeld 11">
            <a:extLst>
              <a:ext uri="{FF2B5EF4-FFF2-40B4-BE49-F238E27FC236}">
                <a16:creationId xmlns:a16="http://schemas.microsoft.com/office/drawing/2014/main" id="{DF4764C1-3D37-BCA5-F1CE-5139B041764D}"/>
              </a:ext>
            </a:extLst>
          </p:cNvPr>
          <p:cNvSpPr txBox="1"/>
          <p:nvPr/>
        </p:nvSpPr>
        <p:spPr>
          <a:xfrm>
            <a:off x="62917" y="7819557"/>
            <a:ext cx="7102424" cy="415498"/>
          </a:xfrm>
          <a:prstGeom prst="rect">
            <a:avLst/>
          </a:prstGeom>
          <a:noFill/>
        </p:spPr>
        <p:txBody>
          <a:bodyPr wrap="square" rtlCol="0">
            <a:spAutoFit/>
          </a:bodyPr>
          <a:lstStyle/>
          <a:p>
            <a:pPr algn="just"/>
            <a:r>
              <a:rPr lang="de-DE" sz="1050" b="0" i="0" dirty="0">
                <a:solidFill>
                  <a:srgbClr val="323232"/>
                </a:solidFill>
                <a:effectLst/>
                <a:latin typeface="IBM Plex Sans" panose="020B0503050203000203" pitchFamily="34" charset="0"/>
              </a:rPr>
              <a:t>Mehrere </a:t>
            </a:r>
            <a:r>
              <a:rPr lang="de-DE" sz="1050" b="0" i="0" dirty="0" err="1">
                <a:solidFill>
                  <a:srgbClr val="323232"/>
                </a:solidFill>
                <a:effectLst/>
                <a:latin typeface="IBM Plex Sans" panose="020B0503050203000203" pitchFamily="34" charset="0"/>
              </a:rPr>
              <a:t>Withdrawal</a:t>
            </a:r>
            <a:r>
              <a:rPr lang="de-DE" sz="1050" b="0" i="0" dirty="0">
                <a:solidFill>
                  <a:srgbClr val="323232"/>
                </a:solidFill>
                <a:effectLst/>
                <a:latin typeface="IBM Plex Sans" panose="020B0503050203000203" pitchFamily="34" charset="0"/>
              </a:rPr>
              <a:t> Daten für die IBM Z &amp; </a:t>
            </a:r>
            <a:r>
              <a:rPr lang="de-DE" sz="1050" b="0" i="0" dirty="0" err="1">
                <a:solidFill>
                  <a:srgbClr val="323232"/>
                </a:solidFill>
                <a:effectLst/>
                <a:latin typeface="IBM Plex Sans" panose="020B0503050203000203" pitchFamily="34" charset="0"/>
              </a:rPr>
              <a:t>LinuxONE</a:t>
            </a:r>
            <a:r>
              <a:rPr lang="de-DE" sz="1050" b="0" i="0" dirty="0">
                <a:solidFill>
                  <a:srgbClr val="323232"/>
                </a:solidFill>
                <a:effectLst/>
                <a:latin typeface="IBM Plex Sans" panose="020B0503050203000203" pitchFamily="34" charset="0"/>
              </a:rPr>
              <a:t> </a:t>
            </a:r>
            <a:r>
              <a:rPr lang="de-DE" sz="1050" b="0" i="0" dirty="0" err="1">
                <a:solidFill>
                  <a:srgbClr val="323232"/>
                </a:solidFill>
                <a:effectLst/>
                <a:latin typeface="IBM Plex Sans" panose="020B0503050203000203" pitchFamily="34" charset="0"/>
              </a:rPr>
              <a:t>Machine</a:t>
            </a:r>
            <a:r>
              <a:rPr lang="de-DE" sz="1050" b="0" i="0" dirty="0">
                <a:solidFill>
                  <a:srgbClr val="323232"/>
                </a:solidFill>
                <a:effectLst/>
                <a:latin typeface="IBM Plex Sans" panose="020B0503050203000203" pitchFamily="34" charset="0"/>
              </a:rPr>
              <a:t> Type 8562 stehen zur Verfügung. Diese können aus folgendem </a:t>
            </a:r>
            <a:r>
              <a:rPr lang="de-DE" sz="1050" b="0" i="0" dirty="0" err="1">
                <a:solidFill>
                  <a:srgbClr val="323232"/>
                </a:solidFill>
                <a:effectLst/>
                <a:latin typeface="IBM Plex Sans" panose="020B0503050203000203" pitchFamily="34" charset="0"/>
                <a:hlinkClick r:id="rId6"/>
              </a:rPr>
              <a:t>Announcement</a:t>
            </a:r>
            <a:r>
              <a:rPr lang="de-DE" sz="1050" b="0" i="0" dirty="0">
                <a:solidFill>
                  <a:srgbClr val="323232"/>
                </a:solidFill>
                <a:effectLst/>
                <a:latin typeface="IBM Plex Sans" panose="020B0503050203000203" pitchFamily="34" charset="0"/>
                <a:hlinkClick r:id="rId6"/>
              </a:rPr>
              <a:t> </a:t>
            </a:r>
            <a:r>
              <a:rPr lang="de-DE" sz="1050" b="0" i="0" dirty="0" err="1">
                <a:solidFill>
                  <a:srgbClr val="323232"/>
                </a:solidFill>
                <a:effectLst/>
                <a:latin typeface="IBM Plex Sans" panose="020B0503050203000203" pitchFamily="34" charset="0"/>
                <a:hlinkClick r:id="rId6"/>
              </a:rPr>
              <a:t>letter</a:t>
            </a:r>
            <a:r>
              <a:rPr lang="de-DE" sz="1050" b="0" i="0" dirty="0">
                <a:solidFill>
                  <a:srgbClr val="323232"/>
                </a:solidFill>
                <a:effectLst/>
                <a:latin typeface="IBM Plex Sans" panose="020B0503050203000203" pitchFamily="34" charset="0"/>
                <a:hlinkClick r:id="rId6"/>
              </a:rPr>
              <a:t> </a:t>
            </a:r>
            <a:r>
              <a:rPr lang="de-DE" sz="1050" b="0" i="0" dirty="0">
                <a:solidFill>
                  <a:srgbClr val="323232"/>
                </a:solidFill>
                <a:effectLst/>
                <a:latin typeface="IBM Plex Sans" panose="020B0503050203000203" pitchFamily="34" charset="0"/>
              </a:rPr>
              <a:t>entnommen werden.</a:t>
            </a:r>
          </a:p>
        </p:txBody>
      </p:sp>
      <p:sp>
        <p:nvSpPr>
          <p:cNvPr id="15" name="Textfeld 15">
            <a:extLst>
              <a:ext uri="{FF2B5EF4-FFF2-40B4-BE49-F238E27FC236}">
                <a16:creationId xmlns:a16="http://schemas.microsoft.com/office/drawing/2014/main" id="{5126938C-BF85-7397-F71C-0DED291245EB}"/>
              </a:ext>
            </a:extLst>
          </p:cNvPr>
          <p:cNvSpPr txBox="1"/>
          <p:nvPr/>
        </p:nvSpPr>
        <p:spPr>
          <a:xfrm>
            <a:off x="385373" y="7454836"/>
            <a:ext cx="6910004" cy="307777"/>
          </a:xfrm>
          <a:prstGeom prst="rect">
            <a:avLst/>
          </a:prstGeom>
          <a:noFill/>
        </p:spPr>
        <p:txBody>
          <a:bodyPr wrap="square" rtlCol="0">
            <a:spAutoFit/>
          </a:bodyPr>
          <a:lstStyle/>
          <a:p>
            <a:pPr algn="l" fontAlgn="base"/>
            <a:r>
              <a:rPr lang="en-US" sz="1400" b="1" dirty="0">
                <a:latin typeface="IBM Plex Sans" panose="020B0503050203000203" pitchFamily="34" charset="0"/>
              </a:rPr>
              <a:t>Withdrawn from Marketing IBM Z &amp; </a:t>
            </a:r>
            <a:r>
              <a:rPr lang="en-US" sz="1400" b="1" dirty="0" err="1">
                <a:latin typeface="IBM Plex Sans" panose="020B0503050203000203" pitchFamily="34" charset="0"/>
              </a:rPr>
              <a:t>LinuxONE</a:t>
            </a:r>
            <a:r>
              <a:rPr lang="en-US" sz="1400" b="1" dirty="0">
                <a:latin typeface="IBM Plex Sans" panose="020B0503050203000203" pitchFamily="34" charset="0"/>
              </a:rPr>
              <a:t> Machine Type 8562</a:t>
            </a:r>
          </a:p>
        </p:txBody>
      </p:sp>
      <p:sp>
        <p:nvSpPr>
          <p:cNvPr id="16" name="Oval 15">
            <a:extLst>
              <a:ext uri="{FF2B5EF4-FFF2-40B4-BE49-F238E27FC236}">
                <a16:creationId xmlns:a16="http://schemas.microsoft.com/office/drawing/2014/main" id="{B5DAF96E-A801-6222-8A63-4C6F8CC1B185}"/>
              </a:ext>
            </a:extLst>
          </p:cNvPr>
          <p:cNvSpPr/>
          <p:nvPr/>
        </p:nvSpPr>
        <p:spPr>
          <a:xfrm>
            <a:off x="59273" y="7465722"/>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IBM Plex Sans" panose="020B0503050203000203" pitchFamily="34" charset="0"/>
              </a:rPr>
              <a:t>7</a:t>
            </a:r>
            <a:endParaRPr lang="de-DE" sz="1400" b="1" dirty="0">
              <a:solidFill>
                <a:schemeClr val="bg1"/>
              </a:solidFill>
              <a:latin typeface="IBM Plex Sans" panose="020B0503050203000203" pitchFamily="34" charset="0"/>
            </a:endParaRPr>
          </a:p>
        </p:txBody>
      </p:sp>
      <p:cxnSp>
        <p:nvCxnSpPr>
          <p:cNvPr id="17" name="Gerade Verbindung 19">
            <a:extLst>
              <a:ext uri="{FF2B5EF4-FFF2-40B4-BE49-F238E27FC236}">
                <a16:creationId xmlns:a16="http://schemas.microsoft.com/office/drawing/2014/main" id="{86C3DB58-9D5C-E1C2-55E2-4109F4764459}"/>
              </a:ext>
            </a:extLst>
          </p:cNvPr>
          <p:cNvCxnSpPr/>
          <p:nvPr/>
        </p:nvCxnSpPr>
        <p:spPr>
          <a:xfrm>
            <a:off x="13403" y="7210303"/>
            <a:ext cx="7530892" cy="0"/>
          </a:xfrm>
          <a:prstGeom prst="line">
            <a:avLst/>
          </a:prstGeom>
        </p:spPr>
        <p:style>
          <a:lnRef idx="1">
            <a:schemeClr val="accent1"/>
          </a:lnRef>
          <a:fillRef idx="0">
            <a:schemeClr val="accent1"/>
          </a:fillRef>
          <a:effectRef idx="0">
            <a:schemeClr val="accent1"/>
          </a:effectRef>
          <a:fontRef idx="minor">
            <a:schemeClr val="tx1"/>
          </a:fontRef>
        </p:style>
      </p:cxnSp>
      <p:pic>
        <p:nvPicPr>
          <p:cNvPr id="18" name="Grafik 5">
            <a:extLst>
              <a:ext uri="{FF2B5EF4-FFF2-40B4-BE49-F238E27FC236}">
                <a16:creationId xmlns:a16="http://schemas.microsoft.com/office/drawing/2014/main" id="{2B4A0385-7D5D-1531-401C-C02FA2DE1842}"/>
              </a:ext>
            </a:extLst>
          </p:cNvPr>
          <p:cNvPicPr>
            <a:picLocks noChangeAspect="1"/>
          </p:cNvPicPr>
          <p:nvPr/>
        </p:nvPicPr>
        <p:blipFill rotWithShape="1">
          <a:blip r:embed="rId7"/>
          <a:srcRect t="38776" b="14512"/>
          <a:stretch/>
        </p:blipFill>
        <p:spPr>
          <a:xfrm>
            <a:off x="2654" y="8917184"/>
            <a:ext cx="7556400" cy="1276601"/>
          </a:xfrm>
          <a:prstGeom prst="rect">
            <a:avLst/>
          </a:prstGeom>
        </p:spPr>
      </p:pic>
      <p:sp>
        <p:nvSpPr>
          <p:cNvPr id="19" name="Oval 18">
            <a:extLst>
              <a:ext uri="{FF2B5EF4-FFF2-40B4-BE49-F238E27FC236}">
                <a16:creationId xmlns:a16="http://schemas.microsoft.com/office/drawing/2014/main" id="{AF26B80C-B3FB-59E1-D245-EDB6964B69DA}"/>
              </a:ext>
            </a:extLst>
          </p:cNvPr>
          <p:cNvSpPr/>
          <p:nvPr/>
        </p:nvSpPr>
        <p:spPr>
          <a:xfrm>
            <a:off x="45952" y="792500"/>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IBM Plex Sans" panose="020B0503050203000203" pitchFamily="34" charset="0"/>
              </a:rPr>
              <a:t>5</a:t>
            </a:r>
            <a:endParaRPr lang="de-DE" sz="1400" b="1" dirty="0">
              <a:solidFill>
                <a:schemeClr val="bg1"/>
              </a:solidFill>
              <a:latin typeface="IBM Plex Sans" panose="020B0503050203000203" pitchFamily="34" charset="0"/>
            </a:endParaRPr>
          </a:p>
        </p:txBody>
      </p:sp>
      <p:sp>
        <p:nvSpPr>
          <p:cNvPr id="20" name="Textfeld 19">
            <a:extLst>
              <a:ext uri="{FF2B5EF4-FFF2-40B4-BE49-F238E27FC236}">
                <a16:creationId xmlns:a16="http://schemas.microsoft.com/office/drawing/2014/main" id="{68B5407A-8529-1563-C686-68B7D74D8717}"/>
              </a:ext>
            </a:extLst>
          </p:cNvPr>
          <p:cNvSpPr txBox="1"/>
          <p:nvPr/>
        </p:nvSpPr>
        <p:spPr>
          <a:xfrm>
            <a:off x="410540" y="798306"/>
            <a:ext cx="6440352" cy="523220"/>
          </a:xfrm>
          <a:prstGeom prst="rect">
            <a:avLst/>
          </a:prstGeom>
          <a:noFill/>
        </p:spPr>
        <p:txBody>
          <a:bodyPr wrap="square" rtlCol="0">
            <a:spAutoFit/>
          </a:bodyPr>
          <a:lstStyle/>
          <a:p>
            <a:r>
              <a:rPr lang="en-US" sz="1400" b="1" dirty="0">
                <a:latin typeface="IBM Plex Sans" panose="020B0503050203000203" pitchFamily="34" charset="0"/>
              </a:rPr>
              <a:t>IBM Db2 Automation Expert, Query Monitor &amp; High Performance Unload für z/OS</a:t>
            </a:r>
          </a:p>
        </p:txBody>
      </p:sp>
    </p:spTree>
    <p:extLst>
      <p:ext uri="{BB962C8B-B14F-4D97-AF65-F5344CB8AC3E}">
        <p14:creationId xmlns:p14="http://schemas.microsoft.com/office/powerpoint/2010/main" val="1759682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hteck 3">
            <a:extLst>
              <a:ext uri="{FF2B5EF4-FFF2-40B4-BE49-F238E27FC236}">
                <a16:creationId xmlns:a16="http://schemas.microsoft.com/office/drawing/2014/main" id="{3B8D06D0-D6E2-77BD-9D8B-784EB160DCB1}"/>
              </a:ext>
            </a:extLst>
          </p:cNvPr>
          <p:cNvSpPr/>
          <p:nvPr/>
        </p:nvSpPr>
        <p:spPr>
          <a:xfrm>
            <a:off x="-2830" y="10175607"/>
            <a:ext cx="7565335" cy="5989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tangle 6">
            <a:extLst>
              <a:ext uri="{FF2B5EF4-FFF2-40B4-BE49-F238E27FC236}">
                <a16:creationId xmlns:a16="http://schemas.microsoft.com/office/drawing/2014/main" id="{F88CE8D4-7DF2-4940-AF60-CD6D38F25814}"/>
              </a:ext>
            </a:extLst>
          </p:cNvPr>
          <p:cNvSpPr>
            <a:spLocks noChangeArrowheads="1"/>
          </p:cNvSpPr>
          <p:nvPr/>
        </p:nvSpPr>
        <p:spPr bwMode="black">
          <a:xfrm>
            <a:off x="65375" y="10475073"/>
            <a:ext cx="13716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t"/>
          <a:lstStyle>
            <a:lvl1pPr>
              <a:defRPr b="1">
                <a:solidFill>
                  <a:schemeClr val="tx1"/>
                </a:solidFill>
                <a:latin typeface="Arial" panose="020B0604020202020204" pitchFamily="34" charset="0"/>
                <a:ea typeface="MS PGothic" panose="020B0600070205080204" pitchFamily="34" charset="-128"/>
              </a:defRPr>
            </a:lvl1pPr>
            <a:lvl2pPr marL="742950" indent="-285750">
              <a:defRPr b="1">
                <a:solidFill>
                  <a:schemeClr val="tx1"/>
                </a:solidFill>
                <a:latin typeface="Arial" panose="020B0604020202020204" pitchFamily="34" charset="0"/>
                <a:ea typeface="MS PGothic" panose="020B0600070205080204" pitchFamily="34" charset="-128"/>
              </a:defRPr>
            </a:lvl2pPr>
            <a:lvl3pPr marL="1143000" indent="-228600">
              <a:defRPr b="1">
                <a:solidFill>
                  <a:schemeClr val="tx1"/>
                </a:solidFill>
                <a:latin typeface="Arial" panose="020B0604020202020204" pitchFamily="34" charset="0"/>
                <a:ea typeface="MS PGothic" panose="020B0600070205080204" pitchFamily="34" charset="-128"/>
              </a:defRPr>
            </a:lvl3pPr>
            <a:lvl4pPr marL="1600200" indent="-228600">
              <a:defRPr b="1">
                <a:solidFill>
                  <a:schemeClr val="tx1"/>
                </a:solidFill>
                <a:latin typeface="Arial" panose="020B0604020202020204" pitchFamily="34" charset="0"/>
                <a:ea typeface="MS PGothic" panose="020B0600070205080204" pitchFamily="34" charset="-128"/>
              </a:defRPr>
            </a:lvl4pPr>
            <a:lvl5pPr marL="2057400" indent="-228600">
              <a:defRPr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9pPr>
          </a:lstStyle>
          <a:p>
            <a:pPr>
              <a:defRPr/>
            </a:pPr>
            <a:r>
              <a:rPr lang="en-US" sz="800" b="0" dirty="0">
                <a:latin typeface="IBM Plex Sans"/>
                <a:ea typeface="MS PGothic"/>
              </a:rPr>
              <a:t>© 2026 IBM Corporation</a:t>
            </a:r>
          </a:p>
        </p:txBody>
      </p:sp>
      <p:sp>
        <p:nvSpPr>
          <p:cNvPr id="6" name="Rechteck 5">
            <a:extLst>
              <a:ext uri="{FF2B5EF4-FFF2-40B4-BE49-F238E27FC236}">
                <a16:creationId xmlns:a16="http://schemas.microsoft.com/office/drawing/2014/main" id="{FBB0517A-8B6D-394E-8E07-AD5825CE91B9}"/>
              </a:ext>
            </a:extLst>
          </p:cNvPr>
          <p:cNvSpPr/>
          <p:nvPr/>
        </p:nvSpPr>
        <p:spPr>
          <a:xfrm>
            <a:off x="-5676" y="0"/>
            <a:ext cx="7565335" cy="5989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4" name="Textfeld 13">
            <a:extLst>
              <a:ext uri="{FF2B5EF4-FFF2-40B4-BE49-F238E27FC236}">
                <a16:creationId xmlns:a16="http://schemas.microsoft.com/office/drawing/2014/main" id="{2BE17F19-F2DC-4C46-99CA-93538088980B}"/>
              </a:ext>
            </a:extLst>
          </p:cNvPr>
          <p:cNvSpPr txBox="1"/>
          <p:nvPr/>
        </p:nvSpPr>
        <p:spPr>
          <a:xfrm>
            <a:off x="3667001" y="10404617"/>
            <a:ext cx="257202" cy="253916"/>
          </a:xfrm>
          <a:prstGeom prst="rect">
            <a:avLst/>
          </a:prstGeom>
          <a:noFill/>
        </p:spPr>
        <p:txBody>
          <a:bodyPr wrap="square" rtlCol="0">
            <a:spAutoFit/>
          </a:bodyPr>
          <a:lstStyle/>
          <a:p>
            <a:r>
              <a:rPr lang="de-DE" sz="1050" dirty="0">
                <a:latin typeface="IBM Plex Sans" panose="020B0503050203000203" pitchFamily="34" charset="0"/>
              </a:rPr>
              <a:t>4</a:t>
            </a:r>
          </a:p>
        </p:txBody>
      </p:sp>
      <p:pic>
        <p:nvPicPr>
          <p:cNvPr id="4" name="Picture 46" descr="blue-tri-color-logo">
            <a:extLst>
              <a:ext uri="{FF2B5EF4-FFF2-40B4-BE49-F238E27FC236}">
                <a16:creationId xmlns:a16="http://schemas.microsoft.com/office/drawing/2014/main" id="{D7D6DE4C-CE7D-1C47-A95D-B5FA1EB1534F}"/>
              </a:ext>
            </a:extLst>
          </p:cNvPr>
          <p:cNvPicPr>
            <a:picLocks noChangeAspect="1" noChangeArrowheads="1"/>
          </p:cNvPicPr>
          <p:nvPr/>
        </p:nvPicPr>
        <p:blipFill>
          <a:blip r:embed="rId2" cstate="print"/>
          <a:srcRect/>
          <a:stretch>
            <a:fillRect/>
          </a:stretch>
        </p:blipFill>
        <p:spPr bwMode="auto">
          <a:xfrm>
            <a:off x="6544192" y="144431"/>
            <a:ext cx="751185" cy="304253"/>
          </a:xfrm>
          <a:prstGeom prst="rect">
            <a:avLst/>
          </a:prstGeom>
          <a:noFill/>
          <a:ln w="9525">
            <a:noFill/>
            <a:miter lim="800000"/>
            <a:headEnd/>
            <a:tailEnd/>
          </a:ln>
        </p:spPr>
      </p:pic>
      <p:pic>
        <p:nvPicPr>
          <p:cNvPr id="30" name="Picture 46" descr="blue-tri-color-logo">
            <a:extLst>
              <a:ext uri="{FF2B5EF4-FFF2-40B4-BE49-F238E27FC236}">
                <a16:creationId xmlns:a16="http://schemas.microsoft.com/office/drawing/2014/main" id="{9046AB2D-C36B-FD75-BF5B-87169C31915C}"/>
              </a:ext>
            </a:extLst>
          </p:cNvPr>
          <p:cNvPicPr>
            <a:picLocks noChangeAspect="1" noChangeArrowheads="1"/>
          </p:cNvPicPr>
          <p:nvPr/>
        </p:nvPicPr>
        <p:blipFill>
          <a:blip r:embed="rId2" cstate="print"/>
          <a:srcRect/>
          <a:stretch>
            <a:fillRect/>
          </a:stretch>
        </p:blipFill>
        <p:spPr bwMode="auto">
          <a:xfrm>
            <a:off x="6708673" y="10338928"/>
            <a:ext cx="751185" cy="304253"/>
          </a:xfrm>
          <a:prstGeom prst="rect">
            <a:avLst/>
          </a:prstGeom>
          <a:noFill/>
          <a:ln w="9525">
            <a:noFill/>
            <a:miter lim="800000"/>
            <a:headEnd/>
            <a:tailEnd/>
          </a:ln>
        </p:spPr>
      </p:pic>
      <p:sp>
        <p:nvSpPr>
          <p:cNvPr id="22" name="Textfeld 21">
            <a:extLst>
              <a:ext uri="{FF2B5EF4-FFF2-40B4-BE49-F238E27FC236}">
                <a16:creationId xmlns:a16="http://schemas.microsoft.com/office/drawing/2014/main" id="{A2BFD222-6271-97AE-3CD8-67D421D0F86E}"/>
              </a:ext>
            </a:extLst>
          </p:cNvPr>
          <p:cNvSpPr txBox="1"/>
          <p:nvPr/>
        </p:nvSpPr>
        <p:spPr>
          <a:xfrm>
            <a:off x="402661" y="680029"/>
            <a:ext cx="4826477" cy="523220"/>
          </a:xfrm>
          <a:prstGeom prst="rect">
            <a:avLst/>
          </a:prstGeom>
          <a:noFill/>
        </p:spPr>
        <p:txBody>
          <a:bodyPr wrap="square" rtlCol="0">
            <a:spAutoFit/>
          </a:bodyPr>
          <a:lstStyle/>
          <a:p>
            <a:pPr fontAlgn="base"/>
            <a:r>
              <a:rPr lang="de-DE" sz="1400" b="1" dirty="0" err="1">
                <a:latin typeface="IBM Plex Sans" panose="020B0503050203000203" pitchFamily="34" charset="0"/>
              </a:rPr>
              <a:t>OpenAPI</a:t>
            </a:r>
            <a:r>
              <a:rPr lang="de-DE" sz="1400" b="1" dirty="0">
                <a:latin typeface="IBM Plex Sans" panose="020B0503050203000203" pitchFamily="34" charset="0"/>
              </a:rPr>
              <a:t> 3 ist ab sofort auch mit z/OS Connect (</a:t>
            </a:r>
            <a:r>
              <a:rPr lang="de-DE" sz="1400" b="1" dirty="0" err="1">
                <a:latin typeface="IBM Plex Sans" panose="020B0503050203000203" pitchFamily="34" charset="0"/>
              </a:rPr>
              <a:t>Simultaneous</a:t>
            </a:r>
            <a:r>
              <a:rPr lang="de-DE" sz="1400" b="1" dirty="0">
                <a:latin typeface="IBM Plex Sans" panose="020B0503050203000203" pitchFamily="34" charset="0"/>
              </a:rPr>
              <a:t> Instance License) verfügbar</a:t>
            </a:r>
          </a:p>
        </p:txBody>
      </p:sp>
      <p:sp>
        <p:nvSpPr>
          <p:cNvPr id="24" name="Textfeld 11">
            <a:extLst>
              <a:ext uri="{FF2B5EF4-FFF2-40B4-BE49-F238E27FC236}">
                <a16:creationId xmlns:a16="http://schemas.microsoft.com/office/drawing/2014/main" id="{6B9657C7-DC03-1DBE-0DE5-91C4FC3F673C}"/>
              </a:ext>
            </a:extLst>
          </p:cNvPr>
          <p:cNvSpPr txBox="1"/>
          <p:nvPr/>
        </p:nvSpPr>
        <p:spPr>
          <a:xfrm>
            <a:off x="113869" y="1141697"/>
            <a:ext cx="7164730" cy="2677656"/>
          </a:xfrm>
          <a:prstGeom prst="rect">
            <a:avLst/>
          </a:prstGeom>
          <a:noFill/>
        </p:spPr>
        <p:txBody>
          <a:bodyPr wrap="square" rtlCol="0">
            <a:spAutoFit/>
          </a:bodyPr>
          <a:lstStyle/>
          <a:p>
            <a:pPr algn="just"/>
            <a:endParaRPr lang="de-DE" sz="1050" dirty="0">
              <a:solidFill>
                <a:srgbClr val="323232"/>
              </a:solidFill>
              <a:latin typeface="IBM Plex Sans" panose="020B0503050203000203" pitchFamily="34" charset="0"/>
            </a:endParaRPr>
          </a:p>
          <a:p>
            <a:pPr algn="just"/>
            <a:r>
              <a:rPr lang="de-DE" sz="1050" b="0" i="0" dirty="0">
                <a:solidFill>
                  <a:srgbClr val="323232"/>
                </a:solidFill>
                <a:effectLst/>
                <a:latin typeface="IBM Plex Sans" panose="020B0503050203000203" pitchFamily="34" charset="0"/>
              </a:rPr>
              <a:t>Jetzt ist </a:t>
            </a:r>
            <a:r>
              <a:rPr lang="de-DE" sz="1050" b="0" i="0" dirty="0" err="1">
                <a:solidFill>
                  <a:srgbClr val="323232"/>
                </a:solidFill>
                <a:effectLst/>
                <a:latin typeface="IBM Plex Sans" panose="020B0503050203000203" pitchFamily="34" charset="0"/>
              </a:rPr>
              <a:t>OpenAPI</a:t>
            </a:r>
            <a:r>
              <a:rPr lang="de-DE" sz="1050" b="0" i="0" dirty="0">
                <a:solidFill>
                  <a:srgbClr val="323232"/>
                </a:solidFill>
                <a:effectLst/>
                <a:latin typeface="IBM Plex Sans" panose="020B0503050203000203" pitchFamily="34" charset="0"/>
              </a:rPr>
              <a:t> 3-Support mit jeder z/OS Connect Lizenz verfügbar! Bisher war der </a:t>
            </a:r>
            <a:r>
              <a:rPr lang="de-DE" sz="1050" b="0" i="0" dirty="0" err="1">
                <a:solidFill>
                  <a:srgbClr val="323232"/>
                </a:solidFill>
                <a:effectLst/>
                <a:latin typeface="IBM Plex Sans" panose="020B0503050203000203" pitchFamily="34" charset="0"/>
              </a:rPr>
              <a:t>OpenAPI</a:t>
            </a:r>
            <a:r>
              <a:rPr lang="de-DE" sz="1050" b="0" i="0" dirty="0">
                <a:solidFill>
                  <a:srgbClr val="323232"/>
                </a:solidFill>
                <a:effectLst/>
                <a:latin typeface="IBM Plex Sans" panose="020B0503050203000203" pitchFamily="34" charset="0"/>
              </a:rPr>
              <a:t> 3-Support nur für einige z/OS Connect Lizenzen vorhanden. </a:t>
            </a:r>
          </a:p>
          <a:p>
            <a:pPr algn="just"/>
            <a:endParaRPr lang="de-DE" sz="1050" b="0" i="0" dirty="0">
              <a:solidFill>
                <a:srgbClr val="323232"/>
              </a:solidFill>
              <a:effectLst/>
              <a:latin typeface="IBM Plex Sans" panose="020B0503050203000203" pitchFamily="34" charset="0"/>
            </a:endParaRPr>
          </a:p>
          <a:p>
            <a:pPr algn="just"/>
            <a:r>
              <a:rPr lang="de-DE" sz="1050" b="0" i="0" dirty="0">
                <a:solidFill>
                  <a:srgbClr val="323232"/>
                </a:solidFill>
                <a:effectLst/>
                <a:latin typeface="IBM Plex Sans" panose="020B0503050203000203" pitchFamily="34" charset="0"/>
              </a:rPr>
              <a:t>Der z/OS-native Support für </a:t>
            </a:r>
            <a:r>
              <a:rPr lang="de-DE" sz="1050" b="0" i="0" dirty="0" err="1">
                <a:solidFill>
                  <a:srgbClr val="323232"/>
                </a:solidFill>
                <a:effectLst/>
                <a:latin typeface="IBM Plex Sans" panose="020B0503050203000203" pitchFamily="34" charset="0"/>
              </a:rPr>
              <a:t>OpenAPI</a:t>
            </a:r>
            <a:r>
              <a:rPr lang="de-DE" sz="1050" b="0" i="0" dirty="0">
                <a:solidFill>
                  <a:srgbClr val="323232"/>
                </a:solidFill>
                <a:effectLst/>
                <a:latin typeface="IBM Plex Sans" panose="020B0503050203000203" pitchFamily="34" charset="0"/>
              </a:rPr>
              <a:t> 3 wird für bestehende z/OS Connect </a:t>
            </a:r>
            <a:r>
              <a:rPr lang="de-DE" sz="1050" b="0" i="0" dirty="0" err="1">
                <a:solidFill>
                  <a:srgbClr val="323232"/>
                </a:solidFill>
                <a:effectLst/>
                <a:latin typeface="IBM Plex Sans" panose="020B0503050203000203" pitchFamily="34" charset="0"/>
              </a:rPr>
              <a:t>Simultaneous</a:t>
            </a:r>
            <a:r>
              <a:rPr lang="de-DE" sz="1050" b="0" i="0" dirty="0">
                <a:solidFill>
                  <a:srgbClr val="323232"/>
                </a:solidFill>
                <a:effectLst/>
                <a:latin typeface="IBM Plex Sans" panose="020B0503050203000203" pitchFamily="34" charset="0"/>
              </a:rPr>
              <a:t> Instance (SI) Kunden (Program-Nummer 5655-CE3) mit dem Release 3.0.72 verfügbar gemacht. z/OS Connect SI Kunden können damit </a:t>
            </a:r>
            <a:r>
              <a:rPr lang="de-DE" sz="1050" b="0" i="0" dirty="0" err="1">
                <a:solidFill>
                  <a:srgbClr val="323232"/>
                </a:solidFill>
                <a:effectLst/>
                <a:latin typeface="IBM Plex Sans" panose="020B0503050203000203" pitchFamily="34" charset="0"/>
              </a:rPr>
              <a:t>OpenAPI</a:t>
            </a:r>
            <a:r>
              <a:rPr lang="de-DE" sz="1050" b="0" i="0" dirty="0">
                <a:solidFill>
                  <a:srgbClr val="323232"/>
                </a:solidFill>
                <a:effectLst/>
                <a:latin typeface="IBM Plex Sans" panose="020B0503050203000203" pitchFamily="34" charset="0"/>
              </a:rPr>
              <a:t> 3 Serverinstanzen native auf z/OS neben den existierenden </a:t>
            </a:r>
            <a:r>
              <a:rPr lang="de-DE" sz="1050" b="0" i="0" dirty="0" err="1">
                <a:solidFill>
                  <a:srgbClr val="323232"/>
                </a:solidFill>
                <a:effectLst/>
                <a:latin typeface="IBM Plex Sans" panose="020B0503050203000203" pitchFamily="34" charset="0"/>
              </a:rPr>
              <a:t>OpenAPI</a:t>
            </a:r>
            <a:r>
              <a:rPr lang="de-DE" sz="1050" b="0" i="0" dirty="0">
                <a:solidFill>
                  <a:srgbClr val="323232"/>
                </a:solidFill>
                <a:effectLst/>
                <a:latin typeface="IBM Plex Sans" panose="020B0503050203000203" pitchFamily="34" charset="0"/>
              </a:rPr>
              <a:t> 2 Serverinstanzen betreiben.</a:t>
            </a:r>
          </a:p>
          <a:p>
            <a:pPr algn="just"/>
            <a:endParaRPr lang="de-DE" sz="1050" b="0" i="0" dirty="0">
              <a:solidFill>
                <a:srgbClr val="323232"/>
              </a:solidFill>
              <a:effectLst/>
              <a:latin typeface="IBM Plex Sans" panose="020B0503050203000203" pitchFamily="34" charset="0"/>
            </a:endParaRPr>
          </a:p>
          <a:p>
            <a:pPr algn="just"/>
            <a:r>
              <a:rPr lang="de-DE" sz="1050" b="0" i="0" dirty="0">
                <a:solidFill>
                  <a:srgbClr val="323232"/>
                </a:solidFill>
                <a:effectLst/>
                <a:latin typeface="IBM Plex Sans" panose="020B0503050203000203" pitchFamily="34" charset="0"/>
              </a:rPr>
              <a:t>Dafür </a:t>
            </a:r>
            <a:r>
              <a:rPr lang="de-DE" sz="1050" b="0" i="0" dirty="0" err="1">
                <a:solidFill>
                  <a:srgbClr val="323232"/>
                </a:solidFill>
                <a:effectLst/>
                <a:latin typeface="IBM Plex Sans" panose="020B0503050203000203" pitchFamily="34" charset="0"/>
              </a:rPr>
              <a:t>muß</a:t>
            </a:r>
            <a:r>
              <a:rPr lang="de-DE" sz="1050" b="0" i="0" dirty="0">
                <a:solidFill>
                  <a:srgbClr val="323232"/>
                </a:solidFill>
                <a:effectLst/>
                <a:latin typeface="IBM Plex Sans" panose="020B0503050203000203" pitchFamily="34" charset="0"/>
              </a:rPr>
              <a:t> keine neue Lizenz oder Version erworben werden: Diese neue Funktion wird mit den monatlichen </a:t>
            </a:r>
            <a:r>
              <a:rPr lang="de-DE" sz="1050" b="0" i="0" dirty="0" err="1">
                <a:solidFill>
                  <a:srgbClr val="323232"/>
                </a:solidFill>
                <a:effectLst/>
                <a:latin typeface="IBM Plex Sans" panose="020B0503050203000203" pitchFamily="34" charset="0"/>
              </a:rPr>
              <a:t>Continuous</a:t>
            </a:r>
            <a:r>
              <a:rPr lang="de-DE" sz="1050" b="0" i="0" dirty="0">
                <a:solidFill>
                  <a:srgbClr val="323232"/>
                </a:solidFill>
                <a:effectLst/>
                <a:latin typeface="IBM Plex Sans" panose="020B0503050203000203" pitchFamily="34" charset="0"/>
              </a:rPr>
              <a:t> </a:t>
            </a:r>
            <a:r>
              <a:rPr lang="de-DE" sz="1050" b="0" i="0" dirty="0" err="1">
                <a:solidFill>
                  <a:srgbClr val="323232"/>
                </a:solidFill>
                <a:effectLst/>
                <a:latin typeface="IBM Plex Sans" panose="020B0503050203000203" pitchFamily="34" charset="0"/>
              </a:rPr>
              <a:t>Delivery</a:t>
            </a:r>
            <a:r>
              <a:rPr lang="de-DE" sz="1050" b="0" i="0" dirty="0">
                <a:solidFill>
                  <a:srgbClr val="323232"/>
                </a:solidFill>
                <a:effectLst/>
                <a:latin typeface="IBM Plex Sans" panose="020B0503050203000203" pitchFamily="34" charset="0"/>
              </a:rPr>
              <a:t> Releases ausgeliefert.</a:t>
            </a:r>
          </a:p>
          <a:p>
            <a:pPr algn="just"/>
            <a:endParaRPr lang="de-DE" sz="1050" b="0" i="0" dirty="0">
              <a:solidFill>
                <a:srgbClr val="323232"/>
              </a:solidFill>
              <a:effectLst/>
              <a:latin typeface="IBM Plex Sans" panose="020B0503050203000203" pitchFamily="34" charset="0"/>
            </a:endParaRPr>
          </a:p>
          <a:p>
            <a:pPr algn="just"/>
            <a:r>
              <a:rPr lang="de-DE" sz="1050" b="0" i="0" dirty="0">
                <a:solidFill>
                  <a:srgbClr val="323232"/>
                </a:solidFill>
                <a:effectLst/>
                <a:latin typeface="IBM Plex Sans" panose="020B0503050203000203" pitchFamily="34" charset="0"/>
              </a:rPr>
              <a:t>Sprechen Sie mit Ihrem IBM Team, um mehr über das </a:t>
            </a:r>
            <a:r>
              <a:rPr lang="de-DE" sz="1050" b="0" i="0" dirty="0" err="1">
                <a:solidFill>
                  <a:srgbClr val="323232"/>
                </a:solidFill>
                <a:effectLst/>
                <a:latin typeface="IBM Plex Sans" panose="020B0503050203000203" pitchFamily="34" charset="0"/>
              </a:rPr>
              <a:t>Provisioning</a:t>
            </a:r>
            <a:r>
              <a:rPr lang="de-DE" sz="1050" b="0" i="0" dirty="0">
                <a:solidFill>
                  <a:srgbClr val="323232"/>
                </a:solidFill>
                <a:effectLst/>
                <a:latin typeface="IBM Plex Sans" panose="020B0503050203000203" pitchFamily="34" charset="0"/>
              </a:rPr>
              <a:t> von ausreichend Instanzen für Ihre </a:t>
            </a:r>
            <a:r>
              <a:rPr lang="de-DE" sz="1050" b="0" i="0" dirty="0" err="1">
                <a:solidFill>
                  <a:srgbClr val="323232"/>
                </a:solidFill>
                <a:effectLst/>
                <a:latin typeface="IBM Plex Sans" panose="020B0503050203000203" pitchFamily="34" charset="0"/>
              </a:rPr>
              <a:t>OpenApi</a:t>
            </a:r>
            <a:r>
              <a:rPr lang="de-DE" sz="1050" b="0" i="0" dirty="0">
                <a:solidFill>
                  <a:srgbClr val="323232"/>
                </a:solidFill>
                <a:effectLst/>
                <a:latin typeface="IBM Plex Sans" panose="020B0503050203000203" pitchFamily="34" charset="0"/>
              </a:rPr>
              <a:t> 3 Anforderungen zu erfahren. </a:t>
            </a:r>
          </a:p>
          <a:p>
            <a:pPr algn="just"/>
            <a:endParaRPr lang="de-DE" sz="1050" dirty="0">
              <a:solidFill>
                <a:srgbClr val="323232"/>
              </a:solidFill>
              <a:latin typeface="IBM Plex Sans" panose="020B0503050203000203" pitchFamily="34" charset="0"/>
            </a:endParaRPr>
          </a:p>
          <a:p>
            <a:pPr algn="just"/>
            <a:r>
              <a:rPr lang="de-DE" sz="1050" dirty="0">
                <a:solidFill>
                  <a:srgbClr val="323232"/>
                </a:solidFill>
                <a:latin typeface="IBM Plex Sans" panose="020B0503050203000203" pitchFamily="34" charset="0"/>
              </a:rPr>
              <a:t>Mehr Informationen befinden sich </a:t>
            </a:r>
            <a:r>
              <a:rPr lang="de-DE" sz="1050" dirty="0">
                <a:solidFill>
                  <a:srgbClr val="323232"/>
                </a:solidFill>
                <a:latin typeface="IBM Plex Sans" panose="020B0503050203000203" pitchFamily="34" charset="0"/>
                <a:hlinkClick r:id="rId3">
                  <a:extLst>
                    <a:ext uri="{A12FA001-AC4F-418D-AE19-62706E023703}">
                      <ahyp:hlinkClr xmlns:ahyp="http://schemas.microsoft.com/office/drawing/2018/hyperlinkcolor" val="tx"/>
                    </a:ext>
                  </a:extLst>
                </a:hlinkClick>
              </a:rPr>
              <a:t>hier</a:t>
            </a:r>
            <a:r>
              <a:rPr lang="de-DE" sz="1050" dirty="0">
                <a:solidFill>
                  <a:srgbClr val="323232"/>
                </a:solidFill>
                <a:latin typeface="IBM Plex Sans" panose="020B0503050203000203" pitchFamily="34" charset="0"/>
              </a:rPr>
              <a:t>.</a:t>
            </a:r>
          </a:p>
          <a:p>
            <a:pPr algn="just"/>
            <a:endParaRPr lang="de-DE" sz="1050" dirty="0">
              <a:solidFill>
                <a:srgbClr val="323232"/>
              </a:solidFill>
              <a:latin typeface="IBM Plex Sans" panose="020B0503050203000203" pitchFamily="34" charset="0"/>
            </a:endParaRPr>
          </a:p>
        </p:txBody>
      </p:sp>
      <p:sp>
        <p:nvSpPr>
          <p:cNvPr id="2" name="Textfeld 1">
            <a:extLst>
              <a:ext uri="{FF2B5EF4-FFF2-40B4-BE49-F238E27FC236}">
                <a16:creationId xmlns:a16="http://schemas.microsoft.com/office/drawing/2014/main" id="{B452891B-5BAD-51A8-7779-D2C5F369C5C9}"/>
              </a:ext>
            </a:extLst>
          </p:cNvPr>
          <p:cNvSpPr txBox="1"/>
          <p:nvPr/>
        </p:nvSpPr>
        <p:spPr>
          <a:xfrm>
            <a:off x="42939" y="4297379"/>
            <a:ext cx="7152830" cy="5909310"/>
          </a:xfrm>
          <a:prstGeom prst="rect">
            <a:avLst/>
          </a:prstGeom>
          <a:noFill/>
        </p:spPr>
        <p:txBody>
          <a:bodyPr wrap="square" rtlCol="0">
            <a:spAutoFit/>
          </a:bodyPr>
          <a:lstStyle/>
          <a:p>
            <a:pPr algn="just"/>
            <a:r>
              <a:rPr lang="de-DE" sz="1050" b="0" i="0" u="none" strike="noStrike" dirty="0">
                <a:solidFill>
                  <a:srgbClr val="374151"/>
                </a:solidFill>
                <a:effectLst/>
                <a:latin typeface="IBM Plex Sans" panose="020B0503050203000203" pitchFamily="34" charset="0"/>
              </a:rPr>
              <a:t>Sie würden gerne auf DB2 </a:t>
            </a:r>
            <a:r>
              <a:rPr lang="de-DE" sz="1050" b="0" i="0" u="none" strike="noStrike" dirty="0" err="1">
                <a:solidFill>
                  <a:srgbClr val="374151"/>
                </a:solidFill>
                <a:effectLst/>
                <a:latin typeface="IBM Plex Sans" panose="020B0503050203000203" pitchFamily="34" charset="0"/>
              </a:rPr>
              <a:t>for</a:t>
            </a:r>
            <a:r>
              <a:rPr lang="de-DE" sz="1050" b="0" i="0" u="none" strike="noStrike" dirty="0">
                <a:solidFill>
                  <a:srgbClr val="374151"/>
                </a:solidFill>
                <a:effectLst/>
                <a:latin typeface="IBM Plex Sans" panose="020B0503050203000203" pitchFamily="34" charset="0"/>
              </a:rPr>
              <a:t> z/OS Daten zugreifen, ohne dabei auf Db2 zuzugreifen?</a:t>
            </a:r>
          </a:p>
          <a:p>
            <a:pPr algn="just"/>
            <a:r>
              <a:rPr lang="de-DE" sz="1050" b="0" i="0" u="none" strike="noStrike" dirty="0">
                <a:solidFill>
                  <a:srgbClr val="374151"/>
                </a:solidFill>
                <a:effectLst/>
                <a:latin typeface="IBM Plex Sans" panose="020B0503050203000203" pitchFamily="34" charset="0"/>
              </a:rPr>
              <a:t>Sie wollen ihre Db2 Mainframedaten in einer Public-Cloud nutzen?</a:t>
            </a:r>
          </a:p>
          <a:p>
            <a:pPr algn="just"/>
            <a:r>
              <a:rPr lang="de-DE" sz="1050" b="0" i="0" u="none" strike="noStrike" dirty="0">
                <a:solidFill>
                  <a:srgbClr val="374151"/>
                </a:solidFill>
                <a:effectLst/>
                <a:latin typeface="IBM Plex Sans" panose="020B0503050203000203" pitchFamily="34" charset="0"/>
              </a:rPr>
              <a:t>Sie möchten Ihre Db2-Daten Ihren Kunden zur Verfügung stellen und haben die Befürchtung damit die Workload auf dem System zu erhöhen (z.B. Abfrage von Kontodaten)?</a:t>
            </a:r>
          </a:p>
          <a:p>
            <a:pPr algn="just"/>
            <a:r>
              <a:rPr lang="de-DE" sz="1050" b="0" i="0" u="none" strike="noStrike" dirty="0">
                <a:solidFill>
                  <a:srgbClr val="374151"/>
                </a:solidFill>
                <a:effectLst/>
                <a:latin typeface="IBM Plex Sans" panose="020B0503050203000203" pitchFamily="34" charset="0"/>
              </a:rPr>
              <a:t>Sie möchten neue Analysewerkzeuge auf Ihren Geschäftsdaten ausführen, aber Ihre Bestandssystem nicht zusätzlich belasten?</a:t>
            </a:r>
          </a:p>
          <a:p>
            <a:pPr algn="just"/>
            <a:endParaRPr lang="de-DE" sz="1050" b="0" i="0" u="none" strike="noStrike" dirty="0">
              <a:solidFill>
                <a:srgbClr val="374151"/>
              </a:solidFill>
              <a:effectLst/>
              <a:latin typeface="IBM Plex Sans" panose="020B0503050203000203" pitchFamily="34" charset="0"/>
            </a:endParaRPr>
          </a:p>
          <a:p>
            <a:pPr algn="just"/>
            <a:r>
              <a:rPr lang="de-DE" sz="1050" b="0" i="0" u="none" strike="noStrike" dirty="0">
                <a:solidFill>
                  <a:srgbClr val="374151"/>
                </a:solidFill>
                <a:effectLst/>
                <a:latin typeface="IBM Plex Sans" panose="020B0503050203000203" pitchFamily="34" charset="0"/>
              </a:rPr>
              <a:t>Diese Wünsche können mit IBM Db2 Data Gate erfüllt werden.</a:t>
            </a:r>
          </a:p>
          <a:p>
            <a:pPr algn="just"/>
            <a:endParaRPr lang="de-DE" sz="1050" b="0" i="0" u="none" strike="noStrike" dirty="0">
              <a:solidFill>
                <a:srgbClr val="374151"/>
              </a:solidFill>
              <a:effectLst/>
              <a:latin typeface="IBM Plex Sans" panose="020B0503050203000203" pitchFamily="34" charset="0"/>
            </a:endParaRPr>
          </a:p>
          <a:p>
            <a:pPr algn="just"/>
            <a:r>
              <a:rPr lang="de-DE" sz="1050" b="0" i="0" u="none" strike="noStrike" dirty="0">
                <a:solidFill>
                  <a:srgbClr val="374151"/>
                </a:solidFill>
                <a:effectLst/>
                <a:latin typeface="IBM Plex Sans" panose="020B0503050203000203" pitchFamily="34" charset="0"/>
              </a:rPr>
              <a:t>Der IBM Db2 </a:t>
            </a:r>
            <a:r>
              <a:rPr lang="de-DE" sz="1050" b="0" i="0" u="none" strike="noStrike" dirty="0" err="1">
                <a:solidFill>
                  <a:srgbClr val="374151"/>
                </a:solidFill>
                <a:effectLst/>
                <a:latin typeface="IBM Plex Sans" panose="020B0503050203000203" pitchFamily="34" charset="0"/>
              </a:rPr>
              <a:t>for</a:t>
            </a:r>
            <a:r>
              <a:rPr lang="de-DE" sz="1050" b="0" i="0" u="none" strike="noStrike" dirty="0">
                <a:solidFill>
                  <a:srgbClr val="374151"/>
                </a:solidFill>
                <a:effectLst/>
                <a:latin typeface="IBM Plex Sans" panose="020B0503050203000203" pitchFamily="34" charset="0"/>
              </a:rPr>
              <a:t> z/OS Data Gate-Service extrahiert, lädt und synchronisiert Ihre geschäftskritischen Daten aus Db2 </a:t>
            </a:r>
            <a:r>
              <a:rPr lang="de-DE" sz="1050" b="0" i="0" u="none" strike="noStrike" dirty="0" err="1">
                <a:solidFill>
                  <a:srgbClr val="374151"/>
                </a:solidFill>
                <a:effectLst/>
                <a:latin typeface="IBM Plex Sans" panose="020B0503050203000203" pitchFamily="34" charset="0"/>
              </a:rPr>
              <a:t>for</a:t>
            </a:r>
            <a:r>
              <a:rPr lang="de-DE" sz="1050" b="0" i="0" u="none" strike="noStrike" dirty="0">
                <a:solidFill>
                  <a:srgbClr val="374151"/>
                </a:solidFill>
                <a:effectLst/>
                <a:latin typeface="IBM Plex Sans" panose="020B0503050203000203" pitchFamily="34" charset="0"/>
              </a:rPr>
              <a:t> z/OS mit Cloud Pak </a:t>
            </a:r>
            <a:r>
              <a:rPr lang="de-DE" sz="1050" b="0" i="0" u="none" strike="noStrike" dirty="0" err="1">
                <a:solidFill>
                  <a:srgbClr val="374151"/>
                </a:solidFill>
                <a:effectLst/>
                <a:latin typeface="IBM Plex Sans" panose="020B0503050203000203" pitchFamily="34" charset="0"/>
              </a:rPr>
              <a:t>for</a:t>
            </a:r>
            <a:r>
              <a:rPr lang="de-DE" sz="1050" b="0" i="0" u="none" strike="noStrike" dirty="0">
                <a:solidFill>
                  <a:srgbClr val="374151"/>
                </a:solidFill>
                <a:effectLst/>
                <a:latin typeface="IBM Plex Sans" panose="020B0503050203000203" pitchFamily="34" charset="0"/>
              </a:rPr>
              <a:t> Data, damit Ihre neuen, schreibgeschützten Transaktions- und Analyseanwendungen schnell darauf zugreifen können.</a:t>
            </a:r>
          </a:p>
          <a:p>
            <a:pPr algn="just"/>
            <a:endParaRPr lang="de-DE" sz="1050" b="0" i="0" u="none" strike="noStrike" dirty="0">
              <a:solidFill>
                <a:srgbClr val="374151"/>
              </a:solidFill>
              <a:effectLst/>
              <a:latin typeface="IBM Plex Sans" panose="020B0503050203000203" pitchFamily="34" charset="0"/>
            </a:endParaRPr>
          </a:p>
          <a:p>
            <a:pPr algn="just"/>
            <a:r>
              <a:rPr lang="de-DE" sz="1050" b="0" i="0" u="none" strike="noStrike" dirty="0">
                <a:solidFill>
                  <a:srgbClr val="374151"/>
                </a:solidFill>
                <a:effectLst/>
                <a:latin typeface="IBM Plex Sans" panose="020B0503050203000203" pitchFamily="34" charset="0"/>
              </a:rPr>
              <a:t>Die Lösung „kopiert unter der Decke“ Ihre Daten von einer Db2 </a:t>
            </a:r>
            <a:r>
              <a:rPr lang="de-DE" sz="1050" b="0" i="0" u="none" strike="noStrike" dirty="0" err="1">
                <a:solidFill>
                  <a:srgbClr val="374151"/>
                </a:solidFill>
                <a:effectLst/>
                <a:latin typeface="IBM Plex Sans" panose="020B0503050203000203" pitchFamily="34" charset="0"/>
              </a:rPr>
              <a:t>for</a:t>
            </a:r>
            <a:r>
              <a:rPr lang="de-DE" sz="1050" b="0" i="0" u="none" strike="noStrike" dirty="0">
                <a:solidFill>
                  <a:srgbClr val="374151"/>
                </a:solidFill>
                <a:effectLst/>
                <a:latin typeface="IBM Plex Sans" panose="020B0503050203000203" pitchFamily="34" charset="0"/>
              </a:rPr>
              <a:t> z/OS-Quelle auf IBM Z in eine Zieldatenbank auf Cloud Pak </a:t>
            </a:r>
            <a:r>
              <a:rPr lang="de-DE" sz="1050" b="0" i="0" u="none" strike="noStrike" dirty="0" err="1">
                <a:solidFill>
                  <a:srgbClr val="374151"/>
                </a:solidFill>
                <a:effectLst/>
                <a:latin typeface="IBM Plex Sans" panose="020B0503050203000203" pitchFamily="34" charset="0"/>
              </a:rPr>
              <a:t>for</a:t>
            </a:r>
            <a:r>
              <a:rPr lang="de-DE" sz="1050" b="0" i="0" u="none" strike="noStrike" dirty="0">
                <a:solidFill>
                  <a:srgbClr val="374151"/>
                </a:solidFill>
                <a:effectLst/>
                <a:latin typeface="IBM Plex Sans" panose="020B0503050203000203" pitchFamily="34" charset="0"/>
              </a:rPr>
              <a:t> Data weiter. Sie können die Art Ihrer Zieldatenbank entsprechend Ihren Geschäftsanforderungen auswählen. Beispielsweise könnten Sie Db2 als Zieldatenbank für Ihre neuen hochintensiven Transaktions-Workloads einrichten, etwa mobile Banking-Anwendungen. Oder Sie richten Db2 Warehouse als Zieldatenbank für Ihre Analyse- oder KI-Workloads ein.</a:t>
            </a:r>
          </a:p>
          <a:p>
            <a:pPr algn="just"/>
            <a:endParaRPr lang="de-DE" sz="1050" b="0" i="0" u="none" strike="noStrike" dirty="0">
              <a:solidFill>
                <a:srgbClr val="374151"/>
              </a:solidFill>
              <a:effectLst/>
              <a:latin typeface="IBM Plex Sans" panose="020B0503050203000203" pitchFamily="34" charset="0"/>
            </a:endParaRPr>
          </a:p>
          <a:p>
            <a:pPr algn="just"/>
            <a:r>
              <a:rPr lang="de-DE" sz="1050" b="0" i="0" u="none" strike="noStrike" dirty="0">
                <a:solidFill>
                  <a:srgbClr val="374151"/>
                </a:solidFill>
                <a:effectLst/>
                <a:latin typeface="IBM Plex Sans" panose="020B0503050203000203" pitchFamily="34" charset="0"/>
              </a:rPr>
              <a:t>Db2 Data Gate verwendet ein integriertes Datensynchronisierungsprotokoll, um sicherzustellen, dass Ihre Daten aktuell, konsistent und sicher sind. Das vollständig </a:t>
            </a:r>
            <a:r>
              <a:rPr lang="de-DE" sz="1050" b="0" i="0" u="none" strike="noStrike" dirty="0" err="1">
                <a:solidFill>
                  <a:srgbClr val="374151"/>
                </a:solidFill>
                <a:effectLst/>
                <a:latin typeface="IBM Plex Sans" panose="020B0503050203000203" pitchFamily="34" charset="0"/>
              </a:rPr>
              <a:t>zIIP</a:t>
            </a:r>
            <a:r>
              <a:rPr lang="de-DE" sz="1050" b="0" i="0" u="none" strike="noStrike" dirty="0">
                <a:solidFill>
                  <a:srgbClr val="374151"/>
                </a:solidFill>
                <a:effectLst/>
                <a:latin typeface="IBM Plex Sans" panose="020B0503050203000203" pitchFamily="34" charset="0"/>
              </a:rPr>
              <a:t>-fähige Synchronisierungsprotokoll ist leichtgewichtig, hat einen hohen Durchsatz und eine geringe Latenz. Es ermöglicht den Zugriff auf Ihre Daten nahezu in Echtzeit, ohne die Leistung Ihrer Db2 </a:t>
            </a:r>
            <a:r>
              <a:rPr lang="de-DE" sz="1050" b="0" i="0" u="none" strike="noStrike" dirty="0" err="1">
                <a:solidFill>
                  <a:srgbClr val="374151"/>
                </a:solidFill>
                <a:effectLst/>
                <a:latin typeface="IBM Plex Sans" panose="020B0503050203000203" pitchFamily="34" charset="0"/>
              </a:rPr>
              <a:t>for</a:t>
            </a:r>
            <a:r>
              <a:rPr lang="de-DE" sz="1050" b="0" i="0" u="none" strike="noStrike" dirty="0">
                <a:solidFill>
                  <a:srgbClr val="374151"/>
                </a:solidFill>
                <a:effectLst/>
                <a:latin typeface="IBM Plex Sans" panose="020B0503050203000203" pitchFamily="34" charset="0"/>
              </a:rPr>
              <a:t> z/OS Engine zu beeinträchtigen.</a:t>
            </a:r>
          </a:p>
          <a:p>
            <a:pPr algn="just"/>
            <a:endParaRPr lang="de-DE" sz="1050" b="0" i="0" u="none" strike="noStrike" dirty="0">
              <a:solidFill>
                <a:srgbClr val="374151"/>
              </a:solidFill>
              <a:effectLst/>
              <a:latin typeface="IBM Plex Sans" panose="020B0503050203000203" pitchFamily="34" charset="0"/>
            </a:endParaRPr>
          </a:p>
          <a:p>
            <a:pPr algn="just"/>
            <a:r>
              <a:rPr lang="de-DE" sz="1050" b="0" i="0" u="none" strike="noStrike" dirty="0">
                <a:solidFill>
                  <a:srgbClr val="374151"/>
                </a:solidFill>
                <a:effectLst/>
                <a:latin typeface="IBM Plex Sans" panose="020B0503050203000203" pitchFamily="34" charset="0"/>
              </a:rPr>
              <a:t>Im Vergleich zu einer maßgeschneiderten oder selbstprogrammierten Lösung reduziert Db2 Data Gate die Kosten und die Komplexität Ihrer Anwendungsentwicklung.</a:t>
            </a:r>
          </a:p>
          <a:p>
            <a:pPr algn="just"/>
            <a:r>
              <a:rPr lang="de-DE" sz="1050" b="0" i="0" u="none" strike="noStrike" dirty="0">
                <a:solidFill>
                  <a:srgbClr val="374151"/>
                </a:solidFill>
                <a:effectLst/>
                <a:latin typeface="IBM Plex Sans" panose="020B0503050203000203" pitchFamily="34" charset="0"/>
              </a:rPr>
              <a:t>IBM Db2 Data Gate ermöglicht neue Anwendungen und Lösungen auf Ihren wertvollen, operativen Daten auszuführen, ohne die bestehende Infrastruktur zu belasten. Damit erhalten die Daten einen erhöhten Nutzen bei Reduzierung von Komplexität.</a:t>
            </a:r>
          </a:p>
          <a:p>
            <a:pPr algn="just"/>
            <a:endParaRPr lang="de-DE" sz="1050" b="0" i="0" u="none" strike="noStrike" dirty="0">
              <a:solidFill>
                <a:srgbClr val="374151"/>
              </a:solidFill>
              <a:effectLst/>
              <a:latin typeface="IBM Plex Sans" panose="020B0503050203000203" pitchFamily="34" charset="0"/>
            </a:endParaRPr>
          </a:p>
          <a:p>
            <a:pPr algn="just"/>
            <a:r>
              <a:rPr lang="de-DE" sz="1050" b="0" i="0" u="none" strike="noStrike" dirty="0">
                <a:solidFill>
                  <a:srgbClr val="374151"/>
                </a:solidFill>
                <a:effectLst/>
                <a:latin typeface="IBM Plex Sans" panose="020B0503050203000203" pitchFamily="34" charset="0"/>
              </a:rPr>
              <a:t>Nutzen Sie Ihr wichtigstes „Asset“ – Ihre Daten – um Mehrwerte für den Unternehmenserfolg zu schaffen.</a:t>
            </a:r>
          </a:p>
          <a:p>
            <a:pPr algn="just"/>
            <a:endParaRPr lang="de-DE" sz="1050" b="0" i="0" u="none" strike="noStrike" dirty="0">
              <a:solidFill>
                <a:srgbClr val="374151"/>
              </a:solidFill>
              <a:effectLst/>
              <a:latin typeface="IBM Plex Sans" panose="020B0503050203000203" pitchFamily="34" charset="0"/>
            </a:endParaRPr>
          </a:p>
          <a:p>
            <a:pPr algn="just"/>
            <a:r>
              <a:rPr lang="de-DE" sz="1050" b="0" i="0" u="none" strike="noStrike" dirty="0">
                <a:solidFill>
                  <a:srgbClr val="374151"/>
                </a:solidFill>
                <a:effectLst/>
                <a:latin typeface="IBM Plex Sans" panose="020B0503050203000203" pitchFamily="34" charset="0"/>
              </a:rPr>
              <a:t>Sollten Sie Fragen haben oder weitere Informationen benötigen, dann kommen Sie gerne auf uns zu.</a:t>
            </a:r>
          </a:p>
          <a:p>
            <a:pPr algn="just"/>
            <a:r>
              <a:rPr lang="de-DE" sz="1050" b="0" i="0" u="none" strike="noStrike" dirty="0">
                <a:solidFill>
                  <a:srgbClr val="374151"/>
                </a:solidFill>
                <a:effectLst/>
                <a:latin typeface="IBM Plex Sans" panose="020B0503050203000203" pitchFamily="34" charset="0"/>
              </a:rPr>
              <a:t>Christian Lenke:                clenke@de.ibm.com</a:t>
            </a:r>
          </a:p>
          <a:p>
            <a:pPr algn="just"/>
            <a:r>
              <a:rPr lang="de-DE" sz="1050" b="0" i="0" u="none" strike="noStrike" dirty="0">
                <a:solidFill>
                  <a:srgbClr val="374151"/>
                </a:solidFill>
                <a:effectLst/>
                <a:latin typeface="IBM Plex Sans" panose="020B0503050203000203" pitchFamily="34" charset="0"/>
              </a:rPr>
              <a:t>Markus Leber:                   Markus.Leber@de.ibm.com</a:t>
            </a:r>
            <a:endParaRPr lang="de-DE" sz="1050" dirty="0">
              <a:latin typeface="IBM Plex Sans" panose="020B0503050203000203" pitchFamily="34" charset="0"/>
            </a:endParaRPr>
          </a:p>
        </p:txBody>
      </p:sp>
      <p:sp>
        <p:nvSpPr>
          <p:cNvPr id="3" name="Textfeld 2">
            <a:extLst>
              <a:ext uri="{FF2B5EF4-FFF2-40B4-BE49-F238E27FC236}">
                <a16:creationId xmlns:a16="http://schemas.microsoft.com/office/drawing/2014/main" id="{E7FC637B-E3F0-74B4-07D0-32DA8828C4AC}"/>
              </a:ext>
            </a:extLst>
          </p:cNvPr>
          <p:cNvSpPr txBox="1"/>
          <p:nvPr/>
        </p:nvSpPr>
        <p:spPr>
          <a:xfrm>
            <a:off x="369105" y="3933690"/>
            <a:ext cx="4826477" cy="307777"/>
          </a:xfrm>
          <a:prstGeom prst="rect">
            <a:avLst/>
          </a:prstGeom>
          <a:noFill/>
        </p:spPr>
        <p:txBody>
          <a:bodyPr wrap="square" rtlCol="0">
            <a:spAutoFit/>
          </a:bodyPr>
          <a:lstStyle/>
          <a:p>
            <a:pPr fontAlgn="base"/>
            <a:r>
              <a:rPr lang="nn-NO" sz="1400" b="1" dirty="0">
                <a:latin typeface="IBM Plex Sans" panose="020B0503050203000203" pitchFamily="34" charset="0"/>
              </a:rPr>
              <a:t>Datenintegration mit IBM Db2 Data Gate</a:t>
            </a:r>
            <a:endParaRPr lang="en-US" sz="1400" b="1" dirty="0">
              <a:latin typeface="IBM Plex Sans" panose="020B0503050203000203" pitchFamily="34" charset="0"/>
            </a:endParaRPr>
          </a:p>
        </p:txBody>
      </p:sp>
      <p:sp>
        <p:nvSpPr>
          <p:cNvPr id="7" name="Oval 6">
            <a:extLst>
              <a:ext uri="{FF2B5EF4-FFF2-40B4-BE49-F238E27FC236}">
                <a16:creationId xmlns:a16="http://schemas.microsoft.com/office/drawing/2014/main" id="{4A4C7B22-2B9F-8CC8-662B-8EC76BFB7F06}"/>
              </a:ext>
            </a:extLst>
          </p:cNvPr>
          <p:cNvSpPr/>
          <p:nvPr/>
        </p:nvSpPr>
        <p:spPr>
          <a:xfrm>
            <a:off x="68405" y="3953467"/>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IBM Plex Sans" panose="020B0503050203000203" pitchFamily="34" charset="0"/>
              </a:rPr>
              <a:t>9</a:t>
            </a:r>
            <a:endParaRPr lang="de-DE" sz="1400" b="1" dirty="0">
              <a:solidFill>
                <a:schemeClr val="bg1"/>
              </a:solidFill>
              <a:latin typeface="IBM Plex Sans" panose="020B0503050203000203" pitchFamily="34" charset="0"/>
            </a:endParaRPr>
          </a:p>
        </p:txBody>
      </p:sp>
      <p:cxnSp>
        <p:nvCxnSpPr>
          <p:cNvPr id="9" name="Gerade Verbindung 19">
            <a:extLst>
              <a:ext uri="{FF2B5EF4-FFF2-40B4-BE49-F238E27FC236}">
                <a16:creationId xmlns:a16="http://schemas.microsoft.com/office/drawing/2014/main" id="{21EEC62C-0BEE-40D7-EE93-D6624D1FBB04}"/>
              </a:ext>
            </a:extLst>
          </p:cNvPr>
          <p:cNvCxnSpPr/>
          <p:nvPr/>
        </p:nvCxnSpPr>
        <p:spPr>
          <a:xfrm>
            <a:off x="-11764" y="3871481"/>
            <a:ext cx="7530892"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3B0D1FF2-71C2-60A6-1012-471393FAD63B}"/>
              </a:ext>
            </a:extLst>
          </p:cNvPr>
          <p:cNvSpPr/>
          <p:nvPr/>
        </p:nvSpPr>
        <p:spPr>
          <a:xfrm>
            <a:off x="45952" y="792500"/>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IBM Plex Sans" panose="020B0503050203000203" pitchFamily="34" charset="0"/>
              </a:rPr>
              <a:t>8</a:t>
            </a:r>
            <a:endParaRPr lang="de-DE" sz="1400" b="1" dirty="0">
              <a:solidFill>
                <a:schemeClr val="bg1"/>
              </a:solidFill>
              <a:latin typeface="IBM Plex Sans" panose="020B0503050203000203" pitchFamily="34" charset="0"/>
            </a:endParaRPr>
          </a:p>
        </p:txBody>
      </p:sp>
    </p:spTree>
    <p:extLst>
      <p:ext uri="{BB962C8B-B14F-4D97-AF65-F5344CB8AC3E}">
        <p14:creationId xmlns:p14="http://schemas.microsoft.com/office/powerpoint/2010/main" val="4171098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hteck 3">
            <a:extLst>
              <a:ext uri="{FF2B5EF4-FFF2-40B4-BE49-F238E27FC236}">
                <a16:creationId xmlns:a16="http://schemas.microsoft.com/office/drawing/2014/main" id="{3B8D06D0-D6E2-77BD-9D8B-784EB160DCB1}"/>
              </a:ext>
            </a:extLst>
          </p:cNvPr>
          <p:cNvSpPr/>
          <p:nvPr/>
        </p:nvSpPr>
        <p:spPr>
          <a:xfrm>
            <a:off x="-2830" y="10175607"/>
            <a:ext cx="7565335" cy="5989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tangle 6">
            <a:extLst>
              <a:ext uri="{FF2B5EF4-FFF2-40B4-BE49-F238E27FC236}">
                <a16:creationId xmlns:a16="http://schemas.microsoft.com/office/drawing/2014/main" id="{F88CE8D4-7DF2-4940-AF60-CD6D38F25814}"/>
              </a:ext>
            </a:extLst>
          </p:cNvPr>
          <p:cNvSpPr>
            <a:spLocks noChangeArrowheads="1"/>
          </p:cNvSpPr>
          <p:nvPr/>
        </p:nvSpPr>
        <p:spPr bwMode="black">
          <a:xfrm>
            <a:off x="65375" y="10475073"/>
            <a:ext cx="13716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t"/>
          <a:lstStyle>
            <a:lvl1pPr>
              <a:defRPr b="1">
                <a:solidFill>
                  <a:schemeClr val="tx1"/>
                </a:solidFill>
                <a:latin typeface="Arial" panose="020B0604020202020204" pitchFamily="34" charset="0"/>
                <a:ea typeface="MS PGothic" panose="020B0600070205080204" pitchFamily="34" charset="-128"/>
              </a:defRPr>
            </a:lvl1pPr>
            <a:lvl2pPr marL="742950" indent="-285750">
              <a:defRPr b="1">
                <a:solidFill>
                  <a:schemeClr val="tx1"/>
                </a:solidFill>
                <a:latin typeface="Arial" panose="020B0604020202020204" pitchFamily="34" charset="0"/>
                <a:ea typeface="MS PGothic" panose="020B0600070205080204" pitchFamily="34" charset="-128"/>
              </a:defRPr>
            </a:lvl2pPr>
            <a:lvl3pPr marL="1143000" indent="-228600">
              <a:defRPr b="1">
                <a:solidFill>
                  <a:schemeClr val="tx1"/>
                </a:solidFill>
                <a:latin typeface="Arial" panose="020B0604020202020204" pitchFamily="34" charset="0"/>
                <a:ea typeface="MS PGothic" panose="020B0600070205080204" pitchFamily="34" charset="-128"/>
              </a:defRPr>
            </a:lvl3pPr>
            <a:lvl4pPr marL="1600200" indent="-228600">
              <a:defRPr b="1">
                <a:solidFill>
                  <a:schemeClr val="tx1"/>
                </a:solidFill>
                <a:latin typeface="Arial" panose="020B0604020202020204" pitchFamily="34" charset="0"/>
                <a:ea typeface="MS PGothic" panose="020B0600070205080204" pitchFamily="34" charset="-128"/>
              </a:defRPr>
            </a:lvl4pPr>
            <a:lvl5pPr marL="2057400" indent="-228600">
              <a:defRPr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9pPr>
          </a:lstStyle>
          <a:p>
            <a:pPr>
              <a:defRPr/>
            </a:pPr>
            <a:r>
              <a:rPr lang="en-US" sz="800" b="0" dirty="0">
                <a:latin typeface="IBM Plex Sans"/>
                <a:ea typeface="MS PGothic"/>
              </a:rPr>
              <a:t>© 2026 IBM Corporation</a:t>
            </a:r>
          </a:p>
        </p:txBody>
      </p:sp>
      <p:sp>
        <p:nvSpPr>
          <p:cNvPr id="6" name="Rechteck 5">
            <a:extLst>
              <a:ext uri="{FF2B5EF4-FFF2-40B4-BE49-F238E27FC236}">
                <a16:creationId xmlns:a16="http://schemas.microsoft.com/office/drawing/2014/main" id="{FBB0517A-8B6D-394E-8E07-AD5825CE91B9}"/>
              </a:ext>
            </a:extLst>
          </p:cNvPr>
          <p:cNvSpPr/>
          <p:nvPr/>
        </p:nvSpPr>
        <p:spPr>
          <a:xfrm>
            <a:off x="-5676" y="0"/>
            <a:ext cx="7565335" cy="5989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4" name="Textfeld 13">
            <a:extLst>
              <a:ext uri="{FF2B5EF4-FFF2-40B4-BE49-F238E27FC236}">
                <a16:creationId xmlns:a16="http://schemas.microsoft.com/office/drawing/2014/main" id="{2BE17F19-F2DC-4C46-99CA-93538088980B}"/>
              </a:ext>
            </a:extLst>
          </p:cNvPr>
          <p:cNvSpPr txBox="1"/>
          <p:nvPr/>
        </p:nvSpPr>
        <p:spPr>
          <a:xfrm>
            <a:off x="3667001" y="10404617"/>
            <a:ext cx="257202" cy="253916"/>
          </a:xfrm>
          <a:prstGeom prst="rect">
            <a:avLst/>
          </a:prstGeom>
          <a:noFill/>
        </p:spPr>
        <p:txBody>
          <a:bodyPr wrap="square" rtlCol="0">
            <a:spAutoFit/>
          </a:bodyPr>
          <a:lstStyle/>
          <a:p>
            <a:r>
              <a:rPr lang="de-DE" sz="1050" dirty="0">
                <a:latin typeface="IBM Plex Sans" panose="020B0503050203000203" pitchFamily="34" charset="0"/>
              </a:rPr>
              <a:t>4</a:t>
            </a:r>
          </a:p>
        </p:txBody>
      </p:sp>
      <p:pic>
        <p:nvPicPr>
          <p:cNvPr id="4" name="Picture 46" descr="blue-tri-color-logo">
            <a:extLst>
              <a:ext uri="{FF2B5EF4-FFF2-40B4-BE49-F238E27FC236}">
                <a16:creationId xmlns:a16="http://schemas.microsoft.com/office/drawing/2014/main" id="{D7D6DE4C-CE7D-1C47-A95D-B5FA1EB1534F}"/>
              </a:ext>
            </a:extLst>
          </p:cNvPr>
          <p:cNvPicPr>
            <a:picLocks noChangeAspect="1" noChangeArrowheads="1"/>
          </p:cNvPicPr>
          <p:nvPr/>
        </p:nvPicPr>
        <p:blipFill>
          <a:blip r:embed="rId2" cstate="print"/>
          <a:srcRect/>
          <a:stretch>
            <a:fillRect/>
          </a:stretch>
        </p:blipFill>
        <p:spPr bwMode="auto">
          <a:xfrm>
            <a:off x="6544192" y="144431"/>
            <a:ext cx="751185" cy="304253"/>
          </a:xfrm>
          <a:prstGeom prst="rect">
            <a:avLst/>
          </a:prstGeom>
          <a:noFill/>
          <a:ln w="9525">
            <a:noFill/>
            <a:miter lim="800000"/>
            <a:headEnd/>
            <a:tailEnd/>
          </a:ln>
        </p:spPr>
      </p:pic>
      <p:pic>
        <p:nvPicPr>
          <p:cNvPr id="30" name="Picture 46" descr="blue-tri-color-logo">
            <a:extLst>
              <a:ext uri="{FF2B5EF4-FFF2-40B4-BE49-F238E27FC236}">
                <a16:creationId xmlns:a16="http://schemas.microsoft.com/office/drawing/2014/main" id="{9046AB2D-C36B-FD75-BF5B-87169C31915C}"/>
              </a:ext>
            </a:extLst>
          </p:cNvPr>
          <p:cNvPicPr>
            <a:picLocks noChangeAspect="1" noChangeArrowheads="1"/>
          </p:cNvPicPr>
          <p:nvPr/>
        </p:nvPicPr>
        <p:blipFill>
          <a:blip r:embed="rId2" cstate="print"/>
          <a:srcRect/>
          <a:stretch>
            <a:fillRect/>
          </a:stretch>
        </p:blipFill>
        <p:spPr bwMode="auto">
          <a:xfrm>
            <a:off x="6708673" y="10338928"/>
            <a:ext cx="751185" cy="304253"/>
          </a:xfrm>
          <a:prstGeom prst="rect">
            <a:avLst/>
          </a:prstGeom>
          <a:noFill/>
          <a:ln w="9525">
            <a:noFill/>
            <a:miter lim="800000"/>
            <a:headEnd/>
            <a:tailEnd/>
          </a:ln>
        </p:spPr>
      </p:pic>
      <p:sp>
        <p:nvSpPr>
          <p:cNvPr id="22" name="Textfeld 21">
            <a:extLst>
              <a:ext uri="{FF2B5EF4-FFF2-40B4-BE49-F238E27FC236}">
                <a16:creationId xmlns:a16="http://schemas.microsoft.com/office/drawing/2014/main" id="{A2BFD222-6271-97AE-3CD8-67D421D0F86E}"/>
              </a:ext>
            </a:extLst>
          </p:cNvPr>
          <p:cNvSpPr txBox="1"/>
          <p:nvPr/>
        </p:nvSpPr>
        <p:spPr>
          <a:xfrm>
            <a:off x="402661" y="856198"/>
            <a:ext cx="4826477" cy="307777"/>
          </a:xfrm>
          <a:prstGeom prst="rect">
            <a:avLst/>
          </a:prstGeom>
          <a:noFill/>
        </p:spPr>
        <p:txBody>
          <a:bodyPr wrap="square" rtlCol="0">
            <a:spAutoFit/>
          </a:bodyPr>
          <a:lstStyle/>
          <a:p>
            <a:pPr fontAlgn="base"/>
            <a:r>
              <a:rPr lang="en-US" sz="1400" b="1" dirty="0">
                <a:latin typeface="IBM Plex Sans" panose="020B0503050203000203" pitchFamily="34" charset="0"/>
              </a:rPr>
              <a:t>IBM </a:t>
            </a:r>
            <a:r>
              <a:rPr lang="en-US" sz="1400" b="1" dirty="0" err="1">
                <a:latin typeface="IBM Plex Sans" panose="020B0503050203000203" pitchFamily="34" charset="0"/>
              </a:rPr>
              <a:t>zDIH</a:t>
            </a:r>
            <a:r>
              <a:rPr lang="en-US" sz="1400" b="1" dirty="0">
                <a:latin typeface="IBM Plex Sans" panose="020B0503050203000203" pitchFamily="34" charset="0"/>
              </a:rPr>
              <a:t> Brings Z to the Edge </a:t>
            </a:r>
            <a:endParaRPr lang="de-DE" sz="1400" b="1" dirty="0">
              <a:latin typeface="IBM Plex Sans" panose="020B0503050203000203" pitchFamily="34" charset="0"/>
            </a:endParaRPr>
          </a:p>
        </p:txBody>
      </p:sp>
      <p:sp>
        <p:nvSpPr>
          <p:cNvPr id="24" name="Textfeld 11">
            <a:extLst>
              <a:ext uri="{FF2B5EF4-FFF2-40B4-BE49-F238E27FC236}">
                <a16:creationId xmlns:a16="http://schemas.microsoft.com/office/drawing/2014/main" id="{6B9657C7-DC03-1DBE-0DE5-91C4FC3F673C}"/>
              </a:ext>
            </a:extLst>
          </p:cNvPr>
          <p:cNvSpPr txBox="1"/>
          <p:nvPr/>
        </p:nvSpPr>
        <p:spPr>
          <a:xfrm>
            <a:off x="113869" y="1285986"/>
            <a:ext cx="7164730" cy="2677656"/>
          </a:xfrm>
          <a:prstGeom prst="rect">
            <a:avLst/>
          </a:prstGeom>
          <a:noFill/>
        </p:spPr>
        <p:txBody>
          <a:bodyPr wrap="square" rtlCol="0">
            <a:spAutoFit/>
          </a:bodyPr>
          <a:lstStyle/>
          <a:p>
            <a:pPr algn="just"/>
            <a:r>
              <a:rPr lang="de-DE" sz="1050" b="0" i="0" dirty="0">
                <a:solidFill>
                  <a:srgbClr val="323232"/>
                </a:solidFill>
                <a:effectLst/>
                <a:latin typeface="IBM Plex Sans" panose="020B0503050203000203" pitchFamily="34" charset="0"/>
              </a:rPr>
              <a:t>Das IBM </a:t>
            </a:r>
            <a:r>
              <a:rPr lang="de-DE" sz="1050" b="0" i="0" dirty="0" err="1">
                <a:solidFill>
                  <a:srgbClr val="323232"/>
                </a:solidFill>
                <a:effectLst/>
                <a:latin typeface="IBM Plex Sans" panose="020B0503050203000203" pitchFamily="34" charset="0"/>
              </a:rPr>
              <a:t>zDigital</a:t>
            </a:r>
            <a:r>
              <a:rPr lang="de-DE" sz="1050" b="0" i="0" dirty="0">
                <a:solidFill>
                  <a:srgbClr val="323232"/>
                </a:solidFill>
                <a:effectLst/>
                <a:latin typeface="IBM Plex Sans" panose="020B0503050203000203" pitchFamily="34" charset="0"/>
              </a:rPr>
              <a:t> Integration Hub (</a:t>
            </a:r>
            <a:r>
              <a:rPr lang="de-DE" sz="1050" b="0" i="0" dirty="0" err="1">
                <a:solidFill>
                  <a:srgbClr val="323232"/>
                </a:solidFill>
                <a:effectLst/>
                <a:latin typeface="IBM Plex Sans" panose="020B0503050203000203" pitchFamily="34" charset="0"/>
              </a:rPr>
              <a:t>zDIH</a:t>
            </a:r>
            <a:r>
              <a:rPr lang="de-DE" sz="1050" b="0" i="0" dirty="0">
                <a:solidFill>
                  <a:srgbClr val="323232"/>
                </a:solidFill>
                <a:effectLst/>
                <a:latin typeface="IBM Plex Sans" panose="020B0503050203000203" pitchFamily="34" charset="0"/>
              </a:rPr>
              <a:t>) wurde im Mai dieses Jahres allgemein verfügbar, um Kunden dabei zu unterstützen, Echtzeitinformationen mit ihren hybriden Cloud-Anwendungen und digitalen Kanälen zu teilen. </a:t>
            </a:r>
          </a:p>
          <a:p>
            <a:pPr algn="just"/>
            <a:endParaRPr lang="de-DE" sz="1050" dirty="0">
              <a:solidFill>
                <a:srgbClr val="323232"/>
              </a:solidFill>
              <a:latin typeface="IBM Plex Sans" panose="020B0503050203000203" pitchFamily="34" charset="0"/>
            </a:endParaRPr>
          </a:p>
          <a:p>
            <a:pPr algn="just"/>
            <a:r>
              <a:rPr lang="de-DE" sz="1050" b="0" i="0" dirty="0" err="1">
                <a:solidFill>
                  <a:srgbClr val="323232"/>
                </a:solidFill>
                <a:effectLst/>
                <a:latin typeface="IBM Plex Sans" panose="020B0503050203000203" pitchFamily="34" charset="0"/>
              </a:rPr>
              <a:t>zDIH</a:t>
            </a:r>
            <a:r>
              <a:rPr lang="de-DE" sz="1050" b="0" i="0" dirty="0">
                <a:solidFill>
                  <a:srgbClr val="323232"/>
                </a:solidFill>
                <a:effectLst/>
                <a:latin typeface="IBM Plex Sans" panose="020B0503050203000203" pitchFamily="34" charset="0"/>
              </a:rPr>
              <a:t> ermöglicht es Kunden, Anfrageverkehr vom Aktualisierungsverkehr zu trennen, indem der Anfrageverkehr in hoher Leistungsfähigkeit über einen In-Memory-Datenspeicher parallel zum SOR auf z/OS verarbeitet wird, wodurch der SOR vor der Verarbeitung des Anfrageverkehrs geschützt wird. </a:t>
            </a:r>
          </a:p>
          <a:p>
            <a:pPr algn="just"/>
            <a:endParaRPr lang="de-DE" sz="1050" dirty="0">
              <a:solidFill>
                <a:srgbClr val="323232"/>
              </a:solidFill>
              <a:latin typeface="IBM Plex Sans" panose="020B0503050203000203" pitchFamily="34" charset="0"/>
            </a:endParaRPr>
          </a:p>
          <a:p>
            <a:pPr algn="just"/>
            <a:r>
              <a:rPr lang="de-DE" sz="1050" b="0" i="0" dirty="0" err="1">
                <a:solidFill>
                  <a:srgbClr val="323232"/>
                </a:solidFill>
                <a:effectLst/>
                <a:latin typeface="IBM Plex Sans" panose="020B0503050203000203" pitchFamily="34" charset="0"/>
              </a:rPr>
              <a:t>zDIH</a:t>
            </a:r>
            <a:r>
              <a:rPr lang="de-DE" sz="1050" b="0" i="0" dirty="0">
                <a:solidFill>
                  <a:srgbClr val="323232"/>
                </a:solidFill>
                <a:effectLst/>
                <a:latin typeface="IBM Plex Sans" panose="020B0503050203000203" pitchFamily="34" charset="0"/>
              </a:rPr>
              <a:t> unterstützt auch gängige Schnittstellen wie SQL, REST-API und ereignisbasierte Transaktionen, die das Teilen von Informationen mit auf Kafka basierenden Anwendungen ermöglichen. </a:t>
            </a:r>
            <a:r>
              <a:rPr lang="de-DE" sz="1050" b="0" i="0" dirty="0" err="1">
                <a:solidFill>
                  <a:srgbClr val="323232"/>
                </a:solidFill>
                <a:effectLst/>
                <a:latin typeface="IBM Plex Sans" panose="020B0503050203000203" pitchFamily="34" charset="0"/>
              </a:rPr>
              <a:t>zDIH</a:t>
            </a:r>
            <a:r>
              <a:rPr lang="de-DE" sz="1050" b="0" i="0" dirty="0">
                <a:solidFill>
                  <a:srgbClr val="323232"/>
                </a:solidFill>
                <a:effectLst/>
                <a:latin typeface="IBM Plex Sans" panose="020B0503050203000203" pitchFamily="34" charset="0"/>
              </a:rPr>
              <a:t> ist hoch </a:t>
            </a:r>
            <a:r>
              <a:rPr lang="de-DE" sz="1050" b="0" i="0" dirty="0" err="1">
                <a:solidFill>
                  <a:srgbClr val="323232"/>
                </a:solidFill>
                <a:effectLst/>
                <a:latin typeface="IBM Plex Sans" panose="020B0503050203000203" pitchFamily="34" charset="0"/>
              </a:rPr>
              <a:t>zIIP</a:t>
            </a:r>
            <a:r>
              <a:rPr lang="de-DE" sz="1050" b="0" i="0" dirty="0">
                <a:solidFill>
                  <a:srgbClr val="323232"/>
                </a:solidFill>
                <a:effectLst/>
                <a:latin typeface="IBM Plex Sans" panose="020B0503050203000203" pitchFamily="34" charset="0"/>
              </a:rPr>
              <a:t>-qualifiziert, was die Bedenken Ihrer Kunden hinsichtlich steigender MLC-Kosten zur Unterstützung von Echtzeitinformationen von IBM Z außerhalb der Plattform mindert. </a:t>
            </a:r>
          </a:p>
          <a:p>
            <a:pPr algn="just"/>
            <a:endParaRPr lang="de-DE" sz="1050" dirty="0">
              <a:solidFill>
                <a:srgbClr val="323232"/>
              </a:solidFill>
              <a:latin typeface="IBM Plex Sans" panose="020B0503050203000203" pitchFamily="34" charset="0"/>
            </a:endParaRPr>
          </a:p>
          <a:p>
            <a:pPr algn="just"/>
            <a:r>
              <a:rPr lang="de-DE" sz="1050" b="0" i="0" dirty="0">
                <a:solidFill>
                  <a:srgbClr val="323232"/>
                </a:solidFill>
                <a:effectLst/>
                <a:latin typeface="IBM Plex Sans" panose="020B0503050203000203" pitchFamily="34" charset="0"/>
              </a:rPr>
              <a:t>Darüber hinaus ermöglicht eine kürzliche Preisanpassung eine größere Flexibilität bei der Berücksichtigung einzelner Geschäftsbereiche, die Rechenressourcen in einer deutlich größeren Umgebung teilen.</a:t>
            </a:r>
          </a:p>
          <a:p>
            <a:pPr algn="just"/>
            <a:endParaRPr lang="de-DE" sz="1050" b="0" i="0" dirty="0">
              <a:solidFill>
                <a:srgbClr val="323232"/>
              </a:solidFill>
              <a:effectLst/>
              <a:latin typeface="IBM Plex Sans" panose="020B0503050203000203" pitchFamily="34" charset="0"/>
            </a:endParaRPr>
          </a:p>
          <a:p>
            <a:pPr algn="just"/>
            <a:r>
              <a:rPr lang="de-DE" sz="1050" dirty="0">
                <a:solidFill>
                  <a:srgbClr val="323232"/>
                </a:solidFill>
                <a:latin typeface="IBM Plex Sans" panose="020B0503050203000203" pitchFamily="34" charset="0"/>
              </a:rPr>
              <a:t>Mehr Informationen finden sich </a:t>
            </a:r>
            <a:r>
              <a:rPr lang="de-DE" sz="1050" dirty="0">
                <a:solidFill>
                  <a:srgbClr val="323232"/>
                </a:solidFill>
                <a:latin typeface="IBM Plex Sans" panose="020B0503050203000203" pitchFamily="34" charset="0"/>
                <a:hlinkClick r:id="rId3"/>
              </a:rPr>
              <a:t>hier.</a:t>
            </a:r>
            <a:endParaRPr lang="de-DE" sz="1050" dirty="0">
              <a:solidFill>
                <a:srgbClr val="323232"/>
              </a:solidFill>
              <a:latin typeface="IBM Plex Sans" panose="020B0503050203000203" pitchFamily="34" charset="0"/>
            </a:endParaRPr>
          </a:p>
        </p:txBody>
      </p:sp>
      <p:sp>
        <p:nvSpPr>
          <p:cNvPr id="2" name="Textfeld 1">
            <a:extLst>
              <a:ext uri="{FF2B5EF4-FFF2-40B4-BE49-F238E27FC236}">
                <a16:creationId xmlns:a16="http://schemas.microsoft.com/office/drawing/2014/main" id="{B452891B-5BAD-51A8-7779-D2C5F369C5C9}"/>
              </a:ext>
            </a:extLst>
          </p:cNvPr>
          <p:cNvSpPr txBox="1"/>
          <p:nvPr/>
        </p:nvSpPr>
        <p:spPr>
          <a:xfrm>
            <a:off x="42939" y="4641328"/>
            <a:ext cx="7152830" cy="4455066"/>
          </a:xfrm>
          <a:prstGeom prst="rect">
            <a:avLst/>
          </a:prstGeom>
          <a:noFill/>
        </p:spPr>
        <p:txBody>
          <a:bodyPr wrap="square" rtlCol="0">
            <a:spAutoFit/>
          </a:bodyPr>
          <a:lstStyle/>
          <a:p>
            <a:r>
              <a:rPr lang="de-DE" sz="1050" b="0" i="0" u="none" strike="noStrike" dirty="0">
                <a:solidFill>
                  <a:srgbClr val="374151"/>
                </a:solidFill>
                <a:effectLst/>
                <a:latin typeface="IBM Plex Sans" panose="020B0503050203000203" pitchFamily="34" charset="0"/>
              </a:rPr>
              <a:t>In unserem </a:t>
            </a:r>
            <a:r>
              <a:rPr lang="de-DE" sz="1050" b="0" i="0" u="none" strike="noStrike" dirty="0">
                <a:solidFill>
                  <a:srgbClr val="374151"/>
                </a:solidFill>
                <a:effectLst/>
                <a:latin typeface="IBM Plex Sans" panose="020B0503050203000203" pitchFamily="34" charset="0"/>
                <a:hlinkClick r:id="rId4"/>
              </a:rPr>
              <a:t>Ausblick </a:t>
            </a:r>
            <a:r>
              <a:rPr lang="de-DE" sz="1050" b="0" i="0" u="none" strike="noStrike" dirty="0">
                <a:solidFill>
                  <a:srgbClr val="374151"/>
                </a:solidFill>
                <a:effectLst/>
                <a:latin typeface="IBM Plex Sans" panose="020B0503050203000203" pitchFamily="34" charset="0"/>
              </a:rPr>
              <a:t>kündigen wir unsere Absicht an, folgendes bereitzustellen:</a:t>
            </a:r>
            <a:br>
              <a:rPr lang="de-DE" sz="1050" b="0" i="0" u="none" strike="noStrike" dirty="0">
                <a:solidFill>
                  <a:srgbClr val="374151"/>
                </a:solidFill>
                <a:effectLst/>
                <a:latin typeface="IBM Plex Sans" panose="020B0503050203000203" pitchFamily="34" charset="0"/>
              </a:rPr>
            </a:br>
            <a:endParaRPr lang="de-DE" sz="1050" b="0" i="0" u="none" strike="noStrike" dirty="0">
              <a:solidFill>
                <a:srgbClr val="374151"/>
              </a:solidFill>
              <a:effectLst/>
              <a:latin typeface="IBM Plex Sans" panose="020B0503050203000203" pitchFamily="34" charset="0"/>
            </a:endParaRPr>
          </a:p>
          <a:p>
            <a:pPr marL="228600" indent="-228600" algn="just">
              <a:buFont typeface="+mj-lt"/>
              <a:buAutoNum type="arabicPeriod"/>
            </a:pPr>
            <a:r>
              <a:rPr lang="de-DE" sz="1050" b="0" i="0" u="none" strike="noStrike" dirty="0">
                <a:solidFill>
                  <a:srgbClr val="374151"/>
                </a:solidFill>
                <a:effectLst/>
                <a:latin typeface="IBM Plex Sans" panose="020B0503050203000203" pitchFamily="34" charset="0"/>
              </a:rPr>
              <a:t>Eine Softwarelösung, die die Erkennung und Benachrichtigung von Cyber-Anomalien für die z/OS®-Plattform einführt, um das potenzielle Risiko von bösartiger Software zu mindern. Diese Lösung bietet auch die Option zur Quarantäne-Funktionalität, um bestehende Maßnahmen zur Fehlerbehebung zu erweitern. Die Absicht hinter diesen kombinierten Funktionen, gemäß den Richtlinien des NIST (National Institute </a:t>
            </a:r>
            <a:r>
              <a:rPr lang="de-DE" sz="1050" b="0" i="0" u="none" strike="noStrike" dirty="0" err="1">
                <a:solidFill>
                  <a:srgbClr val="374151"/>
                </a:solidFill>
                <a:effectLst/>
                <a:latin typeface="IBM Plex Sans" panose="020B0503050203000203" pitchFamily="34" charset="0"/>
              </a:rPr>
              <a:t>of</a:t>
            </a:r>
            <a:r>
              <a:rPr lang="de-DE" sz="1050" b="0" i="0" u="none" strike="noStrike" dirty="0">
                <a:solidFill>
                  <a:srgbClr val="374151"/>
                </a:solidFill>
                <a:effectLst/>
                <a:latin typeface="IBM Plex Sans" panose="020B0503050203000203" pitchFamily="34" charset="0"/>
              </a:rPr>
              <a:t> Standards and Technology), ist es, dass Kunden damit die Anforderungen zur Einhaltung von Vorschriften erfüllen können, die eine Anti-Malware-Abdeckung für z/OS vorschreiben. Dies schließt Standards wie den Payment Card Industry Data Security Standard (PCI DSS) Version 4.0 mit ein.</a:t>
            </a:r>
          </a:p>
          <a:p>
            <a:pPr marL="228600" indent="-228600" algn="just">
              <a:buFont typeface="+mj-lt"/>
              <a:buAutoNum type="arabicPeriod"/>
            </a:pPr>
            <a:endParaRPr lang="de-DE" sz="1050" b="0" i="0" u="none" strike="noStrike" dirty="0">
              <a:solidFill>
                <a:srgbClr val="374151"/>
              </a:solidFill>
              <a:effectLst/>
              <a:latin typeface="IBM Plex Sans" panose="020B0503050203000203" pitchFamily="34" charset="0"/>
            </a:endParaRPr>
          </a:p>
          <a:p>
            <a:pPr marL="228600" indent="-228600" algn="just">
              <a:buFont typeface="+mj-lt"/>
              <a:buAutoNum type="arabicPeriod"/>
            </a:pPr>
            <a:r>
              <a:rPr lang="de-DE" sz="1050" b="0" i="0" u="none" strike="noStrike" dirty="0">
                <a:solidFill>
                  <a:srgbClr val="374151"/>
                </a:solidFill>
                <a:effectLst/>
                <a:latin typeface="IBM Plex Sans" panose="020B0503050203000203" pitchFamily="34" charset="0"/>
              </a:rPr>
              <a:t>Die Erweiterung des IBM z/OS </a:t>
            </a:r>
            <a:r>
              <a:rPr lang="de-DE" sz="1050" b="0" i="0" u="none" strike="noStrike" dirty="0" err="1">
                <a:solidFill>
                  <a:srgbClr val="374151"/>
                </a:solidFill>
                <a:effectLst/>
                <a:latin typeface="IBM Plex Sans" panose="020B0503050203000203" pitchFamily="34" charset="0"/>
              </a:rPr>
              <a:t>Authorized</a:t>
            </a:r>
            <a:r>
              <a:rPr lang="de-DE" sz="1050" b="0" i="0" u="none" strike="noStrike" dirty="0">
                <a:solidFill>
                  <a:srgbClr val="374151"/>
                </a:solidFill>
                <a:effectLst/>
                <a:latin typeface="IBM Plex Sans" panose="020B0503050203000203" pitchFamily="34" charset="0"/>
              </a:rPr>
              <a:t> Code Scanner, um die statische Prüfung von autorisiertem Code zu ermöglichen. Dies ergänzt die bereits bestehende dynamische Prüfung für Entwicklungs- und Testumgebungen sowie den autorisierten Code-Monitor für Produktionssysteme.</a:t>
            </a:r>
          </a:p>
          <a:p>
            <a:pPr marL="228600" indent="-228600" algn="just">
              <a:buFont typeface="+mj-lt"/>
              <a:buAutoNum type="arabicPeriod"/>
            </a:pPr>
            <a:endParaRPr lang="de-DE" sz="1050" b="0" i="0" u="none" strike="noStrike" dirty="0">
              <a:solidFill>
                <a:srgbClr val="374151"/>
              </a:solidFill>
              <a:effectLst/>
              <a:latin typeface="IBM Plex Sans" panose="020B0503050203000203" pitchFamily="34" charset="0"/>
            </a:endParaRPr>
          </a:p>
          <a:p>
            <a:pPr marL="228600" indent="-228600" algn="just">
              <a:buFont typeface="+mj-lt"/>
              <a:buAutoNum type="arabicPeriod"/>
            </a:pPr>
            <a:r>
              <a:rPr lang="de-DE" sz="1050" b="0" i="0" u="none" strike="noStrike" dirty="0">
                <a:solidFill>
                  <a:srgbClr val="374151"/>
                </a:solidFill>
                <a:effectLst/>
                <a:latin typeface="IBM Plex Sans" panose="020B0503050203000203" pitchFamily="34" charset="0"/>
              </a:rPr>
              <a:t>Eine Softwarelösung, die die Verschlüsselung von z/OS-Datensätzen vereinfacht. Sie ermöglicht die Verschlüsselung und erneute Verschlüsselung von Daten im großen Maßstab, sowohl für die Schlüsselrotation als auch für die anfängliche Verschlüsselung. Zudem werden Analysetechnologien genutzt, um die Ausfallzeiten von Anwendungen zu minimieren. Dies ist darauf ausgelegt, die Einhaltung erweiterter Vorschriften, wie PCI DSS Version 4.0, zu erleichtern.</a:t>
            </a:r>
          </a:p>
          <a:p>
            <a:pPr marL="228600" indent="-228600" algn="just">
              <a:buFont typeface="+mj-lt"/>
              <a:buAutoNum type="arabicPeriod"/>
            </a:pPr>
            <a:endParaRPr lang="de-DE" sz="1050" b="0" i="0" u="none" strike="noStrike" dirty="0">
              <a:solidFill>
                <a:srgbClr val="374151"/>
              </a:solidFill>
              <a:effectLst/>
              <a:latin typeface="IBM Plex Sans" panose="020B0503050203000203" pitchFamily="34" charset="0"/>
            </a:endParaRPr>
          </a:p>
          <a:p>
            <a:pPr marL="228600" indent="-228600" algn="just">
              <a:buFont typeface="+mj-lt"/>
              <a:buAutoNum type="arabicPeriod"/>
            </a:pPr>
            <a:r>
              <a:rPr lang="de-DE" sz="1050" b="0" i="0" u="none" strike="noStrike" dirty="0">
                <a:solidFill>
                  <a:srgbClr val="374151"/>
                </a:solidFill>
                <a:effectLst/>
                <a:latin typeface="IBM Plex Sans" panose="020B0503050203000203" pitchFamily="34" charset="0"/>
              </a:rPr>
              <a:t>Erfahren Sie mehr über IBM Z Alerts mit Ihrem SIEM (Security Information and Event Management).</a:t>
            </a:r>
          </a:p>
          <a:p>
            <a:pPr marL="228600" indent="-228600" algn="just">
              <a:buFont typeface="+mj-lt"/>
              <a:buAutoNum type="arabicPeriod"/>
            </a:pPr>
            <a:endParaRPr lang="de-DE" sz="1050" b="0" i="0" u="none" strike="noStrike" dirty="0">
              <a:solidFill>
                <a:srgbClr val="374151"/>
              </a:solidFill>
              <a:effectLst/>
              <a:latin typeface="IBM Plex Sans" panose="020B0503050203000203" pitchFamily="34" charset="0"/>
            </a:endParaRPr>
          </a:p>
          <a:p>
            <a:pPr marL="228600" indent="-228600" algn="just">
              <a:buFont typeface="+mj-lt"/>
              <a:buAutoNum type="arabicPeriod"/>
            </a:pPr>
            <a:r>
              <a:rPr lang="de-DE" sz="1050" b="0" i="0" u="none" strike="noStrike" dirty="0">
                <a:solidFill>
                  <a:srgbClr val="374151"/>
                </a:solidFill>
                <a:effectLst/>
                <a:latin typeface="IBM Plex Sans" panose="020B0503050203000203" pitchFamily="34" charset="0"/>
              </a:rPr>
              <a:t>Die </a:t>
            </a:r>
            <a:r>
              <a:rPr lang="de-DE" sz="1050" b="0" i="0" u="none" strike="noStrike" dirty="0" err="1">
                <a:solidFill>
                  <a:srgbClr val="374151"/>
                </a:solidFill>
                <a:effectLst/>
                <a:latin typeface="IBM Plex Sans" panose="020B0503050203000203" pitchFamily="34" charset="0"/>
              </a:rPr>
              <a:t>zSecure</a:t>
            </a:r>
            <a:r>
              <a:rPr lang="de-DE" sz="1050" b="0" i="0" u="none" strike="noStrike" dirty="0">
                <a:solidFill>
                  <a:srgbClr val="374151"/>
                </a:solidFill>
                <a:effectLst/>
                <a:latin typeface="IBM Plex Sans" panose="020B0503050203000203" pitchFamily="34" charset="0"/>
              </a:rPr>
              <a:t> Audit- und Alert-Lösung ist darauf ausgerichtet, Sicherheitspersonal dabei zu unterstützen, automatisch angereicherte SMF-Datensätze zu sammeln, zu formatieren und an ein SIEM-System zu senden.</a:t>
            </a:r>
          </a:p>
          <a:p>
            <a:pPr marL="228600" indent="-228600" algn="just">
              <a:buFont typeface="+mj-lt"/>
              <a:buAutoNum type="arabicPeriod"/>
            </a:pPr>
            <a:endParaRPr lang="de-DE" sz="1050" dirty="0">
              <a:solidFill>
                <a:srgbClr val="374151"/>
              </a:solidFill>
              <a:latin typeface="IBM Plex Sans" panose="020B0503050203000203" pitchFamily="34" charset="0"/>
            </a:endParaRPr>
          </a:p>
          <a:p>
            <a:pPr algn="just"/>
            <a:r>
              <a:rPr lang="de-DE" sz="1050" b="0" i="0" u="none" strike="noStrike" dirty="0">
                <a:solidFill>
                  <a:srgbClr val="374151"/>
                </a:solidFill>
                <a:effectLst/>
                <a:latin typeface="IBM Plex Sans" panose="020B0503050203000203" pitchFamily="34" charset="0"/>
              </a:rPr>
              <a:t> Weitere Informationen zur Schulung am 16. November finden Sie </a:t>
            </a:r>
            <a:r>
              <a:rPr lang="de-DE" sz="1050" b="0" i="0" u="none" strike="noStrike" dirty="0">
                <a:solidFill>
                  <a:srgbClr val="374151"/>
                </a:solidFill>
                <a:effectLst/>
                <a:latin typeface="IBM Plex Sans" panose="020B0503050203000203" pitchFamily="34" charset="0"/>
                <a:hlinkClick r:id="rId5"/>
              </a:rPr>
              <a:t>hier &gt;&gt;&gt;</a:t>
            </a:r>
            <a:endParaRPr lang="de-DE" sz="1050" b="0" i="0" u="none" strike="noStrike" dirty="0">
              <a:solidFill>
                <a:srgbClr val="374151"/>
              </a:solidFill>
              <a:effectLst/>
              <a:latin typeface="IBM Plex Sans" panose="020B0503050203000203" pitchFamily="34" charset="0"/>
            </a:endParaRPr>
          </a:p>
          <a:p>
            <a:endParaRPr lang="de-DE" sz="1050" dirty="0">
              <a:latin typeface="IBM Plex Sans" panose="020B0503050203000203" pitchFamily="34" charset="0"/>
            </a:endParaRPr>
          </a:p>
        </p:txBody>
      </p:sp>
      <p:sp>
        <p:nvSpPr>
          <p:cNvPr id="3" name="Textfeld 2">
            <a:extLst>
              <a:ext uri="{FF2B5EF4-FFF2-40B4-BE49-F238E27FC236}">
                <a16:creationId xmlns:a16="http://schemas.microsoft.com/office/drawing/2014/main" id="{E7FC637B-E3F0-74B4-07D0-32DA8828C4AC}"/>
              </a:ext>
            </a:extLst>
          </p:cNvPr>
          <p:cNvSpPr txBox="1"/>
          <p:nvPr/>
        </p:nvSpPr>
        <p:spPr>
          <a:xfrm>
            <a:off x="369105" y="4277639"/>
            <a:ext cx="4826477" cy="307777"/>
          </a:xfrm>
          <a:prstGeom prst="rect">
            <a:avLst/>
          </a:prstGeom>
          <a:noFill/>
        </p:spPr>
        <p:txBody>
          <a:bodyPr wrap="square" rtlCol="0">
            <a:spAutoFit/>
          </a:bodyPr>
          <a:lstStyle/>
          <a:p>
            <a:pPr fontAlgn="base"/>
            <a:r>
              <a:rPr lang="en-US" sz="1400" b="1" dirty="0">
                <a:latin typeface="IBM Plex Sans" panose="020B0503050203000203" pitchFamily="34" charset="0"/>
              </a:rPr>
              <a:t> Intent to deliver anti-malware for IBM z/OS</a:t>
            </a:r>
          </a:p>
        </p:txBody>
      </p:sp>
      <p:sp>
        <p:nvSpPr>
          <p:cNvPr id="7" name="Oval 6">
            <a:extLst>
              <a:ext uri="{FF2B5EF4-FFF2-40B4-BE49-F238E27FC236}">
                <a16:creationId xmlns:a16="http://schemas.microsoft.com/office/drawing/2014/main" id="{4A4C7B22-2B9F-8CC8-662B-8EC76BFB7F06}"/>
              </a:ext>
            </a:extLst>
          </p:cNvPr>
          <p:cNvSpPr/>
          <p:nvPr/>
        </p:nvSpPr>
        <p:spPr>
          <a:xfrm>
            <a:off x="43005" y="4297416"/>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GB" sz="1400" b="1" dirty="0">
                <a:solidFill>
                  <a:schemeClr val="bg1"/>
                </a:solidFill>
                <a:latin typeface="IBM Plex Sans" panose="020B0503050203000203" pitchFamily="34" charset="0"/>
              </a:rPr>
              <a:t>11</a:t>
            </a:r>
            <a:endParaRPr lang="de-DE" sz="1400" b="1" dirty="0">
              <a:solidFill>
                <a:schemeClr val="bg1"/>
              </a:solidFill>
              <a:latin typeface="IBM Plex Sans" panose="020B0503050203000203" pitchFamily="34" charset="0"/>
            </a:endParaRPr>
          </a:p>
        </p:txBody>
      </p:sp>
      <p:cxnSp>
        <p:nvCxnSpPr>
          <p:cNvPr id="9" name="Gerade Verbindung 19">
            <a:extLst>
              <a:ext uri="{FF2B5EF4-FFF2-40B4-BE49-F238E27FC236}">
                <a16:creationId xmlns:a16="http://schemas.microsoft.com/office/drawing/2014/main" id="{21EEC62C-0BEE-40D7-EE93-D6624D1FBB04}"/>
              </a:ext>
            </a:extLst>
          </p:cNvPr>
          <p:cNvCxnSpPr/>
          <p:nvPr/>
        </p:nvCxnSpPr>
        <p:spPr>
          <a:xfrm>
            <a:off x="-11764" y="4114762"/>
            <a:ext cx="7530892" cy="0"/>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Grafik 5">
            <a:extLst>
              <a:ext uri="{FF2B5EF4-FFF2-40B4-BE49-F238E27FC236}">
                <a16:creationId xmlns:a16="http://schemas.microsoft.com/office/drawing/2014/main" id="{6D63A78D-280C-1120-2C8A-866820BE1929}"/>
              </a:ext>
            </a:extLst>
          </p:cNvPr>
          <p:cNvPicPr>
            <a:picLocks noChangeAspect="1"/>
          </p:cNvPicPr>
          <p:nvPr/>
        </p:nvPicPr>
        <p:blipFill rotWithShape="1">
          <a:blip r:embed="rId6"/>
          <a:srcRect t="38776" b="14512"/>
          <a:stretch/>
        </p:blipFill>
        <p:spPr>
          <a:xfrm>
            <a:off x="2654" y="8917184"/>
            <a:ext cx="7556400" cy="1276601"/>
          </a:xfrm>
          <a:prstGeom prst="rect">
            <a:avLst/>
          </a:prstGeom>
        </p:spPr>
      </p:pic>
      <p:sp>
        <p:nvSpPr>
          <p:cNvPr id="8" name="Oval 7">
            <a:extLst>
              <a:ext uri="{FF2B5EF4-FFF2-40B4-BE49-F238E27FC236}">
                <a16:creationId xmlns:a16="http://schemas.microsoft.com/office/drawing/2014/main" id="{15AA71EC-43E2-6F0A-123F-C0F94B6FA876}"/>
              </a:ext>
            </a:extLst>
          </p:cNvPr>
          <p:cNvSpPr/>
          <p:nvPr/>
        </p:nvSpPr>
        <p:spPr>
          <a:xfrm>
            <a:off x="45952" y="792500"/>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IBM Plex Sans" panose="020B0503050203000203" pitchFamily="34" charset="0"/>
              </a:rPr>
              <a:t>8</a:t>
            </a:r>
            <a:endParaRPr lang="de-DE" sz="1400" b="1" dirty="0">
              <a:solidFill>
                <a:schemeClr val="bg1"/>
              </a:solidFill>
              <a:latin typeface="IBM Plex Sans" panose="020B0503050203000203" pitchFamily="34" charset="0"/>
            </a:endParaRPr>
          </a:p>
        </p:txBody>
      </p:sp>
    </p:spTree>
    <p:extLst>
      <p:ext uri="{BB962C8B-B14F-4D97-AF65-F5344CB8AC3E}">
        <p14:creationId xmlns:p14="http://schemas.microsoft.com/office/powerpoint/2010/main" val="3486060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hteck 3">
            <a:extLst>
              <a:ext uri="{FF2B5EF4-FFF2-40B4-BE49-F238E27FC236}">
                <a16:creationId xmlns:a16="http://schemas.microsoft.com/office/drawing/2014/main" id="{55F1A594-84CE-405B-AB46-B9739AFBF0E2}"/>
              </a:ext>
            </a:extLst>
          </p:cNvPr>
          <p:cNvSpPr/>
          <p:nvPr/>
        </p:nvSpPr>
        <p:spPr>
          <a:xfrm>
            <a:off x="-2830" y="10175607"/>
            <a:ext cx="7565335" cy="5989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hteck 3">
            <a:extLst>
              <a:ext uri="{FF2B5EF4-FFF2-40B4-BE49-F238E27FC236}">
                <a16:creationId xmlns:a16="http://schemas.microsoft.com/office/drawing/2014/main" id="{841BC871-5C0B-3C45-B581-524143A20605}"/>
              </a:ext>
            </a:extLst>
          </p:cNvPr>
          <p:cNvSpPr/>
          <p:nvPr/>
        </p:nvSpPr>
        <p:spPr>
          <a:xfrm>
            <a:off x="-5676" y="0"/>
            <a:ext cx="7565335" cy="5989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Picture 46" descr="blue-tri-color-logo">
            <a:extLst>
              <a:ext uri="{FF2B5EF4-FFF2-40B4-BE49-F238E27FC236}">
                <a16:creationId xmlns:a16="http://schemas.microsoft.com/office/drawing/2014/main" id="{B8DBB758-3896-8B4E-9BAA-7677F713D015}"/>
              </a:ext>
            </a:extLst>
          </p:cNvPr>
          <p:cNvPicPr>
            <a:picLocks noChangeAspect="1" noChangeArrowheads="1"/>
          </p:cNvPicPr>
          <p:nvPr/>
        </p:nvPicPr>
        <p:blipFill>
          <a:blip r:embed="rId2" cstate="print"/>
          <a:srcRect/>
          <a:stretch>
            <a:fillRect/>
          </a:stretch>
        </p:blipFill>
        <p:spPr bwMode="auto">
          <a:xfrm>
            <a:off x="6708673" y="10338928"/>
            <a:ext cx="751185" cy="304253"/>
          </a:xfrm>
          <a:prstGeom prst="rect">
            <a:avLst/>
          </a:prstGeom>
          <a:noFill/>
          <a:ln w="9525">
            <a:noFill/>
            <a:miter lim="800000"/>
            <a:headEnd/>
            <a:tailEnd/>
          </a:ln>
        </p:spPr>
      </p:pic>
      <p:sp>
        <p:nvSpPr>
          <p:cNvPr id="11" name="Textfeld 10">
            <a:extLst>
              <a:ext uri="{FF2B5EF4-FFF2-40B4-BE49-F238E27FC236}">
                <a16:creationId xmlns:a16="http://schemas.microsoft.com/office/drawing/2014/main" id="{087E99EB-A522-D841-8D39-18F0C870C822}"/>
              </a:ext>
            </a:extLst>
          </p:cNvPr>
          <p:cNvSpPr txBox="1"/>
          <p:nvPr/>
        </p:nvSpPr>
        <p:spPr>
          <a:xfrm>
            <a:off x="-5676" y="598931"/>
            <a:ext cx="3939356" cy="338554"/>
          </a:xfrm>
          <a:prstGeom prst="rect">
            <a:avLst/>
          </a:prstGeom>
          <a:noFill/>
        </p:spPr>
        <p:txBody>
          <a:bodyPr wrap="square" lIns="91440" tIns="45720" rIns="91440" bIns="45720" rtlCol="0" anchor="t">
            <a:spAutoFit/>
          </a:bodyPr>
          <a:lstStyle/>
          <a:p>
            <a:r>
              <a:rPr lang="de-DE" sz="1600" b="1" dirty="0">
                <a:latin typeface="IBM Plex Sans"/>
              </a:rPr>
              <a:t>UPCOMING EVENTS &amp; WEBINARS:</a:t>
            </a:r>
          </a:p>
        </p:txBody>
      </p:sp>
      <p:sp>
        <p:nvSpPr>
          <p:cNvPr id="22" name="Textfeld 21">
            <a:extLst>
              <a:ext uri="{FF2B5EF4-FFF2-40B4-BE49-F238E27FC236}">
                <a16:creationId xmlns:a16="http://schemas.microsoft.com/office/drawing/2014/main" id="{7F7E32FA-B951-AF4F-998F-A5EC785D4F9C}"/>
              </a:ext>
            </a:extLst>
          </p:cNvPr>
          <p:cNvSpPr txBox="1"/>
          <p:nvPr/>
        </p:nvSpPr>
        <p:spPr>
          <a:xfrm>
            <a:off x="3667001" y="10404617"/>
            <a:ext cx="257202" cy="276999"/>
          </a:xfrm>
          <a:prstGeom prst="rect">
            <a:avLst/>
          </a:prstGeom>
          <a:noFill/>
        </p:spPr>
        <p:txBody>
          <a:bodyPr wrap="square" rtlCol="0">
            <a:spAutoFit/>
          </a:bodyPr>
          <a:lstStyle/>
          <a:p>
            <a:r>
              <a:rPr lang="en-GB" sz="1200" dirty="0"/>
              <a:t>5</a:t>
            </a:r>
            <a:endParaRPr lang="de-DE" sz="1200" dirty="0"/>
          </a:p>
        </p:txBody>
      </p:sp>
      <p:sp>
        <p:nvSpPr>
          <p:cNvPr id="23" name="Textfeld 2">
            <a:extLst>
              <a:ext uri="{FF2B5EF4-FFF2-40B4-BE49-F238E27FC236}">
                <a16:creationId xmlns:a16="http://schemas.microsoft.com/office/drawing/2014/main" id="{7AB0C817-4677-3593-7F4E-9ADAC69DEF8B}"/>
              </a:ext>
            </a:extLst>
          </p:cNvPr>
          <p:cNvSpPr txBox="1"/>
          <p:nvPr/>
        </p:nvSpPr>
        <p:spPr>
          <a:xfrm>
            <a:off x="341242" y="1245218"/>
            <a:ext cx="3294948" cy="738664"/>
          </a:xfrm>
          <a:prstGeom prst="rect">
            <a:avLst/>
          </a:prstGeom>
          <a:noFill/>
        </p:spPr>
        <p:txBody>
          <a:bodyPr wrap="square" lIns="91440" tIns="45720" rIns="91440" bIns="45720" rtlCol="0" anchor="t">
            <a:spAutoFit/>
          </a:bodyPr>
          <a:lstStyle/>
          <a:p>
            <a:r>
              <a:rPr lang="de-DE" sz="1400" b="1" dirty="0" err="1">
                <a:latin typeface="IBM Plex Sans"/>
              </a:rPr>
              <a:t>Resolving</a:t>
            </a:r>
            <a:r>
              <a:rPr lang="de-DE" sz="1400" b="1" dirty="0">
                <a:latin typeface="IBM Plex Sans"/>
              </a:rPr>
              <a:t> </a:t>
            </a:r>
            <a:r>
              <a:rPr lang="de-DE" sz="1400" b="1" dirty="0" err="1">
                <a:latin typeface="IBM Plex Sans"/>
              </a:rPr>
              <a:t>to</a:t>
            </a:r>
            <a:r>
              <a:rPr lang="de-DE" sz="1400" b="1" dirty="0">
                <a:latin typeface="IBM Plex Sans"/>
              </a:rPr>
              <a:t> Share... Z Alerts </a:t>
            </a:r>
            <a:r>
              <a:rPr lang="de-DE" sz="1400" b="1" dirty="0" err="1">
                <a:latin typeface="IBM Plex Sans"/>
              </a:rPr>
              <a:t>With</a:t>
            </a:r>
            <a:r>
              <a:rPr lang="de-DE" sz="1400" b="1" dirty="0">
                <a:latin typeface="IBM Plex Sans"/>
              </a:rPr>
              <a:t> </a:t>
            </a:r>
            <a:r>
              <a:rPr lang="de-DE" sz="1400" b="1" dirty="0" err="1">
                <a:latin typeface="IBM Plex Sans"/>
              </a:rPr>
              <a:t>Your</a:t>
            </a:r>
            <a:r>
              <a:rPr lang="de-DE" sz="1400" b="1" dirty="0">
                <a:latin typeface="IBM Plex Sans"/>
              </a:rPr>
              <a:t> SIEM, </a:t>
            </a:r>
            <a:r>
              <a:rPr lang="de-DE" sz="1400" b="1" dirty="0" err="1">
                <a:latin typeface="IBM Plex Sans"/>
              </a:rPr>
              <a:t>That</a:t>
            </a:r>
            <a:r>
              <a:rPr lang="de-DE" sz="1400" b="1" dirty="0">
                <a:latin typeface="IBM Plex Sans"/>
              </a:rPr>
              <a:t> </a:t>
            </a:r>
            <a:r>
              <a:rPr lang="de-DE" sz="1400" b="1" dirty="0" err="1">
                <a:latin typeface="IBM Plex Sans"/>
              </a:rPr>
              <a:t>Is</a:t>
            </a:r>
            <a:r>
              <a:rPr lang="de-DE" sz="1400" b="1" dirty="0">
                <a:latin typeface="IBM Plex Sans"/>
              </a:rPr>
              <a:t> (Security)</a:t>
            </a:r>
            <a:endParaRPr lang="en-US" dirty="0"/>
          </a:p>
          <a:p>
            <a:endParaRPr lang="en-US" sz="1400" b="1" dirty="0">
              <a:latin typeface="IBM Plex Sans" panose="020B0503050203000203" pitchFamily="34" charset="0"/>
            </a:endParaRPr>
          </a:p>
        </p:txBody>
      </p:sp>
      <p:sp>
        <p:nvSpPr>
          <p:cNvPr id="24" name="Oval 23">
            <a:extLst>
              <a:ext uri="{FF2B5EF4-FFF2-40B4-BE49-F238E27FC236}">
                <a16:creationId xmlns:a16="http://schemas.microsoft.com/office/drawing/2014/main" id="{DA4F5E94-9A07-9BEA-03E7-871FB7F2C3BF}"/>
              </a:ext>
            </a:extLst>
          </p:cNvPr>
          <p:cNvSpPr/>
          <p:nvPr/>
        </p:nvSpPr>
        <p:spPr>
          <a:xfrm>
            <a:off x="53241" y="1243633"/>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IBM Plex Sans" panose="020B0503050203000203" pitchFamily="34" charset="0"/>
              </a:rPr>
              <a:t>1</a:t>
            </a:r>
            <a:endParaRPr lang="de-DE" sz="1400" b="1" dirty="0">
              <a:solidFill>
                <a:schemeClr val="bg1"/>
              </a:solidFill>
              <a:latin typeface="IBM Plex Sans" panose="020B0503050203000203" pitchFamily="34" charset="0"/>
            </a:endParaRPr>
          </a:p>
        </p:txBody>
      </p:sp>
      <p:sp>
        <p:nvSpPr>
          <p:cNvPr id="37" name="Rectangle 6">
            <a:extLst>
              <a:ext uri="{FF2B5EF4-FFF2-40B4-BE49-F238E27FC236}">
                <a16:creationId xmlns:a16="http://schemas.microsoft.com/office/drawing/2014/main" id="{52E8C191-22AA-8A9F-2AAC-728D99B7600D}"/>
              </a:ext>
            </a:extLst>
          </p:cNvPr>
          <p:cNvSpPr>
            <a:spLocks noChangeArrowheads="1"/>
          </p:cNvSpPr>
          <p:nvPr/>
        </p:nvSpPr>
        <p:spPr bwMode="black">
          <a:xfrm>
            <a:off x="65375" y="10475073"/>
            <a:ext cx="13716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t"/>
          <a:lstStyle>
            <a:lvl1pPr>
              <a:defRPr b="1">
                <a:solidFill>
                  <a:schemeClr val="tx1"/>
                </a:solidFill>
                <a:latin typeface="Arial" panose="020B0604020202020204" pitchFamily="34" charset="0"/>
                <a:ea typeface="MS PGothic" panose="020B0600070205080204" pitchFamily="34" charset="-128"/>
              </a:defRPr>
            </a:lvl1pPr>
            <a:lvl2pPr marL="742950" indent="-285750">
              <a:defRPr b="1">
                <a:solidFill>
                  <a:schemeClr val="tx1"/>
                </a:solidFill>
                <a:latin typeface="Arial" panose="020B0604020202020204" pitchFamily="34" charset="0"/>
                <a:ea typeface="MS PGothic" panose="020B0600070205080204" pitchFamily="34" charset="-128"/>
              </a:defRPr>
            </a:lvl2pPr>
            <a:lvl3pPr marL="1143000" indent="-228600">
              <a:defRPr b="1">
                <a:solidFill>
                  <a:schemeClr val="tx1"/>
                </a:solidFill>
                <a:latin typeface="Arial" panose="020B0604020202020204" pitchFamily="34" charset="0"/>
                <a:ea typeface="MS PGothic" panose="020B0600070205080204" pitchFamily="34" charset="-128"/>
              </a:defRPr>
            </a:lvl3pPr>
            <a:lvl4pPr marL="1600200" indent="-228600">
              <a:defRPr b="1">
                <a:solidFill>
                  <a:schemeClr val="tx1"/>
                </a:solidFill>
                <a:latin typeface="Arial" panose="020B0604020202020204" pitchFamily="34" charset="0"/>
                <a:ea typeface="MS PGothic" panose="020B0600070205080204" pitchFamily="34" charset="-128"/>
              </a:defRPr>
            </a:lvl4pPr>
            <a:lvl5pPr marL="2057400" indent="-228600">
              <a:defRPr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9pPr>
          </a:lstStyle>
          <a:p>
            <a:pPr>
              <a:defRPr/>
            </a:pPr>
            <a:r>
              <a:rPr lang="en-US" sz="800" b="0" dirty="0">
                <a:latin typeface="IBM Plex Sans"/>
                <a:ea typeface="MS PGothic"/>
              </a:rPr>
              <a:t>© 2026 IBM Corporation</a:t>
            </a:r>
          </a:p>
        </p:txBody>
      </p:sp>
      <p:cxnSp>
        <p:nvCxnSpPr>
          <p:cNvPr id="2" name="Gerade Verbindung 19">
            <a:extLst>
              <a:ext uri="{FF2B5EF4-FFF2-40B4-BE49-F238E27FC236}">
                <a16:creationId xmlns:a16="http://schemas.microsoft.com/office/drawing/2014/main" id="{CDEF1212-37B4-FD65-5FD8-97CB88BD97C7}"/>
              </a:ext>
            </a:extLst>
          </p:cNvPr>
          <p:cNvCxnSpPr/>
          <p:nvPr/>
        </p:nvCxnSpPr>
        <p:spPr>
          <a:xfrm>
            <a:off x="-111770" y="5226055"/>
            <a:ext cx="75308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Gerade Verbindung 19">
            <a:extLst>
              <a:ext uri="{FF2B5EF4-FFF2-40B4-BE49-F238E27FC236}">
                <a16:creationId xmlns:a16="http://schemas.microsoft.com/office/drawing/2014/main" id="{CB313084-FA0C-C373-7D4A-76F650FC682F}"/>
              </a:ext>
            </a:extLst>
          </p:cNvPr>
          <p:cNvCxnSpPr>
            <a:cxnSpLocks/>
          </p:cNvCxnSpPr>
          <p:nvPr/>
        </p:nvCxnSpPr>
        <p:spPr>
          <a:xfrm>
            <a:off x="3690029" y="1124186"/>
            <a:ext cx="8030" cy="4142201"/>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feld 11">
            <a:extLst>
              <a:ext uri="{FF2B5EF4-FFF2-40B4-BE49-F238E27FC236}">
                <a16:creationId xmlns:a16="http://schemas.microsoft.com/office/drawing/2014/main" id="{329D3D39-8818-A874-4AE7-730D7E201102}"/>
              </a:ext>
            </a:extLst>
          </p:cNvPr>
          <p:cNvSpPr txBox="1"/>
          <p:nvPr/>
        </p:nvSpPr>
        <p:spPr>
          <a:xfrm>
            <a:off x="32363" y="2195262"/>
            <a:ext cx="3635396" cy="415498"/>
          </a:xfrm>
          <a:prstGeom prst="rect">
            <a:avLst/>
          </a:prstGeom>
          <a:noFill/>
        </p:spPr>
        <p:txBody>
          <a:bodyPr wrap="square" lIns="91440" tIns="45720" rIns="91440" bIns="45720" rtlCol="0" anchor="t">
            <a:spAutoFit/>
          </a:bodyPr>
          <a:lstStyle/>
          <a:p>
            <a:r>
              <a:rPr lang="en-US" sz="1050" dirty="0">
                <a:solidFill>
                  <a:srgbClr val="323232"/>
                </a:solidFill>
                <a:latin typeface="IBM Plex Sans"/>
              </a:rPr>
              <a:t>16. November 2023</a:t>
            </a:r>
          </a:p>
          <a:p>
            <a:r>
              <a:rPr lang="en-US" sz="1050" dirty="0">
                <a:solidFill>
                  <a:srgbClr val="323232"/>
                </a:solidFill>
                <a:latin typeface="IBM Plex Sans"/>
              </a:rPr>
              <a:t>Webinar 12:30-13:30 Uhr</a:t>
            </a:r>
          </a:p>
        </p:txBody>
      </p:sp>
      <p:sp>
        <p:nvSpPr>
          <p:cNvPr id="15" name="Textfeld 2">
            <a:extLst>
              <a:ext uri="{FF2B5EF4-FFF2-40B4-BE49-F238E27FC236}">
                <a16:creationId xmlns:a16="http://schemas.microsoft.com/office/drawing/2014/main" id="{52166134-3A76-1F39-C78D-6B688991DDB1}"/>
              </a:ext>
            </a:extLst>
          </p:cNvPr>
          <p:cNvSpPr txBox="1"/>
          <p:nvPr/>
        </p:nvSpPr>
        <p:spPr>
          <a:xfrm>
            <a:off x="4059172" y="1241851"/>
            <a:ext cx="3294948" cy="954107"/>
          </a:xfrm>
          <a:prstGeom prst="rect">
            <a:avLst/>
          </a:prstGeom>
          <a:noFill/>
        </p:spPr>
        <p:txBody>
          <a:bodyPr wrap="square" lIns="91440" tIns="45720" rIns="91440" bIns="45720" rtlCol="0" anchor="t">
            <a:spAutoFit/>
          </a:bodyPr>
          <a:lstStyle/>
          <a:p>
            <a:r>
              <a:rPr lang="en-US" sz="1400" b="1" dirty="0">
                <a:latin typeface="IBM Plex Sans"/>
                <a:cs typeface="Calibri"/>
              </a:rPr>
              <a:t>IBM </a:t>
            </a:r>
            <a:r>
              <a:rPr lang="en-US" sz="1400" b="1" dirty="0" err="1">
                <a:latin typeface="IBM Plex Sans"/>
                <a:cs typeface="Calibri"/>
              </a:rPr>
              <a:t>TechXchange</a:t>
            </a:r>
            <a:r>
              <a:rPr lang="en-US" sz="1400" b="1" dirty="0">
                <a:latin typeface="IBM Plex Sans"/>
                <a:cs typeface="Calibri"/>
              </a:rPr>
              <a:t> Summit EMEA</a:t>
            </a:r>
          </a:p>
          <a:p>
            <a:r>
              <a:rPr lang="en-US" sz="1400" b="1" dirty="0">
                <a:latin typeface="IBM Plex Sans"/>
                <a:cs typeface="Calibri"/>
              </a:rPr>
              <a:t>Innovating in the Age of AI: Transformative Learning for Technologists</a:t>
            </a:r>
          </a:p>
        </p:txBody>
      </p:sp>
      <p:sp>
        <p:nvSpPr>
          <p:cNvPr id="19" name="Textfeld 2">
            <a:extLst>
              <a:ext uri="{FF2B5EF4-FFF2-40B4-BE49-F238E27FC236}">
                <a16:creationId xmlns:a16="http://schemas.microsoft.com/office/drawing/2014/main" id="{759BF881-1C16-A23F-B374-72664BEF02C0}"/>
              </a:ext>
            </a:extLst>
          </p:cNvPr>
          <p:cNvSpPr txBox="1"/>
          <p:nvPr/>
        </p:nvSpPr>
        <p:spPr>
          <a:xfrm>
            <a:off x="372469" y="5409390"/>
            <a:ext cx="3294948" cy="307777"/>
          </a:xfrm>
          <a:prstGeom prst="rect">
            <a:avLst/>
          </a:prstGeom>
          <a:noFill/>
        </p:spPr>
        <p:txBody>
          <a:bodyPr wrap="square" lIns="91440" tIns="45720" rIns="91440" bIns="45720" rtlCol="0" anchor="t">
            <a:spAutoFit/>
          </a:bodyPr>
          <a:lstStyle/>
          <a:p>
            <a:r>
              <a:rPr lang="en-US" sz="1400" b="1" dirty="0">
                <a:latin typeface="IBM Plex Sans"/>
              </a:rPr>
              <a:t>IBM Data and AI Forum 2023</a:t>
            </a:r>
          </a:p>
        </p:txBody>
      </p:sp>
      <p:sp>
        <p:nvSpPr>
          <p:cNvPr id="20" name="Oval 19">
            <a:extLst>
              <a:ext uri="{FF2B5EF4-FFF2-40B4-BE49-F238E27FC236}">
                <a16:creationId xmlns:a16="http://schemas.microsoft.com/office/drawing/2014/main" id="{B459A045-CA56-4301-2F0D-FB673B518AF0}"/>
              </a:ext>
            </a:extLst>
          </p:cNvPr>
          <p:cNvSpPr/>
          <p:nvPr/>
        </p:nvSpPr>
        <p:spPr>
          <a:xfrm>
            <a:off x="61360" y="5461703"/>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IBM Plex Sans" panose="020B0503050203000203" pitchFamily="34" charset="0"/>
              </a:rPr>
              <a:t>3</a:t>
            </a:r>
            <a:endParaRPr lang="de-DE" sz="1400" b="1" dirty="0">
              <a:solidFill>
                <a:schemeClr val="bg1"/>
              </a:solidFill>
              <a:latin typeface="IBM Plex Sans" panose="020B0503050203000203" pitchFamily="34" charset="0"/>
            </a:endParaRPr>
          </a:p>
        </p:txBody>
      </p:sp>
      <p:sp>
        <p:nvSpPr>
          <p:cNvPr id="21" name="Textfeld 11">
            <a:extLst>
              <a:ext uri="{FF2B5EF4-FFF2-40B4-BE49-F238E27FC236}">
                <a16:creationId xmlns:a16="http://schemas.microsoft.com/office/drawing/2014/main" id="{57BEF604-5883-99BF-417E-8A3A59EAFF35}"/>
              </a:ext>
            </a:extLst>
          </p:cNvPr>
          <p:cNvSpPr txBox="1"/>
          <p:nvPr/>
        </p:nvSpPr>
        <p:spPr>
          <a:xfrm>
            <a:off x="158295" y="6117851"/>
            <a:ext cx="3765908" cy="577081"/>
          </a:xfrm>
          <a:prstGeom prst="rect">
            <a:avLst/>
          </a:prstGeom>
          <a:noFill/>
        </p:spPr>
        <p:txBody>
          <a:bodyPr wrap="square" lIns="91440" tIns="45720" rIns="91440" bIns="45720" rtlCol="0" anchor="t">
            <a:spAutoFit/>
          </a:bodyPr>
          <a:lstStyle/>
          <a:p>
            <a:r>
              <a:rPr lang="en-US" sz="1050" dirty="0">
                <a:solidFill>
                  <a:srgbClr val="323232"/>
                </a:solidFill>
                <a:latin typeface="IBM Plex Sans"/>
              </a:rPr>
              <a:t>8. und 9. November 2023, die VILCO</a:t>
            </a:r>
            <a:endParaRPr lang="en-US" sz="1050" dirty="0">
              <a:solidFill>
                <a:srgbClr val="323232"/>
              </a:solidFill>
              <a:latin typeface="IBM Plex Sans" panose="020B0503050203000203" pitchFamily="34" charset="0"/>
            </a:endParaRPr>
          </a:p>
          <a:p>
            <a:r>
              <a:rPr lang="en-US" sz="1050" dirty="0">
                <a:solidFill>
                  <a:srgbClr val="323232"/>
                </a:solidFill>
                <a:latin typeface="IBM Plex Sans"/>
              </a:rPr>
              <a:t>Günther-Biwer-Platz 1, Bad Vibel</a:t>
            </a:r>
            <a:endParaRPr lang="en-US" sz="1050" dirty="0">
              <a:solidFill>
                <a:srgbClr val="323232"/>
              </a:solidFill>
              <a:latin typeface="IBM Plex Sans" panose="020B0503050203000203" pitchFamily="34" charset="0"/>
            </a:endParaRPr>
          </a:p>
          <a:p>
            <a:endParaRPr lang="en-US" sz="1050" dirty="0">
              <a:solidFill>
                <a:srgbClr val="323232"/>
              </a:solidFill>
              <a:latin typeface="IBM Plex Sans" panose="020B0503050203000203" pitchFamily="34" charset="0"/>
            </a:endParaRPr>
          </a:p>
        </p:txBody>
      </p:sp>
      <p:sp>
        <p:nvSpPr>
          <p:cNvPr id="14" name="Textfeld 11">
            <a:extLst>
              <a:ext uri="{FF2B5EF4-FFF2-40B4-BE49-F238E27FC236}">
                <a16:creationId xmlns:a16="http://schemas.microsoft.com/office/drawing/2014/main" id="{83BA21C2-F710-2F66-2521-B0DA743ADEE2}"/>
              </a:ext>
            </a:extLst>
          </p:cNvPr>
          <p:cNvSpPr txBox="1"/>
          <p:nvPr/>
        </p:nvSpPr>
        <p:spPr>
          <a:xfrm>
            <a:off x="3777475" y="2197183"/>
            <a:ext cx="3758720" cy="900246"/>
          </a:xfrm>
          <a:prstGeom prst="rect">
            <a:avLst/>
          </a:prstGeom>
          <a:noFill/>
        </p:spPr>
        <p:txBody>
          <a:bodyPr wrap="square" lIns="91440" tIns="45720" rIns="91440" bIns="45720" rtlCol="0" anchor="t">
            <a:spAutoFit/>
          </a:bodyPr>
          <a:lstStyle/>
          <a:p>
            <a:r>
              <a:rPr lang="en-US" sz="1050" dirty="0">
                <a:solidFill>
                  <a:srgbClr val="323232"/>
                </a:solidFill>
                <a:latin typeface="IBM Plex Sans"/>
              </a:rPr>
              <a:t>22.-25. </a:t>
            </a:r>
            <a:r>
              <a:rPr lang="en-US" sz="1050" dirty="0" err="1">
                <a:solidFill>
                  <a:srgbClr val="323232"/>
                </a:solidFill>
                <a:latin typeface="IBM Plex Sans"/>
              </a:rPr>
              <a:t>Januar</a:t>
            </a:r>
            <a:r>
              <a:rPr lang="en-US" sz="1050" dirty="0">
                <a:solidFill>
                  <a:srgbClr val="323232"/>
                </a:solidFill>
                <a:latin typeface="IBM Plex Sans"/>
              </a:rPr>
              <a:t> 2024, Barcelona International Convention Centre</a:t>
            </a:r>
            <a:endParaRPr lang="en-US" dirty="0">
              <a:latin typeface="IBM Plex Sans"/>
            </a:endParaRPr>
          </a:p>
          <a:p>
            <a:endParaRPr lang="en-US" sz="1050" dirty="0">
              <a:latin typeface="IBM Plex Sans"/>
              <a:cs typeface="Calibri"/>
            </a:endParaRPr>
          </a:p>
          <a:p>
            <a:endParaRPr lang="en-US" sz="1050" dirty="0">
              <a:solidFill>
                <a:srgbClr val="323232"/>
              </a:solidFill>
              <a:latin typeface="IBM Plex Sans" panose="020B0503050203000203" pitchFamily="34" charset="0"/>
            </a:endParaRPr>
          </a:p>
          <a:p>
            <a:endParaRPr lang="en-US" sz="1050" dirty="0">
              <a:solidFill>
                <a:srgbClr val="323232"/>
              </a:solidFill>
              <a:latin typeface="IBM Plex Sans" panose="020B0503050203000203" pitchFamily="34" charset="0"/>
            </a:endParaRPr>
          </a:p>
        </p:txBody>
      </p:sp>
      <p:sp>
        <p:nvSpPr>
          <p:cNvPr id="26" name="Oval 25">
            <a:extLst>
              <a:ext uri="{FF2B5EF4-FFF2-40B4-BE49-F238E27FC236}">
                <a16:creationId xmlns:a16="http://schemas.microsoft.com/office/drawing/2014/main" id="{EE64E065-A7A6-DC56-2A82-C4A556AC029F}"/>
              </a:ext>
            </a:extLst>
          </p:cNvPr>
          <p:cNvSpPr/>
          <p:nvPr/>
        </p:nvSpPr>
        <p:spPr>
          <a:xfrm>
            <a:off x="3750517" y="1243097"/>
            <a:ext cx="288000" cy="288000"/>
          </a:xfrm>
          <a:prstGeom prst="ellipse">
            <a:avLst/>
          </a:prstGeom>
          <a:solidFill>
            <a:srgbClr val="2C6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IBM Plex Sans" panose="020B0503050203000203" pitchFamily="34" charset="0"/>
              </a:rPr>
              <a:t>2</a:t>
            </a:r>
            <a:endParaRPr lang="de-DE" sz="1400" b="1" dirty="0">
              <a:solidFill>
                <a:schemeClr val="bg1"/>
              </a:solidFill>
              <a:latin typeface="IBM Plex Sans" panose="020B0503050203000203" pitchFamily="34" charset="0"/>
            </a:endParaRPr>
          </a:p>
        </p:txBody>
      </p:sp>
      <p:sp>
        <p:nvSpPr>
          <p:cNvPr id="28" name="Textfeld 11">
            <a:extLst>
              <a:ext uri="{FF2B5EF4-FFF2-40B4-BE49-F238E27FC236}">
                <a16:creationId xmlns:a16="http://schemas.microsoft.com/office/drawing/2014/main" id="{5F829E1F-DE20-DDB6-1BB9-2A843BC380D5}"/>
              </a:ext>
            </a:extLst>
          </p:cNvPr>
          <p:cNvSpPr txBox="1"/>
          <p:nvPr/>
        </p:nvSpPr>
        <p:spPr>
          <a:xfrm>
            <a:off x="202866" y="6810814"/>
            <a:ext cx="6924058" cy="2354491"/>
          </a:xfrm>
          <a:prstGeom prst="rect">
            <a:avLst/>
          </a:prstGeom>
          <a:noFill/>
        </p:spPr>
        <p:txBody>
          <a:bodyPr wrap="square" lIns="91440" tIns="45720" rIns="91440" bIns="45720" rtlCol="0" anchor="t">
            <a:spAutoFit/>
          </a:bodyPr>
          <a:lstStyle/>
          <a:p>
            <a:r>
              <a:rPr lang="en-US" sz="1050" dirty="0" err="1">
                <a:solidFill>
                  <a:srgbClr val="323232"/>
                </a:solidFill>
                <a:latin typeface="Calibri"/>
                <a:cs typeface="Calibri"/>
              </a:rPr>
              <a:t>Treffen</a:t>
            </a:r>
            <a:r>
              <a:rPr lang="en-US" sz="1050" dirty="0">
                <a:solidFill>
                  <a:srgbClr val="323232"/>
                </a:solidFill>
                <a:ea typeface="+mn-lt"/>
                <a:cs typeface="+mn-lt"/>
              </a:rPr>
              <a:t> Sie die Top-Fachleute der IBM für unser Portfolio rund um Daten, Analyse und KI. Von </a:t>
            </a:r>
            <a:r>
              <a:rPr lang="en-US" sz="1050" dirty="0" err="1">
                <a:solidFill>
                  <a:srgbClr val="323232"/>
                </a:solidFill>
                <a:ea typeface="+mn-lt"/>
                <a:cs typeface="+mn-lt"/>
              </a:rPr>
              <a:t>langjährigen</a:t>
            </a:r>
            <a:r>
              <a:rPr lang="en-US" sz="1050" dirty="0">
                <a:solidFill>
                  <a:srgbClr val="323232"/>
                </a:solidFill>
                <a:ea typeface="+mn-lt"/>
                <a:cs typeface="+mn-lt"/>
              </a:rPr>
              <a:t> </a:t>
            </a:r>
            <a:r>
              <a:rPr lang="en-US" sz="1050" dirty="0" err="1">
                <a:solidFill>
                  <a:srgbClr val="323232"/>
                </a:solidFill>
                <a:ea typeface="+mn-lt"/>
                <a:cs typeface="+mn-lt"/>
              </a:rPr>
              <a:t>Begleitern</a:t>
            </a:r>
            <a:r>
              <a:rPr lang="en-US" sz="1050" dirty="0">
                <a:solidFill>
                  <a:srgbClr val="323232"/>
                </a:solidFill>
                <a:ea typeface="+mn-lt"/>
                <a:cs typeface="+mn-lt"/>
              </a:rPr>
              <a:t> </a:t>
            </a:r>
            <a:r>
              <a:rPr lang="en-US" sz="1050" dirty="0" err="1">
                <a:solidFill>
                  <a:srgbClr val="323232"/>
                </a:solidFill>
                <a:ea typeface="+mn-lt"/>
                <a:cs typeface="+mn-lt"/>
              </a:rPr>
              <a:t>wie</a:t>
            </a:r>
            <a:r>
              <a:rPr lang="en-US" sz="1050" dirty="0">
                <a:solidFill>
                  <a:srgbClr val="323232"/>
                </a:solidFill>
                <a:ea typeface="+mn-lt"/>
                <a:cs typeface="+mn-lt"/>
              </a:rPr>
              <a:t> Db2 </a:t>
            </a:r>
            <a:r>
              <a:rPr lang="en-US" sz="1050" dirty="0" err="1">
                <a:solidFill>
                  <a:srgbClr val="323232"/>
                </a:solidFill>
                <a:ea typeface="+mn-lt"/>
                <a:cs typeface="+mn-lt"/>
              </a:rPr>
              <a:t>oder</a:t>
            </a:r>
            <a:r>
              <a:rPr lang="en-US" sz="1050" dirty="0">
                <a:solidFill>
                  <a:srgbClr val="323232"/>
                </a:solidFill>
                <a:ea typeface="+mn-lt"/>
                <a:cs typeface="+mn-lt"/>
              </a:rPr>
              <a:t> SPSS bis </a:t>
            </a:r>
            <a:r>
              <a:rPr lang="en-US" sz="1050" dirty="0" err="1">
                <a:solidFill>
                  <a:srgbClr val="323232"/>
                </a:solidFill>
                <a:ea typeface="+mn-lt"/>
                <a:cs typeface="+mn-lt"/>
              </a:rPr>
              <a:t>zu</a:t>
            </a:r>
            <a:r>
              <a:rPr lang="en-US" sz="1050" dirty="0">
                <a:solidFill>
                  <a:srgbClr val="323232"/>
                </a:solidFill>
                <a:ea typeface="+mn-lt"/>
                <a:cs typeface="+mn-lt"/>
              </a:rPr>
              <a:t> </a:t>
            </a:r>
            <a:r>
              <a:rPr lang="en-US" sz="1050" dirty="0" err="1">
                <a:solidFill>
                  <a:srgbClr val="323232"/>
                </a:solidFill>
                <a:ea typeface="+mn-lt"/>
                <a:cs typeface="+mn-lt"/>
              </a:rPr>
              <a:t>unserer</a:t>
            </a:r>
            <a:r>
              <a:rPr lang="en-US" sz="1050" dirty="0">
                <a:solidFill>
                  <a:srgbClr val="323232"/>
                </a:solidFill>
                <a:ea typeface="+mn-lt"/>
                <a:cs typeface="+mn-lt"/>
              </a:rPr>
              <a:t> </a:t>
            </a:r>
            <a:r>
              <a:rPr lang="en-US" sz="1050" dirty="0" err="1">
                <a:solidFill>
                  <a:srgbClr val="323232"/>
                </a:solidFill>
                <a:ea typeface="+mn-lt"/>
                <a:cs typeface="+mn-lt"/>
              </a:rPr>
              <a:t>neuen</a:t>
            </a:r>
            <a:r>
              <a:rPr lang="en-US" sz="1050" dirty="0">
                <a:solidFill>
                  <a:srgbClr val="323232"/>
                </a:solidFill>
                <a:ea typeface="+mn-lt"/>
                <a:cs typeface="+mn-lt"/>
              </a:rPr>
              <a:t> </a:t>
            </a:r>
            <a:r>
              <a:rPr lang="en-US" sz="1050" dirty="0" err="1">
                <a:solidFill>
                  <a:srgbClr val="323232"/>
                </a:solidFill>
                <a:ea typeface="+mn-lt"/>
                <a:cs typeface="+mn-lt"/>
              </a:rPr>
              <a:t>Plattform</a:t>
            </a:r>
            <a:r>
              <a:rPr lang="en-US" sz="1050" dirty="0">
                <a:solidFill>
                  <a:srgbClr val="323232"/>
                </a:solidFill>
                <a:ea typeface="+mn-lt"/>
                <a:cs typeface="+mn-lt"/>
              </a:rPr>
              <a:t> für generative KI. Erleben Sie </a:t>
            </a:r>
            <a:r>
              <a:rPr lang="en-US" sz="1050" dirty="0" err="1">
                <a:solidFill>
                  <a:srgbClr val="323232"/>
                </a:solidFill>
                <a:ea typeface="+mn-lt"/>
                <a:cs typeface="+mn-lt"/>
              </a:rPr>
              <a:t>eine</a:t>
            </a:r>
            <a:r>
              <a:rPr lang="en-US" sz="1050" dirty="0">
                <a:solidFill>
                  <a:srgbClr val="323232"/>
                </a:solidFill>
                <a:ea typeface="+mn-lt"/>
                <a:cs typeface="+mn-lt"/>
              </a:rPr>
              <a:t> </a:t>
            </a:r>
            <a:r>
              <a:rPr lang="en-US" sz="1050" dirty="0" err="1">
                <a:solidFill>
                  <a:srgbClr val="323232"/>
                </a:solidFill>
                <a:ea typeface="+mn-lt"/>
                <a:cs typeface="+mn-lt"/>
              </a:rPr>
              <a:t>Veranstaltung</a:t>
            </a:r>
            <a:r>
              <a:rPr lang="en-US" sz="1050" dirty="0">
                <a:solidFill>
                  <a:srgbClr val="323232"/>
                </a:solidFill>
                <a:ea typeface="+mn-lt"/>
                <a:cs typeface="+mn-lt"/>
              </a:rPr>
              <a:t> </a:t>
            </a:r>
            <a:r>
              <a:rPr lang="en-US" sz="1050" dirty="0" err="1">
                <a:solidFill>
                  <a:srgbClr val="323232"/>
                </a:solidFill>
                <a:ea typeface="+mn-lt"/>
                <a:cs typeface="+mn-lt"/>
              </a:rPr>
              <a:t>voller</a:t>
            </a:r>
            <a:r>
              <a:rPr lang="en-US" sz="1050" dirty="0">
                <a:solidFill>
                  <a:srgbClr val="323232"/>
                </a:solidFill>
                <a:ea typeface="+mn-lt"/>
                <a:cs typeface="+mn-lt"/>
              </a:rPr>
              <a:t> Innovation, </a:t>
            </a:r>
            <a:r>
              <a:rPr lang="en-US" sz="1050" dirty="0" err="1">
                <a:solidFill>
                  <a:srgbClr val="323232"/>
                </a:solidFill>
                <a:ea typeface="+mn-lt"/>
                <a:cs typeface="+mn-lt"/>
              </a:rPr>
              <a:t>Wissensaustausch</a:t>
            </a:r>
            <a:r>
              <a:rPr lang="en-US" sz="1050" dirty="0">
                <a:solidFill>
                  <a:srgbClr val="323232"/>
                </a:solidFill>
                <a:ea typeface="+mn-lt"/>
                <a:cs typeface="+mn-lt"/>
              </a:rPr>
              <a:t> und Inspiration. Es </a:t>
            </a:r>
            <a:r>
              <a:rPr lang="en-US" sz="1050" dirty="0" err="1">
                <a:solidFill>
                  <a:srgbClr val="323232"/>
                </a:solidFill>
                <a:ea typeface="+mn-lt"/>
                <a:cs typeface="+mn-lt"/>
              </a:rPr>
              <a:t>erwarten</a:t>
            </a:r>
            <a:r>
              <a:rPr lang="en-US" sz="1050" dirty="0">
                <a:solidFill>
                  <a:srgbClr val="323232"/>
                </a:solidFill>
                <a:ea typeface="+mn-lt"/>
                <a:cs typeface="+mn-lt"/>
              </a:rPr>
              <a:t> Sie:</a:t>
            </a:r>
            <a:endParaRPr lang="en-US" dirty="0">
              <a:solidFill>
                <a:srgbClr val="000000"/>
              </a:solidFill>
              <a:latin typeface="Calibri" panose="020F0502020204030204"/>
              <a:cs typeface="Calibri" panose="020F0502020204030204"/>
            </a:endParaRPr>
          </a:p>
          <a:p>
            <a:endParaRPr lang="en-US" sz="1050" b="1" dirty="0">
              <a:solidFill>
                <a:srgbClr val="323232"/>
              </a:solidFill>
              <a:cs typeface="Calibri"/>
            </a:endParaRPr>
          </a:p>
          <a:p>
            <a:pPr marL="285750" indent="-285750">
              <a:buFont typeface="Arial"/>
              <a:buChar char="•"/>
            </a:pPr>
            <a:r>
              <a:rPr lang="en-US" sz="1200" dirty="0" err="1">
                <a:solidFill>
                  <a:srgbClr val="323232"/>
                </a:solidFill>
                <a:ea typeface="+mn-lt"/>
                <a:cs typeface="+mn-lt"/>
              </a:rPr>
              <a:t>Spannende</a:t>
            </a:r>
            <a:r>
              <a:rPr lang="en-US" sz="1200" dirty="0">
                <a:solidFill>
                  <a:srgbClr val="323232"/>
                </a:solidFill>
                <a:ea typeface="+mn-lt"/>
                <a:cs typeface="+mn-lt"/>
              </a:rPr>
              <a:t> Keynote-</a:t>
            </a:r>
            <a:r>
              <a:rPr lang="en-US" sz="1200" dirty="0" err="1">
                <a:solidFill>
                  <a:srgbClr val="323232"/>
                </a:solidFill>
                <a:ea typeface="+mn-lt"/>
                <a:cs typeface="+mn-lt"/>
              </a:rPr>
              <a:t>Vorträge</a:t>
            </a:r>
            <a:r>
              <a:rPr lang="en-US" sz="1200" dirty="0">
                <a:solidFill>
                  <a:srgbClr val="323232"/>
                </a:solidFill>
                <a:ea typeface="+mn-lt"/>
                <a:cs typeface="+mn-lt"/>
              </a:rPr>
              <a:t> von </a:t>
            </a:r>
            <a:r>
              <a:rPr lang="en-US" sz="1200" dirty="0" err="1">
                <a:solidFill>
                  <a:srgbClr val="323232"/>
                </a:solidFill>
                <a:ea typeface="+mn-lt"/>
                <a:cs typeface="+mn-lt"/>
              </a:rPr>
              <a:t>führenden</a:t>
            </a:r>
            <a:r>
              <a:rPr lang="en-US" sz="1200" dirty="0">
                <a:solidFill>
                  <a:srgbClr val="323232"/>
                </a:solidFill>
                <a:ea typeface="+mn-lt"/>
                <a:cs typeface="+mn-lt"/>
              </a:rPr>
              <a:t> </a:t>
            </a:r>
            <a:r>
              <a:rPr lang="en-US" sz="1200" dirty="0" err="1">
                <a:solidFill>
                  <a:srgbClr val="323232"/>
                </a:solidFill>
                <a:ea typeface="+mn-lt"/>
                <a:cs typeface="+mn-lt"/>
              </a:rPr>
              <a:t>Experten</a:t>
            </a:r>
            <a:endParaRPr lang="en-US" dirty="0" err="1"/>
          </a:p>
          <a:p>
            <a:pPr marL="285750" indent="-285750">
              <a:buFont typeface="Arial"/>
              <a:buChar char="•"/>
            </a:pPr>
            <a:r>
              <a:rPr lang="en-US" sz="1200" dirty="0" err="1">
                <a:solidFill>
                  <a:srgbClr val="323232"/>
                </a:solidFill>
                <a:ea typeface="+mn-lt"/>
                <a:cs typeface="+mn-lt"/>
              </a:rPr>
              <a:t>Einblicke</a:t>
            </a:r>
            <a:r>
              <a:rPr lang="en-US" sz="1200" dirty="0">
                <a:solidFill>
                  <a:srgbClr val="323232"/>
                </a:solidFill>
                <a:ea typeface="+mn-lt"/>
                <a:cs typeface="+mn-lt"/>
              </a:rPr>
              <a:t> in die </a:t>
            </a:r>
            <a:r>
              <a:rPr lang="en-US" sz="1200" dirty="0" err="1">
                <a:solidFill>
                  <a:srgbClr val="323232"/>
                </a:solidFill>
                <a:ea typeface="+mn-lt"/>
                <a:cs typeface="+mn-lt"/>
              </a:rPr>
              <a:t>neuesten</a:t>
            </a:r>
            <a:r>
              <a:rPr lang="en-US" sz="1200" dirty="0">
                <a:solidFill>
                  <a:srgbClr val="323232"/>
                </a:solidFill>
                <a:ea typeface="+mn-lt"/>
                <a:cs typeface="+mn-lt"/>
              </a:rPr>
              <a:t> Trends und </a:t>
            </a:r>
            <a:r>
              <a:rPr lang="en-US" sz="1200" dirty="0" err="1">
                <a:solidFill>
                  <a:srgbClr val="323232"/>
                </a:solidFill>
                <a:ea typeface="+mn-lt"/>
                <a:cs typeface="+mn-lt"/>
              </a:rPr>
              <a:t>Technologien</a:t>
            </a:r>
            <a:endParaRPr lang="en-US" dirty="0" err="1"/>
          </a:p>
          <a:p>
            <a:pPr marL="285750" indent="-285750">
              <a:buFont typeface="Arial"/>
              <a:buChar char="•"/>
            </a:pPr>
            <a:r>
              <a:rPr lang="en-US" sz="1200" dirty="0" err="1">
                <a:solidFill>
                  <a:srgbClr val="323232"/>
                </a:solidFill>
                <a:ea typeface="+mn-lt"/>
                <a:cs typeface="+mn-lt"/>
              </a:rPr>
              <a:t>Projektbeispiele</a:t>
            </a:r>
            <a:r>
              <a:rPr lang="en-US" sz="1200" dirty="0">
                <a:solidFill>
                  <a:srgbClr val="323232"/>
                </a:solidFill>
                <a:ea typeface="+mn-lt"/>
                <a:cs typeface="+mn-lt"/>
              </a:rPr>
              <a:t> </a:t>
            </a:r>
            <a:r>
              <a:rPr lang="en-US" sz="1200" dirty="0" err="1">
                <a:solidFill>
                  <a:srgbClr val="323232"/>
                </a:solidFill>
                <a:ea typeface="+mn-lt"/>
                <a:cs typeface="+mn-lt"/>
              </a:rPr>
              <a:t>Ihrer</a:t>
            </a:r>
            <a:r>
              <a:rPr lang="en-US" sz="1200" dirty="0">
                <a:solidFill>
                  <a:srgbClr val="323232"/>
                </a:solidFill>
                <a:ea typeface="+mn-lt"/>
                <a:cs typeface="+mn-lt"/>
              </a:rPr>
              <a:t> Peers</a:t>
            </a:r>
            <a:endParaRPr lang="en-US" dirty="0"/>
          </a:p>
          <a:p>
            <a:pPr marL="285750" indent="-285750">
              <a:buFont typeface="Arial"/>
              <a:buChar char="•"/>
            </a:pPr>
            <a:r>
              <a:rPr lang="en-US" sz="1200" dirty="0">
                <a:solidFill>
                  <a:srgbClr val="323232"/>
                </a:solidFill>
                <a:ea typeface="+mn-lt"/>
                <a:cs typeface="+mn-lt"/>
              </a:rPr>
              <a:t>Networking </a:t>
            </a:r>
            <a:r>
              <a:rPr lang="en-US" sz="1200" dirty="0" err="1">
                <a:solidFill>
                  <a:srgbClr val="323232"/>
                </a:solidFill>
                <a:ea typeface="+mn-lt"/>
                <a:cs typeface="+mn-lt"/>
              </a:rPr>
              <a:t>mit</a:t>
            </a:r>
            <a:r>
              <a:rPr lang="en-US" sz="1200" dirty="0">
                <a:solidFill>
                  <a:srgbClr val="323232"/>
                </a:solidFill>
                <a:ea typeface="+mn-lt"/>
                <a:cs typeface="+mn-lt"/>
              </a:rPr>
              <a:t> </a:t>
            </a:r>
            <a:r>
              <a:rPr lang="en-US" sz="1200" dirty="0" err="1">
                <a:solidFill>
                  <a:srgbClr val="323232"/>
                </a:solidFill>
                <a:ea typeface="+mn-lt"/>
                <a:cs typeface="+mn-lt"/>
              </a:rPr>
              <a:t>Gleichgesinnten</a:t>
            </a:r>
            <a:r>
              <a:rPr lang="en-US" sz="1200" dirty="0">
                <a:solidFill>
                  <a:srgbClr val="323232"/>
                </a:solidFill>
                <a:ea typeface="+mn-lt"/>
                <a:cs typeface="+mn-lt"/>
              </a:rPr>
              <a:t> und </a:t>
            </a:r>
            <a:r>
              <a:rPr lang="en-US" sz="1200" dirty="0" err="1">
                <a:solidFill>
                  <a:srgbClr val="323232"/>
                </a:solidFill>
                <a:ea typeface="+mn-lt"/>
                <a:cs typeface="+mn-lt"/>
              </a:rPr>
              <a:t>Branchenexperten</a:t>
            </a:r>
            <a:endParaRPr lang="en-US" dirty="0" err="1"/>
          </a:p>
          <a:p>
            <a:pPr marL="285750" indent="-285750">
              <a:buFont typeface="Arial"/>
              <a:buChar char="•"/>
            </a:pPr>
            <a:r>
              <a:rPr lang="en-US" sz="1200" dirty="0">
                <a:solidFill>
                  <a:srgbClr val="323232"/>
                </a:solidFill>
                <a:ea typeface="+mn-lt"/>
                <a:cs typeface="+mn-lt"/>
              </a:rPr>
              <a:t>6 </a:t>
            </a:r>
            <a:r>
              <a:rPr lang="en-US" sz="1200" dirty="0" err="1">
                <a:solidFill>
                  <a:srgbClr val="323232"/>
                </a:solidFill>
                <a:ea typeface="+mn-lt"/>
                <a:cs typeface="+mn-lt"/>
              </a:rPr>
              <a:t>Praxisorientierte</a:t>
            </a:r>
            <a:r>
              <a:rPr lang="en-US" sz="1200" dirty="0">
                <a:solidFill>
                  <a:srgbClr val="323232"/>
                </a:solidFill>
                <a:ea typeface="+mn-lt"/>
                <a:cs typeface="+mn-lt"/>
              </a:rPr>
              <a:t> Masterclasses am 8.11.2023</a:t>
            </a:r>
            <a:endParaRPr lang="en-US" dirty="0"/>
          </a:p>
          <a:p>
            <a:pPr marL="285750" indent="-285750">
              <a:buFont typeface="Arial"/>
              <a:buChar char="•"/>
            </a:pPr>
            <a:endParaRPr lang="en-US" sz="1200" dirty="0">
              <a:solidFill>
                <a:srgbClr val="323232"/>
              </a:solidFill>
              <a:latin typeface="Calibri"/>
              <a:cs typeface="Calibri"/>
            </a:endParaRPr>
          </a:p>
          <a:p>
            <a:r>
              <a:rPr lang="en-US" sz="1200" dirty="0">
                <a:solidFill>
                  <a:srgbClr val="323232"/>
                </a:solidFill>
                <a:ea typeface="+mn-lt"/>
                <a:cs typeface="+mn-lt"/>
                <a:hlinkClick r:id="rId3"/>
              </a:rPr>
              <a:t>Link</a:t>
            </a:r>
            <a:endParaRPr lang="en-US" sz="1200" dirty="0">
              <a:solidFill>
                <a:srgbClr val="323232"/>
              </a:solidFill>
              <a:cs typeface="Calibri"/>
            </a:endParaRPr>
          </a:p>
          <a:p>
            <a:endParaRPr lang="en-US" sz="1050" dirty="0">
              <a:solidFill>
                <a:srgbClr val="323232"/>
              </a:solidFill>
              <a:latin typeface="IBM Plex Sans" panose="020B0503050203000203" pitchFamily="34" charset="0"/>
            </a:endParaRPr>
          </a:p>
          <a:p>
            <a:endParaRPr lang="en-US" sz="1050" dirty="0">
              <a:solidFill>
                <a:srgbClr val="323232"/>
              </a:solidFill>
              <a:latin typeface="IBM Plex Sans" panose="020B0503050203000203" pitchFamily="34" charset="0"/>
            </a:endParaRPr>
          </a:p>
        </p:txBody>
      </p:sp>
      <p:sp>
        <p:nvSpPr>
          <p:cNvPr id="29" name="Textfeld 11">
            <a:extLst>
              <a:ext uri="{FF2B5EF4-FFF2-40B4-BE49-F238E27FC236}">
                <a16:creationId xmlns:a16="http://schemas.microsoft.com/office/drawing/2014/main" id="{26A639C4-7BB4-275F-7E11-A23D787E477D}"/>
              </a:ext>
            </a:extLst>
          </p:cNvPr>
          <p:cNvSpPr txBox="1"/>
          <p:nvPr/>
        </p:nvSpPr>
        <p:spPr>
          <a:xfrm>
            <a:off x="3730612" y="2911897"/>
            <a:ext cx="3765908" cy="2354491"/>
          </a:xfrm>
          <a:prstGeom prst="rect">
            <a:avLst/>
          </a:prstGeom>
          <a:noFill/>
        </p:spPr>
        <p:txBody>
          <a:bodyPr wrap="square" lIns="91440" tIns="45720" rIns="91440" bIns="45720" rtlCol="0" anchor="t">
            <a:spAutoFit/>
          </a:bodyPr>
          <a:lstStyle/>
          <a:p>
            <a:r>
              <a:rPr lang="en-US" sz="1050" dirty="0" err="1">
                <a:solidFill>
                  <a:srgbClr val="323232"/>
                </a:solidFill>
                <a:ea typeface="+mn-lt"/>
                <a:cs typeface="+mn-lt"/>
              </a:rPr>
              <a:t>Diese</a:t>
            </a:r>
            <a:r>
              <a:rPr lang="en-US" sz="1050" dirty="0">
                <a:solidFill>
                  <a:srgbClr val="323232"/>
                </a:solidFill>
                <a:ea typeface="+mn-lt"/>
                <a:cs typeface="+mn-lt"/>
              </a:rPr>
              <a:t> </a:t>
            </a:r>
            <a:r>
              <a:rPr lang="en-US" sz="1050" dirty="0" err="1">
                <a:solidFill>
                  <a:srgbClr val="323232"/>
                </a:solidFill>
                <a:ea typeface="+mn-lt"/>
                <a:cs typeface="+mn-lt"/>
              </a:rPr>
              <a:t>Veranstaltung</a:t>
            </a:r>
            <a:r>
              <a:rPr lang="en-US" sz="1050" dirty="0">
                <a:solidFill>
                  <a:srgbClr val="323232"/>
                </a:solidFill>
                <a:ea typeface="+mn-lt"/>
                <a:cs typeface="+mn-lt"/>
              </a:rPr>
              <a:t> </a:t>
            </a:r>
            <a:r>
              <a:rPr lang="en-US" sz="1050" dirty="0" err="1">
                <a:solidFill>
                  <a:srgbClr val="323232"/>
                </a:solidFill>
                <a:ea typeface="+mn-lt"/>
                <a:cs typeface="+mn-lt"/>
              </a:rPr>
              <a:t>wurde</a:t>
            </a:r>
            <a:r>
              <a:rPr lang="en-US" sz="1050" dirty="0">
                <a:solidFill>
                  <a:srgbClr val="323232"/>
                </a:solidFill>
                <a:ea typeface="+mn-lt"/>
                <a:cs typeface="+mn-lt"/>
              </a:rPr>
              <a:t> von </a:t>
            </a:r>
            <a:r>
              <a:rPr lang="en-US" sz="1050" dirty="0" err="1">
                <a:solidFill>
                  <a:srgbClr val="323232"/>
                </a:solidFill>
                <a:ea typeface="+mn-lt"/>
                <a:cs typeface="+mn-lt"/>
              </a:rPr>
              <a:t>Technikern</a:t>
            </a:r>
            <a:r>
              <a:rPr lang="en-US" sz="1050" dirty="0">
                <a:solidFill>
                  <a:srgbClr val="323232"/>
                </a:solidFill>
                <a:ea typeface="+mn-lt"/>
                <a:cs typeface="+mn-lt"/>
              </a:rPr>
              <a:t> für </a:t>
            </a:r>
            <a:r>
              <a:rPr lang="en-US" sz="1050" dirty="0" err="1">
                <a:solidFill>
                  <a:srgbClr val="323232"/>
                </a:solidFill>
                <a:ea typeface="+mn-lt"/>
                <a:cs typeface="+mn-lt"/>
              </a:rPr>
              <a:t>Entwickler</a:t>
            </a:r>
            <a:r>
              <a:rPr lang="en-US" sz="1050" dirty="0">
                <a:solidFill>
                  <a:srgbClr val="323232"/>
                </a:solidFill>
                <a:ea typeface="+mn-lt"/>
                <a:cs typeface="+mn-lt"/>
              </a:rPr>
              <a:t>, </a:t>
            </a:r>
            <a:r>
              <a:rPr lang="en-US" sz="1050" dirty="0" err="1">
                <a:solidFill>
                  <a:srgbClr val="323232"/>
                </a:solidFill>
                <a:ea typeface="+mn-lt"/>
                <a:cs typeface="+mn-lt"/>
              </a:rPr>
              <a:t>Konstrukteure</a:t>
            </a:r>
            <a:r>
              <a:rPr lang="en-US" sz="1050" dirty="0">
                <a:solidFill>
                  <a:srgbClr val="323232"/>
                </a:solidFill>
                <a:ea typeface="+mn-lt"/>
                <a:cs typeface="+mn-lt"/>
              </a:rPr>
              <a:t> und </a:t>
            </a:r>
            <a:r>
              <a:rPr lang="en-US" sz="1050" dirty="0" err="1">
                <a:solidFill>
                  <a:srgbClr val="323232"/>
                </a:solidFill>
                <a:ea typeface="+mn-lt"/>
                <a:cs typeface="+mn-lt"/>
              </a:rPr>
              <a:t>Benutzergruppen</a:t>
            </a:r>
            <a:r>
              <a:rPr lang="en-US" sz="1050" dirty="0">
                <a:solidFill>
                  <a:srgbClr val="323232"/>
                </a:solidFill>
                <a:ea typeface="+mn-lt"/>
                <a:cs typeface="+mn-lt"/>
              </a:rPr>
              <a:t> </a:t>
            </a:r>
            <a:r>
              <a:rPr lang="en-US" sz="1050" dirty="0" err="1">
                <a:solidFill>
                  <a:srgbClr val="323232"/>
                </a:solidFill>
                <a:ea typeface="+mn-lt"/>
                <a:cs typeface="+mn-lt"/>
              </a:rPr>
              <a:t>konzipiert</a:t>
            </a:r>
            <a:r>
              <a:rPr lang="en-US" sz="1050" dirty="0">
                <a:solidFill>
                  <a:srgbClr val="323232"/>
                </a:solidFill>
                <a:ea typeface="+mn-lt"/>
                <a:cs typeface="+mn-lt"/>
              </a:rPr>
              <a:t>, die IBM Produkte und Hybrid-Cloud-</a:t>
            </a:r>
            <a:r>
              <a:rPr lang="en-US" sz="1050" dirty="0" err="1">
                <a:solidFill>
                  <a:srgbClr val="323232"/>
                </a:solidFill>
                <a:ea typeface="+mn-lt"/>
                <a:cs typeface="+mn-lt"/>
              </a:rPr>
              <a:t>Lösungen</a:t>
            </a:r>
            <a:r>
              <a:rPr lang="en-US" sz="1050" dirty="0">
                <a:solidFill>
                  <a:srgbClr val="323232"/>
                </a:solidFill>
                <a:ea typeface="+mn-lt"/>
                <a:cs typeface="+mn-lt"/>
              </a:rPr>
              <a:t> </a:t>
            </a:r>
            <a:r>
              <a:rPr lang="en-US" sz="1050" dirty="0" err="1">
                <a:solidFill>
                  <a:srgbClr val="323232"/>
                </a:solidFill>
                <a:ea typeface="+mn-lt"/>
                <a:cs typeface="+mn-lt"/>
              </a:rPr>
              <a:t>verwenden</a:t>
            </a:r>
            <a:r>
              <a:rPr lang="en-US" sz="1050" dirty="0">
                <a:solidFill>
                  <a:srgbClr val="323232"/>
                </a:solidFill>
                <a:ea typeface="+mn-lt"/>
                <a:cs typeface="+mn-lt"/>
              </a:rPr>
              <a:t>. </a:t>
            </a:r>
            <a:r>
              <a:rPr lang="en-US" sz="1050" dirty="0" err="1">
                <a:solidFill>
                  <a:srgbClr val="323232"/>
                </a:solidFill>
                <a:ea typeface="+mn-lt"/>
                <a:cs typeface="+mn-lt"/>
              </a:rPr>
              <a:t>Im</a:t>
            </a:r>
            <a:r>
              <a:rPr lang="en-US" sz="1050" dirty="0">
                <a:solidFill>
                  <a:srgbClr val="323232"/>
                </a:solidFill>
                <a:ea typeface="+mn-lt"/>
                <a:cs typeface="+mn-lt"/>
              </a:rPr>
              <a:t> </a:t>
            </a:r>
            <a:r>
              <a:rPr lang="en-US" sz="1050" dirty="0" err="1">
                <a:solidFill>
                  <a:srgbClr val="323232"/>
                </a:solidFill>
                <a:ea typeface="+mn-lt"/>
                <a:cs typeface="+mn-lt"/>
              </a:rPr>
              <a:t>Zeitalter</a:t>
            </a:r>
            <a:r>
              <a:rPr lang="en-US" sz="1050" dirty="0">
                <a:solidFill>
                  <a:srgbClr val="323232"/>
                </a:solidFill>
                <a:ea typeface="+mn-lt"/>
                <a:cs typeface="+mn-lt"/>
              </a:rPr>
              <a:t> der KI </a:t>
            </a:r>
            <a:r>
              <a:rPr lang="en-US" sz="1050" dirty="0" err="1">
                <a:solidFill>
                  <a:srgbClr val="323232"/>
                </a:solidFill>
                <a:ea typeface="+mn-lt"/>
                <a:cs typeface="+mn-lt"/>
              </a:rPr>
              <a:t>sind</a:t>
            </a:r>
            <a:r>
              <a:rPr lang="en-US" sz="1050" dirty="0">
                <a:solidFill>
                  <a:srgbClr val="323232"/>
                </a:solidFill>
                <a:ea typeface="+mn-lt"/>
                <a:cs typeface="+mn-lt"/>
              </a:rPr>
              <a:t> alle </a:t>
            </a:r>
            <a:r>
              <a:rPr lang="en-US" sz="1050" dirty="0" err="1">
                <a:solidFill>
                  <a:srgbClr val="323232"/>
                </a:solidFill>
                <a:ea typeface="+mn-lt"/>
                <a:cs typeface="+mn-lt"/>
              </a:rPr>
              <a:t>Technologiebereiche</a:t>
            </a:r>
            <a:r>
              <a:rPr lang="en-US" sz="1050" dirty="0">
                <a:solidFill>
                  <a:srgbClr val="323232"/>
                </a:solidFill>
                <a:ea typeface="+mn-lt"/>
                <a:cs typeface="+mn-lt"/>
              </a:rPr>
              <a:t> </a:t>
            </a:r>
            <a:r>
              <a:rPr lang="en-US" sz="1050" dirty="0" err="1">
                <a:solidFill>
                  <a:srgbClr val="323232"/>
                </a:solidFill>
                <a:ea typeface="+mn-lt"/>
                <a:cs typeface="+mn-lt"/>
              </a:rPr>
              <a:t>im</a:t>
            </a:r>
            <a:r>
              <a:rPr lang="en-US" sz="1050" dirty="0">
                <a:solidFill>
                  <a:srgbClr val="323232"/>
                </a:solidFill>
                <a:ea typeface="+mn-lt"/>
                <a:cs typeface="+mn-lt"/>
              </a:rPr>
              <a:t> </a:t>
            </a:r>
            <a:r>
              <a:rPr lang="en-US" sz="1050" dirty="0" err="1">
                <a:solidFill>
                  <a:srgbClr val="323232"/>
                </a:solidFill>
                <a:ea typeface="+mn-lt"/>
                <a:cs typeface="+mn-lt"/>
              </a:rPr>
              <a:t>Unternehmen</a:t>
            </a:r>
            <a:r>
              <a:rPr lang="en-US" sz="1050" dirty="0">
                <a:solidFill>
                  <a:srgbClr val="323232"/>
                </a:solidFill>
                <a:ea typeface="+mn-lt"/>
                <a:cs typeface="+mn-lt"/>
              </a:rPr>
              <a:t> </a:t>
            </a:r>
            <a:r>
              <a:rPr lang="en-US" sz="1050" dirty="0" err="1">
                <a:solidFill>
                  <a:srgbClr val="323232"/>
                </a:solidFill>
                <a:ea typeface="+mn-lt"/>
                <a:cs typeface="+mn-lt"/>
              </a:rPr>
              <a:t>davon</a:t>
            </a:r>
            <a:r>
              <a:rPr lang="en-US" sz="1050" dirty="0">
                <a:solidFill>
                  <a:srgbClr val="323232"/>
                </a:solidFill>
                <a:ea typeface="+mn-lt"/>
                <a:cs typeface="+mn-lt"/>
              </a:rPr>
              <a:t> </a:t>
            </a:r>
            <a:r>
              <a:rPr lang="en-US" sz="1050" dirty="0" err="1">
                <a:solidFill>
                  <a:srgbClr val="323232"/>
                </a:solidFill>
                <a:ea typeface="+mn-lt"/>
                <a:cs typeface="+mn-lt"/>
              </a:rPr>
              <a:t>betroffen</a:t>
            </a:r>
            <a:r>
              <a:rPr lang="en-US" sz="1050" dirty="0">
                <a:solidFill>
                  <a:srgbClr val="323232"/>
                </a:solidFill>
                <a:ea typeface="+mn-lt"/>
                <a:cs typeface="+mn-lt"/>
              </a:rPr>
              <a:t>. Sie </a:t>
            </a:r>
            <a:r>
              <a:rPr lang="en-US" sz="1050" dirty="0" err="1">
                <a:solidFill>
                  <a:srgbClr val="323232"/>
                </a:solidFill>
                <a:ea typeface="+mn-lt"/>
                <a:cs typeface="+mn-lt"/>
              </a:rPr>
              <a:t>werden</a:t>
            </a:r>
            <a:r>
              <a:rPr lang="en-US" sz="1050" dirty="0">
                <a:solidFill>
                  <a:srgbClr val="323232"/>
                </a:solidFill>
                <a:ea typeface="+mn-lt"/>
                <a:cs typeface="+mn-lt"/>
              </a:rPr>
              <a:t> </a:t>
            </a:r>
            <a:r>
              <a:rPr lang="en-US" sz="1050" dirty="0" err="1">
                <a:solidFill>
                  <a:srgbClr val="323232"/>
                </a:solidFill>
                <a:ea typeface="+mn-lt"/>
                <a:cs typeface="+mn-lt"/>
              </a:rPr>
              <a:t>diesen</a:t>
            </a:r>
            <a:r>
              <a:rPr lang="en-US" sz="1050" dirty="0">
                <a:solidFill>
                  <a:srgbClr val="323232"/>
                </a:solidFill>
                <a:ea typeface="+mn-lt"/>
                <a:cs typeface="+mn-lt"/>
              </a:rPr>
              <a:t> Wandel in </a:t>
            </a:r>
            <a:r>
              <a:rPr lang="en-US" sz="1050" dirty="0" err="1">
                <a:solidFill>
                  <a:srgbClr val="323232"/>
                </a:solidFill>
                <a:ea typeface="+mn-lt"/>
                <a:cs typeface="+mn-lt"/>
              </a:rPr>
              <a:t>technischen</a:t>
            </a:r>
            <a:r>
              <a:rPr lang="en-US" sz="1050" dirty="0">
                <a:solidFill>
                  <a:srgbClr val="323232"/>
                </a:solidFill>
                <a:ea typeface="+mn-lt"/>
                <a:cs typeface="+mn-lt"/>
              </a:rPr>
              <a:t> Breakout-Sessions, </a:t>
            </a:r>
            <a:r>
              <a:rPr lang="en-US" sz="1050" dirty="0" err="1">
                <a:solidFill>
                  <a:srgbClr val="323232"/>
                </a:solidFill>
                <a:ea typeface="+mn-lt"/>
                <a:cs typeface="+mn-lt"/>
              </a:rPr>
              <a:t>durch</a:t>
            </a:r>
            <a:r>
              <a:rPr lang="en-US" sz="1050" dirty="0">
                <a:solidFill>
                  <a:srgbClr val="323232"/>
                </a:solidFill>
                <a:ea typeface="+mn-lt"/>
                <a:cs typeface="+mn-lt"/>
              </a:rPr>
              <a:t> </a:t>
            </a:r>
            <a:r>
              <a:rPr lang="en-US" sz="1050" dirty="0" err="1">
                <a:solidFill>
                  <a:srgbClr val="323232"/>
                </a:solidFill>
                <a:ea typeface="+mn-lt"/>
                <a:cs typeface="+mn-lt"/>
              </a:rPr>
              <a:t>praktische</a:t>
            </a:r>
            <a:r>
              <a:rPr lang="en-US" sz="1050" dirty="0">
                <a:solidFill>
                  <a:srgbClr val="323232"/>
                </a:solidFill>
                <a:ea typeface="+mn-lt"/>
                <a:cs typeface="+mn-lt"/>
              </a:rPr>
              <a:t> </a:t>
            </a:r>
            <a:r>
              <a:rPr lang="en-US" sz="1050" dirty="0" err="1">
                <a:solidFill>
                  <a:srgbClr val="323232"/>
                </a:solidFill>
                <a:ea typeface="+mn-lt"/>
                <a:cs typeface="+mn-lt"/>
              </a:rPr>
              <a:t>Erfahrungsberichte</a:t>
            </a:r>
            <a:r>
              <a:rPr lang="en-US" sz="1050" dirty="0">
                <a:solidFill>
                  <a:srgbClr val="323232"/>
                </a:solidFill>
                <a:ea typeface="+mn-lt"/>
                <a:cs typeface="+mn-lt"/>
              </a:rPr>
              <a:t>, </a:t>
            </a:r>
            <a:r>
              <a:rPr lang="en-US" sz="1050" dirty="0" err="1">
                <a:solidFill>
                  <a:srgbClr val="323232"/>
                </a:solidFill>
                <a:ea typeface="+mn-lt"/>
                <a:cs typeface="+mn-lt"/>
              </a:rPr>
              <a:t>durch</a:t>
            </a:r>
            <a:r>
              <a:rPr lang="en-US" sz="1050" dirty="0">
                <a:solidFill>
                  <a:srgbClr val="323232"/>
                </a:solidFill>
                <a:ea typeface="+mn-lt"/>
                <a:cs typeface="+mn-lt"/>
              </a:rPr>
              <a:t> </a:t>
            </a:r>
            <a:r>
              <a:rPr lang="en-US" sz="1050" dirty="0" err="1">
                <a:solidFill>
                  <a:srgbClr val="323232"/>
                </a:solidFill>
                <a:ea typeface="+mn-lt"/>
                <a:cs typeface="+mn-lt"/>
              </a:rPr>
              <a:t>Produktdemonstrationen</a:t>
            </a:r>
            <a:r>
              <a:rPr lang="en-US" sz="1050" dirty="0">
                <a:solidFill>
                  <a:srgbClr val="323232"/>
                </a:solidFill>
                <a:ea typeface="+mn-lt"/>
                <a:cs typeface="+mn-lt"/>
              </a:rPr>
              <a:t> und </a:t>
            </a:r>
            <a:r>
              <a:rPr lang="en-US" sz="1050" dirty="0" err="1">
                <a:solidFill>
                  <a:srgbClr val="323232"/>
                </a:solidFill>
                <a:ea typeface="+mn-lt"/>
                <a:cs typeface="+mn-lt"/>
              </a:rPr>
              <a:t>im</a:t>
            </a:r>
            <a:r>
              <a:rPr lang="en-US" sz="1050" dirty="0">
                <a:solidFill>
                  <a:srgbClr val="323232"/>
                </a:solidFill>
                <a:ea typeface="+mn-lt"/>
                <a:cs typeface="+mn-lt"/>
              </a:rPr>
              <a:t> </a:t>
            </a:r>
            <a:r>
              <a:rPr lang="en-US" sz="1050" dirty="0" err="1">
                <a:solidFill>
                  <a:srgbClr val="323232"/>
                </a:solidFill>
                <a:ea typeface="+mn-lt"/>
                <a:cs typeface="+mn-lt"/>
              </a:rPr>
              <a:t>Laboren</a:t>
            </a:r>
            <a:r>
              <a:rPr lang="en-US" sz="1050" dirty="0">
                <a:solidFill>
                  <a:srgbClr val="323232"/>
                </a:solidFill>
                <a:ea typeface="+mn-lt"/>
                <a:cs typeface="+mn-lt"/>
              </a:rPr>
              <a:t> </a:t>
            </a:r>
            <a:r>
              <a:rPr lang="en-US" sz="1050" dirty="0" err="1">
                <a:solidFill>
                  <a:srgbClr val="323232"/>
                </a:solidFill>
                <a:ea typeface="+mn-lt"/>
                <a:cs typeface="+mn-lt"/>
              </a:rPr>
              <a:t>mit</a:t>
            </a:r>
            <a:r>
              <a:rPr lang="en-US" sz="1050" dirty="0">
                <a:solidFill>
                  <a:srgbClr val="323232"/>
                </a:solidFill>
                <a:ea typeface="+mn-lt"/>
                <a:cs typeface="+mn-lt"/>
              </a:rPr>
              <a:t> </a:t>
            </a:r>
            <a:r>
              <a:rPr lang="en-US" sz="1050" dirty="0" err="1">
                <a:solidFill>
                  <a:srgbClr val="323232"/>
                </a:solidFill>
                <a:ea typeface="+mn-lt"/>
                <a:cs typeface="+mn-lt"/>
              </a:rPr>
              <a:t>zertifizierten</a:t>
            </a:r>
            <a:r>
              <a:rPr lang="en-US" sz="1050" dirty="0">
                <a:solidFill>
                  <a:srgbClr val="323232"/>
                </a:solidFill>
                <a:ea typeface="+mn-lt"/>
                <a:cs typeface="+mn-lt"/>
              </a:rPr>
              <a:t> </a:t>
            </a:r>
            <a:r>
              <a:rPr lang="en-US" sz="1050" dirty="0" err="1">
                <a:solidFill>
                  <a:srgbClr val="323232"/>
                </a:solidFill>
                <a:ea typeface="+mn-lt"/>
                <a:cs typeface="+mn-lt"/>
              </a:rPr>
              <a:t>Experten</a:t>
            </a:r>
            <a:r>
              <a:rPr lang="en-US" sz="1050" dirty="0">
                <a:solidFill>
                  <a:srgbClr val="323232"/>
                </a:solidFill>
                <a:ea typeface="+mn-lt"/>
                <a:cs typeface="+mn-lt"/>
              </a:rPr>
              <a:t> </a:t>
            </a:r>
            <a:r>
              <a:rPr lang="en-US" sz="1050" dirty="0" err="1">
                <a:solidFill>
                  <a:srgbClr val="323232"/>
                </a:solidFill>
                <a:ea typeface="+mn-lt"/>
                <a:cs typeface="+mn-lt"/>
              </a:rPr>
              <a:t>erkunden</a:t>
            </a:r>
            <a:r>
              <a:rPr lang="en-US" sz="1050" dirty="0">
                <a:solidFill>
                  <a:srgbClr val="323232"/>
                </a:solidFill>
                <a:ea typeface="+mn-lt"/>
                <a:cs typeface="+mn-lt"/>
              </a:rPr>
              <a:t>. Das </a:t>
            </a:r>
            <a:r>
              <a:rPr lang="en-US" sz="1050" dirty="0" err="1">
                <a:solidFill>
                  <a:srgbClr val="323232"/>
                </a:solidFill>
                <a:ea typeface="+mn-lt"/>
                <a:cs typeface="+mn-lt"/>
              </a:rPr>
              <a:t>Programm</a:t>
            </a:r>
            <a:r>
              <a:rPr lang="en-US" sz="1050" dirty="0">
                <a:solidFill>
                  <a:srgbClr val="323232"/>
                </a:solidFill>
                <a:ea typeface="+mn-lt"/>
                <a:cs typeface="+mn-lt"/>
              </a:rPr>
              <a:t> </a:t>
            </a:r>
            <a:r>
              <a:rPr lang="en-US" sz="1050" dirty="0" err="1">
                <a:solidFill>
                  <a:srgbClr val="323232"/>
                </a:solidFill>
                <a:ea typeface="+mn-lt"/>
                <a:cs typeface="+mn-lt"/>
              </a:rPr>
              <a:t>wird</a:t>
            </a:r>
            <a:r>
              <a:rPr lang="en-US" sz="1050" dirty="0">
                <a:solidFill>
                  <a:srgbClr val="323232"/>
                </a:solidFill>
                <a:ea typeface="+mn-lt"/>
                <a:cs typeface="+mn-lt"/>
              </a:rPr>
              <a:t> </a:t>
            </a:r>
            <a:r>
              <a:rPr lang="en-US" sz="1050" dirty="0" err="1">
                <a:solidFill>
                  <a:srgbClr val="323232"/>
                </a:solidFill>
                <a:ea typeface="+mn-lt"/>
                <a:cs typeface="+mn-lt"/>
              </a:rPr>
              <a:t>individuell</a:t>
            </a:r>
            <a:r>
              <a:rPr lang="en-US" sz="1050" dirty="0">
                <a:solidFill>
                  <a:srgbClr val="323232"/>
                </a:solidFill>
                <a:ea typeface="+mn-lt"/>
                <a:cs typeface="+mn-lt"/>
              </a:rPr>
              <a:t> auf </a:t>
            </a:r>
            <a:r>
              <a:rPr lang="en-US" sz="1050" dirty="0" err="1">
                <a:solidFill>
                  <a:srgbClr val="323232"/>
                </a:solidFill>
                <a:ea typeface="+mn-lt"/>
                <a:cs typeface="+mn-lt"/>
              </a:rPr>
              <a:t>Ihre</a:t>
            </a:r>
            <a:r>
              <a:rPr lang="en-US" sz="1050" dirty="0">
                <a:solidFill>
                  <a:srgbClr val="323232"/>
                </a:solidFill>
                <a:ea typeface="+mn-lt"/>
                <a:cs typeface="+mn-lt"/>
              </a:rPr>
              <a:t> </a:t>
            </a:r>
            <a:r>
              <a:rPr lang="en-US" sz="1050" dirty="0" err="1">
                <a:solidFill>
                  <a:srgbClr val="323232"/>
                </a:solidFill>
                <a:ea typeface="+mn-lt"/>
                <a:cs typeface="+mn-lt"/>
              </a:rPr>
              <a:t>Interessen</a:t>
            </a:r>
            <a:r>
              <a:rPr lang="en-US" sz="1050" dirty="0">
                <a:solidFill>
                  <a:srgbClr val="323232"/>
                </a:solidFill>
                <a:ea typeface="+mn-lt"/>
                <a:cs typeface="+mn-lt"/>
              </a:rPr>
              <a:t> und </a:t>
            </a:r>
            <a:r>
              <a:rPr lang="en-US" sz="1050" dirty="0" err="1">
                <a:solidFill>
                  <a:srgbClr val="323232"/>
                </a:solidFill>
                <a:ea typeface="+mn-lt"/>
                <a:cs typeface="+mn-lt"/>
              </a:rPr>
              <a:t>Ihren</a:t>
            </a:r>
            <a:r>
              <a:rPr lang="en-US" sz="1050" dirty="0">
                <a:solidFill>
                  <a:srgbClr val="323232"/>
                </a:solidFill>
                <a:ea typeface="+mn-lt"/>
                <a:cs typeface="+mn-lt"/>
              </a:rPr>
              <a:t> </a:t>
            </a:r>
            <a:r>
              <a:rPr lang="en-US" sz="1050" dirty="0" err="1">
                <a:solidFill>
                  <a:srgbClr val="323232"/>
                </a:solidFill>
                <a:ea typeface="+mn-lt"/>
                <a:cs typeface="+mn-lt"/>
              </a:rPr>
              <a:t>Lernstil</a:t>
            </a:r>
            <a:r>
              <a:rPr lang="en-US" sz="1050" dirty="0">
                <a:solidFill>
                  <a:srgbClr val="323232"/>
                </a:solidFill>
                <a:ea typeface="+mn-lt"/>
                <a:cs typeface="+mn-lt"/>
              </a:rPr>
              <a:t> </a:t>
            </a:r>
            <a:r>
              <a:rPr lang="en-US" sz="1050" dirty="0" err="1">
                <a:solidFill>
                  <a:srgbClr val="323232"/>
                </a:solidFill>
                <a:ea typeface="+mn-lt"/>
                <a:cs typeface="+mn-lt"/>
              </a:rPr>
              <a:t>anpassbar</a:t>
            </a:r>
            <a:r>
              <a:rPr lang="en-US" sz="1050" dirty="0">
                <a:solidFill>
                  <a:srgbClr val="323232"/>
                </a:solidFill>
                <a:ea typeface="+mn-lt"/>
                <a:cs typeface="+mn-lt"/>
              </a:rPr>
              <a:t> sein. </a:t>
            </a:r>
            <a:r>
              <a:rPr lang="en-US" sz="1050" dirty="0" err="1">
                <a:solidFill>
                  <a:srgbClr val="323232"/>
                </a:solidFill>
                <a:ea typeface="+mn-lt"/>
                <a:cs typeface="+mn-lt"/>
              </a:rPr>
              <a:t>Diskutieren</a:t>
            </a:r>
            <a:r>
              <a:rPr lang="en-US" sz="1050" dirty="0">
                <a:solidFill>
                  <a:srgbClr val="323232"/>
                </a:solidFill>
                <a:ea typeface="+mn-lt"/>
                <a:cs typeface="+mn-lt"/>
              </a:rPr>
              <a:t> Sie </a:t>
            </a:r>
            <a:r>
              <a:rPr lang="en-US" sz="1050" dirty="0" err="1">
                <a:solidFill>
                  <a:srgbClr val="323232"/>
                </a:solidFill>
                <a:ea typeface="+mn-lt"/>
                <a:cs typeface="+mn-lt"/>
              </a:rPr>
              <a:t>mit</a:t>
            </a:r>
            <a:r>
              <a:rPr lang="en-US" sz="1050" dirty="0">
                <a:solidFill>
                  <a:srgbClr val="323232"/>
                </a:solidFill>
                <a:ea typeface="+mn-lt"/>
                <a:cs typeface="+mn-lt"/>
              </a:rPr>
              <a:t> IBM </a:t>
            </a:r>
            <a:r>
              <a:rPr lang="en-US" sz="1050" dirty="0" err="1">
                <a:solidFill>
                  <a:srgbClr val="323232"/>
                </a:solidFill>
                <a:ea typeface="+mn-lt"/>
                <a:cs typeface="+mn-lt"/>
              </a:rPr>
              <a:t>Experten</a:t>
            </a:r>
            <a:r>
              <a:rPr lang="en-US" sz="1050" dirty="0">
                <a:solidFill>
                  <a:srgbClr val="323232"/>
                </a:solidFill>
                <a:ea typeface="+mn-lt"/>
                <a:cs typeface="+mn-lt"/>
              </a:rPr>
              <a:t> </a:t>
            </a:r>
            <a:r>
              <a:rPr lang="en-US" sz="1050" dirty="0" err="1">
                <a:solidFill>
                  <a:srgbClr val="323232"/>
                </a:solidFill>
                <a:ea typeface="+mn-lt"/>
                <a:cs typeface="+mn-lt"/>
              </a:rPr>
              <a:t>über</a:t>
            </a:r>
            <a:r>
              <a:rPr lang="en-US" sz="1050" dirty="0">
                <a:solidFill>
                  <a:srgbClr val="323232"/>
                </a:solidFill>
                <a:ea typeface="+mn-lt"/>
                <a:cs typeface="+mn-lt"/>
              </a:rPr>
              <a:t> </a:t>
            </a:r>
            <a:r>
              <a:rPr lang="en-US" sz="1050" dirty="0" err="1">
                <a:solidFill>
                  <a:srgbClr val="323232"/>
                </a:solidFill>
                <a:ea typeface="+mn-lt"/>
                <a:cs typeface="+mn-lt"/>
              </a:rPr>
              <a:t>Produkt</a:t>
            </a:r>
            <a:r>
              <a:rPr lang="en-US" sz="1050" dirty="0">
                <a:solidFill>
                  <a:srgbClr val="323232"/>
                </a:solidFill>
                <a:ea typeface="+mn-lt"/>
                <a:cs typeface="+mn-lt"/>
              </a:rPr>
              <a:t>-Roadmaps und </a:t>
            </a:r>
            <a:r>
              <a:rPr lang="en-US" sz="1050" dirty="0" err="1">
                <a:solidFill>
                  <a:srgbClr val="323232"/>
                </a:solidFill>
                <a:ea typeface="+mn-lt"/>
                <a:cs typeface="+mn-lt"/>
              </a:rPr>
              <a:t>tauschen</a:t>
            </a:r>
            <a:r>
              <a:rPr lang="en-US" sz="1050" dirty="0">
                <a:solidFill>
                  <a:srgbClr val="323232"/>
                </a:solidFill>
                <a:ea typeface="+mn-lt"/>
                <a:cs typeface="+mn-lt"/>
              </a:rPr>
              <a:t> Sie </a:t>
            </a:r>
            <a:r>
              <a:rPr lang="en-US" sz="1050" dirty="0" err="1">
                <a:solidFill>
                  <a:srgbClr val="323232"/>
                </a:solidFill>
                <a:ea typeface="+mn-lt"/>
                <a:cs typeface="+mn-lt"/>
              </a:rPr>
              <a:t>sich</a:t>
            </a:r>
            <a:r>
              <a:rPr lang="en-US" sz="1050" dirty="0">
                <a:solidFill>
                  <a:srgbClr val="323232"/>
                </a:solidFill>
                <a:ea typeface="+mn-lt"/>
                <a:cs typeface="+mn-lt"/>
              </a:rPr>
              <a:t> </a:t>
            </a:r>
            <a:r>
              <a:rPr lang="en-US" sz="1050" dirty="0" err="1">
                <a:solidFill>
                  <a:srgbClr val="323232"/>
                </a:solidFill>
                <a:ea typeface="+mn-lt"/>
                <a:cs typeface="+mn-lt"/>
              </a:rPr>
              <a:t>mit</a:t>
            </a:r>
            <a:r>
              <a:rPr lang="en-US" sz="1050" dirty="0">
                <a:solidFill>
                  <a:srgbClr val="323232"/>
                </a:solidFill>
                <a:ea typeface="+mn-lt"/>
                <a:cs typeface="+mn-lt"/>
              </a:rPr>
              <a:t> </a:t>
            </a:r>
            <a:r>
              <a:rPr lang="en-US" sz="1050" dirty="0" err="1">
                <a:solidFill>
                  <a:srgbClr val="323232"/>
                </a:solidFill>
                <a:ea typeface="+mn-lt"/>
                <a:cs typeface="+mn-lt"/>
              </a:rPr>
              <a:t>Gleichgesinnten</a:t>
            </a:r>
            <a:r>
              <a:rPr lang="en-US" sz="1050" dirty="0">
                <a:solidFill>
                  <a:srgbClr val="323232"/>
                </a:solidFill>
                <a:ea typeface="+mn-lt"/>
                <a:cs typeface="+mn-lt"/>
              </a:rPr>
              <a:t> in </a:t>
            </a:r>
            <a:r>
              <a:rPr lang="en-US" sz="1050" dirty="0" err="1">
                <a:solidFill>
                  <a:srgbClr val="323232"/>
                </a:solidFill>
                <a:ea typeface="+mn-lt"/>
                <a:cs typeface="+mn-lt"/>
              </a:rPr>
              <a:t>einer</a:t>
            </a:r>
            <a:r>
              <a:rPr lang="en-US" sz="1050" dirty="0">
                <a:solidFill>
                  <a:srgbClr val="323232"/>
                </a:solidFill>
                <a:ea typeface="+mn-lt"/>
                <a:cs typeface="+mn-lt"/>
              </a:rPr>
              <a:t> </a:t>
            </a:r>
            <a:r>
              <a:rPr lang="en-US" sz="1050" dirty="0" err="1">
                <a:solidFill>
                  <a:srgbClr val="323232"/>
                </a:solidFill>
                <a:ea typeface="+mn-lt"/>
                <a:cs typeface="+mn-lt"/>
              </a:rPr>
              <a:t>lockeren</a:t>
            </a:r>
            <a:r>
              <a:rPr lang="en-US" sz="1050" dirty="0">
                <a:solidFill>
                  <a:srgbClr val="323232"/>
                </a:solidFill>
                <a:ea typeface="+mn-lt"/>
                <a:cs typeface="+mn-lt"/>
              </a:rPr>
              <a:t> und </a:t>
            </a:r>
            <a:r>
              <a:rPr lang="en-US" sz="1050" dirty="0" err="1">
                <a:solidFill>
                  <a:srgbClr val="323232"/>
                </a:solidFill>
                <a:ea typeface="+mn-lt"/>
                <a:cs typeface="+mn-lt"/>
              </a:rPr>
              <a:t>kreativen</a:t>
            </a:r>
            <a:r>
              <a:rPr lang="en-US" sz="1050" dirty="0">
                <a:solidFill>
                  <a:srgbClr val="323232"/>
                </a:solidFill>
                <a:ea typeface="+mn-lt"/>
                <a:cs typeface="+mn-lt"/>
              </a:rPr>
              <a:t> </a:t>
            </a:r>
            <a:r>
              <a:rPr lang="en-US" sz="1050" dirty="0" err="1">
                <a:solidFill>
                  <a:srgbClr val="323232"/>
                </a:solidFill>
                <a:ea typeface="+mn-lt"/>
                <a:cs typeface="+mn-lt"/>
              </a:rPr>
              <a:t>Umgebung</a:t>
            </a:r>
            <a:r>
              <a:rPr lang="en-US" sz="1050" dirty="0">
                <a:solidFill>
                  <a:srgbClr val="323232"/>
                </a:solidFill>
                <a:ea typeface="+mn-lt"/>
                <a:cs typeface="+mn-lt"/>
              </a:rPr>
              <a:t> </a:t>
            </a:r>
            <a:r>
              <a:rPr lang="en-US" sz="1050" dirty="0" err="1">
                <a:solidFill>
                  <a:srgbClr val="323232"/>
                </a:solidFill>
                <a:ea typeface="+mn-lt"/>
                <a:cs typeface="+mn-lt"/>
              </a:rPr>
              <a:t>aus.</a:t>
            </a:r>
            <a:endParaRPr lang="en-US" dirty="0" err="1">
              <a:solidFill>
                <a:srgbClr val="000000"/>
              </a:solidFill>
              <a:ea typeface="+mn-lt"/>
              <a:cs typeface="+mn-lt"/>
            </a:endParaRPr>
          </a:p>
          <a:p>
            <a:r>
              <a:rPr lang="en-US" sz="1050" dirty="0" err="1">
                <a:solidFill>
                  <a:srgbClr val="323232"/>
                </a:solidFill>
                <a:ea typeface="+mn-lt"/>
                <a:cs typeface="+mn-lt"/>
              </a:rPr>
              <a:t>Begrenzte</a:t>
            </a:r>
            <a:r>
              <a:rPr lang="en-US" sz="1050" dirty="0">
                <a:solidFill>
                  <a:srgbClr val="323232"/>
                </a:solidFill>
                <a:ea typeface="+mn-lt"/>
                <a:cs typeface="+mn-lt"/>
              </a:rPr>
              <a:t> Anzahl von Tickets </a:t>
            </a:r>
            <a:r>
              <a:rPr lang="en-US" sz="1050" dirty="0" err="1">
                <a:solidFill>
                  <a:srgbClr val="323232"/>
                </a:solidFill>
                <a:ea typeface="+mn-lt"/>
                <a:cs typeface="+mn-lt"/>
              </a:rPr>
              <a:t>verfügbar</a:t>
            </a:r>
            <a:r>
              <a:rPr lang="en-US" sz="1050" dirty="0">
                <a:solidFill>
                  <a:srgbClr val="323232"/>
                </a:solidFill>
                <a:ea typeface="+mn-lt"/>
                <a:cs typeface="+mn-lt"/>
              </a:rPr>
              <a:t>.</a:t>
            </a:r>
            <a:endParaRPr lang="en-US" dirty="0">
              <a:cs typeface="Calibri"/>
            </a:endParaRPr>
          </a:p>
          <a:p>
            <a:r>
              <a:rPr lang="en-US" sz="1050" dirty="0">
                <a:solidFill>
                  <a:srgbClr val="323232"/>
                </a:solidFill>
                <a:ea typeface="+mn-lt"/>
                <a:cs typeface="+mn-lt"/>
                <a:hlinkClick r:id="rId4"/>
              </a:rPr>
              <a:t>Link</a:t>
            </a:r>
            <a:endParaRPr lang="en-US" sz="1050">
              <a:solidFill>
                <a:srgbClr val="323232"/>
              </a:solidFill>
              <a:cs typeface="Calibri"/>
            </a:endParaRPr>
          </a:p>
          <a:p>
            <a:endParaRPr lang="en-US" sz="1050" dirty="0">
              <a:solidFill>
                <a:srgbClr val="323232"/>
              </a:solidFill>
              <a:latin typeface="IBM Plex Sans" panose="020B0503050203000203" pitchFamily="34" charset="0"/>
            </a:endParaRPr>
          </a:p>
        </p:txBody>
      </p:sp>
      <p:sp>
        <p:nvSpPr>
          <p:cNvPr id="30" name="Textfeld 11">
            <a:extLst>
              <a:ext uri="{FF2B5EF4-FFF2-40B4-BE49-F238E27FC236}">
                <a16:creationId xmlns:a16="http://schemas.microsoft.com/office/drawing/2014/main" id="{8B888085-298D-B830-C881-A669BF9E3FF3}"/>
              </a:ext>
            </a:extLst>
          </p:cNvPr>
          <p:cNvSpPr txBox="1"/>
          <p:nvPr/>
        </p:nvSpPr>
        <p:spPr>
          <a:xfrm>
            <a:off x="10171" y="2911896"/>
            <a:ext cx="3765908" cy="2354491"/>
          </a:xfrm>
          <a:prstGeom prst="rect">
            <a:avLst/>
          </a:prstGeom>
          <a:noFill/>
        </p:spPr>
        <p:txBody>
          <a:bodyPr wrap="square" lIns="91440" tIns="45720" rIns="91440" bIns="45720" rtlCol="0" anchor="t">
            <a:spAutoFit/>
          </a:bodyPr>
          <a:lstStyle/>
          <a:p>
            <a:r>
              <a:rPr lang="en-US" sz="1050" dirty="0">
                <a:solidFill>
                  <a:srgbClr val="323232"/>
                </a:solidFill>
                <a:latin typeface="Calibri"/>
                <a:cs typeface="Calibri"/>
              </a:rPr>
              <a:t>Es</a:t>
            </a:r>
            <a:r>
              <a:rPr lang="en-US" sz="1050" dirty="0">
                <a:solidFill>
                  <a:srgbClr val="323232"/>
                </a:solidFill>
                <a:ea typeface="+mn-lt"/>
                <a:cs typeface="+mn-lt"/>
              </a:rPr>
              <a:t> </a:t>
            </a:r>
            <a:r>
              <a:rPr lang="en-US" sz="1050" dirty="0" err="1">
                <a:solidFill>
                  <a:srgbClr val="323232"/>
                </a:solidFill>
                <a:ea typeface="+mn-lt"/>
                <a:cs typeface="+mn-lt"/>
              </a:rPr>
              <a:t>ist</a:t>
            </a:r>
            <a:r>
              <a:rPr lang="en-US" sz="1050" dirty="0">
                <a:solidFill>
                  <a:srgbClr val="323232"/>
                </a:solidFill>
                <a:ea typeface="+mn-lt"/>
                <a:cs typeface="+mn-lt"/>
              </a:rPr>
              <a:t> oft </a:t>
            </a:r>
            <a:r>
              <a:rPr lang="en-US" sz="1050" dirty="0" err="1">
                <a:solidFill>
                  <a:srgbClr val="323232"/>
                </a:solidFill>
                <a:ea typeface="+mn-lt"/>
                <a:cs typeface="+mn-lt"/>
              </a:rPr>
              <a:t>eine</a:t>
            </a:r>
            <a:r>
              <a:rPr lang="en-US" sz="1050" dirty="0">
                <a:solidFill>
                  <a:srgbClr val="323232"/>
                </a:solidFill>
                <a:ea typeface="+mn-lt"/>
                <a:cs typeface="+mn-lt"/>
              </a:rPr>
              <a:t> </a:t>
            </a:r>
            <a:r>
              <a:rPr lang="en-US" sz="1050" dirty="0" err="1">
                <a:solidFill>
                  <a:srgbClr val="323232"/>
                </a:solidFill>
                <a:ea typeface="+mn-lt"/>
                <a:cs typeface="+mn-lt"/>
              </a:rPr>
              <a:t>Herausforderung</a:t>
            </a:r>
            <a:r>
              <a:rPr lang="en-US" sz="1050" dirty="0">
                <a:solidFill>
                  <a:srgbClr val="323232"/>
                </a:solidFill>
                <a:ea typeface="+mn-lt"/>
                <a:cs typeface="+mn-lt"/>
              </a:rPr>
              <a:t>, </a:t>
            </a:r>
            <a:r>
              <a:rPr lang="en-US" sz="1050" dirty="0" err="1">
                <a:solidFill>
                  <a:srgbClr val="323232"/>
                </a:solidFill>
                <a:ea typeface="+mn-lt"/>
                <a:cs typeface="+mn-lt"/>
              </a:rPr>
              <a:t>einen</a:t>
            </a:r>
            <a:r>
              <a:rPr lang="en-US" sz="1050" dirty="0">
                <a:solidFill>
                  <a:srgbClr val="323232"/>
                </a:solidFill>
                <a:ea typeface="+mn-lt"/>
                <a:cs typeface="+mn-lt"/>
              </a:rPr>
              <a:t> </a:t>
            </a:r>
            <a:r>
              <a:rPr lang="en-US" sz="1050" dirty="0" err="1">
                <a:solidFill>
                  <a:srgbClr val="323232"/>
                </a:solidFill>
                <a:ea typeface="+mn-lt"/>
                <a:cs typeface="+mn-lt"/>
              </a:rPr>
              <a:t>wiederholbaren</a:t>
            </a:r>
            <a:r>
              <a:rPr lang="en-US" sz="1050" dirty="0">
                <a:solidFill>
                  <a:srgbClr val="323232"/>
                </a:solidFill>
                <a:ea typeface="+mn-lt"/>
                <a:cs typeface="+mn-lt"/>
              </a:rPr>
              <a:t>, </a:t>
            </a:r>
            <a:r>
              <a:rPr lang="en-US" sz="1050" dirty="0" err="1">
                <a:solidFill>
                  <a:srgbClr val="323232"/>
                </a:solidFill>
                <a:ea typeface="+mn-lt"/>
                <a:cs typeface="+mn-lt"/>
              </a:rPr>
              <a:t>nachhaltigen</a:t>
            </a:r>
            <a:r>
              <a:rPr lang="en-US" sz="1050" dirty="0">
                <a:solidFill>
                  <a:srgbClr val="323232"/>
                </a:solidFill>
                <a:ea typeface="+mn-lt"/>
                <a:cs typeface="+mn-lt"/>
              </a:rPr>
              <a:t> und </a:t>
            </a:r>
            <a:r>
              <a:rPr lang="en-US" sz="1050" dirty="0" err="1">
                <a:solidFill>
                  <a:srgbClr val="323232"/>
                </a:solidFill>
                <a:ea typeface="+mn-lt"/>
                <a:cs typeface="+mn-lt"/>
              </a:rPr>
              <a:t>automatisierten</a:t>
            </a:r>
            <a:r>
              <a:rPr lang="en-US" sz="1050" dirty="0">
                <a:solidFill>
                  <a:srgbClr val="323232"/>
                </a:solidFill>
                <a:ea typeface="+mn-lt"/>
                <a:cs typeface="+mn-lt"/>
              </a:rPr>
              <a:t> </a:t>
            </a:r>
            <a:r>
              <a:rPr lang="en-US" sz="1050" dirty="0" err="1">
                <a:solidFill>
                  <a:srgbClr val="323232"/>
                </a:solidFill>
                <a:ea typeface="+mn-lt"/>
                <a:cs typeface="+mn-lt"/>
              </a:rPr>
              <a:t>Prozess</a:t>
            </a:r>
            <a:r>
              <a:rPr lang="en-US" sz="1050" dirty="0">
                <a:solidFill>
                  <a:srgbClr val="323232"/>
                </a:solidFill>
                <a:ea typeface="+mn-lt"/>
                <a:cs typeface="+mn-lt"/>
              </a:rPr>
              <a:t> für die unternehmensweite Ereignisanalyse, die Erkennung von Bedrohungen, das Auditing, die Compliance und das Reporting </a:t>
            </a:r>
            <a:r>
              <a:rPr lang="en-US" sz="1050" dirty="0" err="1">
                <a:solidFill>
                  <a:srgbClr val="323232"/>
                </a:solidFill>
                <a:ea typeface="+mn-lt"/>
                <a:cs typeface="+mn-lt"/>
              </a:rPr>
              <a:t>zu</a:t>
            </a:r>
            <a:r>
              <a:rPr lang="en-US" sz="1050" dirty="0">
                <a:solidFill>
                  <a:srgbClr val="323232"/>
                </a:solidFill>
                <a:ea typeface="+mn-lt"/>
                <a:cs typeface="+mn-lt"/>
              </a:rPr>
              <a:t> </a:t>
            </a:r>
            <a:r>
              <a:rPr lang="en-US" sz="1050" dirty="0" err="1">
                <a:solidFill>
                  <a:srgbClr val="323232"/>
                </a:solidFill>
                <a:ea typeface="+mn-lt"/>
                <a:cs typeface="+mn-lt"/>
              </a:rPr>
              <a:t>implementieren</a:t>
            </a:r>
            <a:r>
              <a:rPr lang="en-US" sz="1050" dirty="0">
                <a:solidFill>
                  <a:srgbClr val="323232"/>
                </a:solidFill>
                <a:ea typeface="+mn-lt"/>
                <a:cs typeface="+mn-lt"/>
              </a:rPr>
              <a:t>. </a:t>
            </a:r>
            <a:r>
              <a:rPr lang="en-US" sz="1050" dirty="0" err="1">
                <a:solidFill>
                  <a:srgbClr val="323232"/>
                </a:solidFill>
                <a:ea typeface="+mn-lt"/>
                <a:cs typeface="+mn-lt"/>
              </a:rPr>
              <a:t>ZSecure</a:t>
            </a:r>
            <a:r>
              <a:rPr lang="en-US" sz="1050" dirty="0">
                <a:solidFill>
                  <a:srgbClr val="323232"/>
                </a:solidFill>
                <a:ea typeface="+mn-lt"/>
                <a:cs typeface="+mn-lt"/>
              </a:rPr>
              <a:t> Audit and Alert </a:t>
            </a:r>
            <a:r>
              <a:rPr lang="en-US" sz="1050" dirty="0" err="1">
                <a:solidFill>
                  <a:srgbClr val="323232"/>
                </a:solidFill>
                <a:ea typeface="+mn-lt"/>
                <a:cs typeface="+mn-lt"/>
              </a:rPr>
              <a:t>wurden</a:t>
            </a:r>
            <a:r>
              <a:rPr lang="en-US" sz="1050" dirty="0">
                <a:solidFill>
                  <a:srgbClr val="323232"/>
                </a:solidFill>
                <a:ea typeface="+mn-lt"/>
                <a:cs typeface="+mn-lt"/>
              </a:rPr>
              <a:t> </a:t>
            </a:r>
            <a:r>
              <a:rPr lang="en-US" sz="1050" dirty="0" err="1">
                <a:solidFill>
                  <a:srgbClr val="323232"/>
                </a:solidFill>
                <a:ea typeface="+mn-lt"/>
                <a:cs typeface="+mn-lt"/>
              </a:rPr>
              <a:t>entwickelt</a:t>
            </a:r>
            <a:r>
              <a:rPr lang="en-US" sz="1050" dirty="0">
                <a:solidFill>
                  <a:srgbClr val="323232"/>
                </a:solidFill>
                <a:ea typeface="+mn-lt"/>
                <a:cs typeface="+mn-lt"/>
              </a:rPr>
              <a:t>, um das </a:t>
            </a:r>
            <a:r>
              <a:rPr lang="en-US" sz="1050" dirty="0" err="1">
                <a:solidFill>
                  <a:srgbClr val="323232"/>
                </a:solidFill>
                <a:ea typeface="+mn-lt"/>
                <a:cs typeface="+mn-lt"/>
              </a:rPr>
              <a:t>Sicherheitspersonal</a:t>
            </a:r>
            <a:r>
              <a:rPr lang="en-US" sz="1050" dirty="0">
                <a:solidFill>
                  <a:srgbClr val="323232"/>
                </a:solidFill>
                <a:ea typeface="+mn-lt"/>
                <a:cs typeface="+mn-lt"/>
              </a:rPr>
              <a:t> </a:t>
            </a:r>
            <a:r>
              <a:rPr lang="en-US" sz="1050" dirty="0" err="1">
                <a:solidFill>
                  <a:srgbClr val="323232"/>
                </a:solidFill>
                <a:ea typeface="+mn-lt"/>
                <a:cs typeface="+mn-lt"/>
              </a:rPr>
              <a:t>dabei</a:t>
            </a:r>
            <a:r>
              <a:rPr lang="en-US" sz="1050" dirty="0">
                <a:solidFill>
                  <a:srgbClr val="323232"/>
                </a:solidFill>
                <a:ea typeface="+mn-lt"/>
                <a:cs typeface="+mn-lt"/>
              </a:rPr>
              <a:t> </a:t>
            </a:r>
            <a:r>
              <a:rPr lang="en-US" sz="1050" dirty="0" err="1">
                <a:solidFill>
                  <a:srgbClr val="323232"/>
                </a:solidFill>
                <a:ea typeface="+mn-lt"/>
                <a:cs typeface="+mn-lt"/>
              </a:rPr>
              <a:t>zu</a:t>
            </a:r>
            <a:r>
              <a:rPr lang="en-US" sz="1050" dirty="0">
                <a:solidFill>
                  <a:srgbClr val="323232"/>
                </a:solidFill>
                <a:ea typeface="+mn-lt"/>
                <a:cs typeface="+mn-lt"/>
              </a:rPr>
              <a:t> </a:t>
            </a:r>
            <a:r>
              <a:rPr lang="en-US" sz="1050" dirty="0" err="1">
                <a:solidFill>
                  <a:srgbClr val="323232"/>
                </a:solidFill>
                <a:ea typeface="+mn-lt"/>
                <a:cs typeface="+mn-lt"/>
              </a:rPr>
              <a:t>unterstützen</a:t>
            </a:r>
            <a:r>
              <a:rPr lang="en-US" sz="1050" dirty="0">
                <a:solidFill>
                  <a:srgbClr val="323232"/>
                </a:solidFill>
                <a:ea typeface="+mn-lt"/>
                <a:cs typeface="+mn-lt"/>
              </a:rPr>
              <a:t>, </a:t>
            </a:r>
            <a:r>
              <a:rPr lang="en-US" sz="1050" dirty="0" err="1">
                <a:solidFill>
                  <a:srgbClr val="323232"/>
                </a:solidFill>
                <a:ea typeface="+mn-lt"/>
                <a:cs typeface="+mn-lt"/>
              </a:rPr>
              <a:t>automatisch</a:t>
            </a:r>
            <a:r>
              <a:rPr lang="en-US" sz="1050" dirty="0">
                <a:solidFill>
                  <a:srgbClr val="323232"/>
                </a:solidFill>
                <a:ea typeface="+mn-lt"/>
                <a:cs typeface="+mn-lt"/>
              </a:rPr>
              <a:t> SMF-</a:t>
            </a:r>
            <a:r>
              <a:rPr lang="en-US" sz="1050" dirty="0" err="1">
                <a:solidFill>
                  <a:srgbClr val="323232"/>
                </a:solidFill>
                <a:ea typeface="+mn-lt"/>
                <a:cs typeface="+mn-lt"/>
              </a:rPr>
              <a:t>Datensätze</a:t>
            </a:r>
            <a:r>
              <a:rPr lang="en-US" sz="1050" dirty="0">
                <a:solidFill>
                  <a:srgbClr val="323232"/>
                </a:solidFill>
                <a:ea typeface="+mn-lt"/>
                <a:cs typeface="+mn-lt"/>
              </a:rPr>
              <a:t> und </a:t>
            </a:r>
            <a:r>
              <a:rPr lang="en-US" sz="1050" dirty="0" err="1">
                <a:solidFill>
                  <a:srgbClr val="323232"/>
                </a:solidFill>
                <a:ea typeface="+mn-lt"/>
                <a:cs typeface="+mn-lt"/>
              </a:rPr>
              <a:t>Echtzeitwarnungen</a:t>
            </a:r>
            <a:r>
              <a:rPr lang="en-US" sz="1050" dirty="0">
                <a:solidFill>
                  <a:srgbClr val="323232"/>
                </a:solidFill>
                <a:ea typeface="+mn-lt"/>
                <a:cs typeface="+mn-lt"/>
              </a:rPr>
              <a:t> </a:t>
            </a:r>
            <a:r>
              <a:rPr lang="en-US" sz="1050" dirty="0" err="1">
                <a:solidFill>
                  <a:srgbClr val="323232"/>
                </a:solidFill>
                <a:ea typeface="+mn-lt"/>
                <a:cs typeface="+mn-lt"/>
              </a:rPr>
              <a:t>zu</a:t>
            </a:r>
            <a:r>
              <a:rPr lang="en-US" sz="1050" dirty="0">
                <a:solidFill>
                  <a:srgbClr val="323232"/>
                </a:solidFill>
                <a:ea typeface="+mn-lt"/>
                <a:cs typeface="+mn-lt"/>
              </a:rPr>
              <a:t> </a:t>
            </a:r>
            <a:r>
              <a:rPr lang="en-US" sz="1050" dirty="0" err="1">
                <a:solidFill>
                  <a:srgbClr val="323232"/>
                </a:solidFill>
                <a:ea typeface="+mn-lt"/>
                <a:cs typeface="+mn-lt"/>
              </a:rPr>
              <a:t>sammeln</a:t>
            </a:r>
            <a:r>
              <a:rPr lang="en-US" sz="1050" dirty="0">
                <a:solidFill>
                  <a:srgbClr val="323232"/>
                </a:solidFill>
                <a:ea typeface="+mn-lt"/>
                <a:cs typeface="+mn-lt"/>
              </a:rPr>
              <a:t>, </a:t>
            </a:r>
            <a:r>
              <a:rPr lang="en-US" sz="1050" dirty="0" err="1">
                <a:solidFill>
                  <a:srgbClr val="323232"/>
                </a:solidFill>
                <a:ea typeface="+mn-lt"/>
                <a:cs typeface="+mn-lt"/>
              </a:rPr>
              <a:t>zu</a:t>
            </a:r>
            <a:r>
              <a:rPr lang="en-US" sz="1050" dirty="0">
                <a:solidFill>
                  <a:srgbClr val="323232"/>
                </a:solidFill>
                <a:ea typeface="+mn-lt"/>
                <a:cs typeface="+mn-lt"/>
              </a:rPr>
              <a:t> </a:t>
            </a:r>
            <a:r>
              <a:rPr lang="en-US" sz="1050" dirty="0" err="1">
                <a:solidFill>
                  <a:srgbClr val="323232"/>
                </a:solidFill>
                <a:ea typeface="+mn-lt"/>
                <a:cs typeface="+mn-lt"/>
              </a:rPr>
              <a:t>formatieren</a:t>
            </a:r>
            <a:r>
              <a:rPr lang="en-US" sz="1050" dirty="0">
                <a:solidFill>
                  <a:srgbClr val="323232"/>
                </a:solidFill>
                <a:ea typeface="+mn-lt"/>
                <a:cs typeface="+mn-lt"/>
              </a:rPr>
              <a:t> und an </a:t>
            </a:r>
            <a:r>
              <a:rPr lang="en-US" sz="1050" dirty="0" err="1">
                <a:solidFill>
                  <a:srgbClr val="323232"/>
                </a:solidFill>
                <a:ea typeface="+mn-lt"/>
                <a:cs typeface="+mn-lt"/>
              </a:rPr>
              <a:t>eine</a:t>
            </a:r>
            <a:r>
              <a:rPr lang="en-US" sz="1050" dirty="0">
                <a:solidFill>
                  <a:srgbClr val="323232"/>
                </a:solidFill>
                <a:ea typeface="+mn-lt"/>
                <a:cs typeface="+mn-lt"/>
              </a:rPr>
              <a:t> SIEM-</a:t>
            </a:r>
            <a:r>
              <a:rPr lang="en-US" sz="1050" dirty="0" err="1">
                <a:solidFill>
                  <a:srgbClr val="323232"/>
                </a:solidFill>
                <a:ea typeface="+mn-lt"/>
                <a:cs typeface="+mn-lt"/>
              </a:rPr>
              <a:t>Lösung</a:t>
            </a:r>
            <a:r>
              <a:rPr lang="en-US" sz="1050" dirty="0">
                <a:solidFill>
                  <a:srgbClr val="323232"/>
                </a:solidFill>
                <a:ea typeface="+mn-lt"/>
                <a:cs typeface="+mn-lt"/>
              </a:rPr>
              <a:t> </a:t>
            </a:r>
            <a:r>
              <a:rPr lang="en-US" sz="1050" dirty="0" err="1">
                <a:solidFill>
                  <a:srgbClr val="323232"/>
                </a:solidFill>
                <a:ea typeface="+mn-lt"/>
                <a:cs typeface="+mn-lt"/>
              </a:rPr>
              <a:t>weiterzuleiten</a:t>
            </a:r>
            <a:r>
              <a:rPr lang="en-US" sz="1050" dirty="0">
                <a:solidFill>
                  <a:srgbClr val="323232"/>
                </a:solidFill>
                <a:ea typeface="+mn-lt"/>
                <a:cs typeface="+mn-lt"/>
              </a:rPr>
              <a:t>.</a:t>
            </a:r>
            <a:endParaRPr lang="en-US" dirty="0">
              <a:solidFill>
                <a:srgbClr val="000000"/>
              </a:solidFill>
              <a:latin typeface="Calibri" panose="020F0502020204030204"/>
              <a:cs typeface="Calibri" panose="020F0502020204030204"/>
            </a:endParaRPr>
          </a:p>
          <a:p>
            <a:endParaRPr lang="en-US" sz="1050" dirty="0">
              <a:solidFill>
                <a:srgbClr val="323232"/>
              </a:solidFill>
              <a:ea typeface="+mn-lt"/>
              <a:cs typeface="+mn-lt"/>
            </a:endParaRPr>
          </a:p>
          <a:p>
            <a:r>
              <a:rPr lang="en-US" sz="1050" dirty="0">
                <a:solidFill>
                  <a:srgbClr val="323232"/>
                </a:solidFill>
                <a:ea typeface="+mn-lt"/>
                <a:cs typeface="+mn-lt"/>
              </a:rPr>
              <a:t>In </a:t>
            </a:r>
            <a:r>
              <a:rPr lang="en-US" sz="1050" dirty="0" err="1">
                <a:solidFill>
                  <a:srgbClr val="323232"/>
                </a:solidFill>
                <a:ea typeface="+mn-lt"/>
                <a:cs typeface="+mn-lt"/>
              </a:rPr>
              <a:t>diesem</a:t>
            </a:r>
            <a:r>
              <a:rPr lang="en-US" sz="1050" dirty="0">
                <a:solidFill>
                  <a:srgbClr val="323232"/>
                </a:solidFill>
                <a:ea typeface="+mn-lt"/>
                <a:cs typeface="+mn-lt"/>
              </a:rPr>
              <a:t> </a:t>
            </a:r>
            <a:r>
              <a:rPr lang="en-US" sz="1050" dirty="0" err="1">
                <a:solidFill>
                  <a:srgbClr val="323232"/>
                </a:solidFill>
                <a:ea typeface="+mn-lt"/>
                <a:cs typeface="+mn-lt"/>
              </a:rPr>
              <a:t>Webniar</a:t>
            </a:r>
            <a:r>
              <a:rPr lang="en-US" sz="1050" dirty="0">
                <a:solidFill>
                  <a:srgbClr val="323232"/>
                </a:solidFill>
                <a:ea typeface="+mn-lt"/>
                <a:cs typeface="+mn-lt"/>
              </a:rPr>
              <a:t> </a:t>
            </a:r>
            <a:r>
              <a:rPr lang="en-US" sz="1050" dirty="0" err="1">
                <a:solidFill>
                  <a:srgbClr val="323232"/>
                </a:solidFill>
                <a:ea typeface="+mn-lt"/>
                <a:cs typeface="+mn-lt"/>
              </a:rPr>
              <a:t>werden</a:t>
            </a:r>
            <a:r>
              <a:rPr lang="en-US" sz="1050" dirty="0">
                <a:solidFill>
                  <a:srgbClr val="323232"/>
                </a:solidFill>
                <a:ea typeface="+mn-lt"/>
                <a:cs typeface="+mn-lt"/>
              </a:rPr>
              <a:t> </a:t>
            </a:r>
            <a:r>
              <a:rPr lang="en-US" sz="1050" dirty="0" err="1">
                <a:solidFill>
                  <a:srgbClr val="323232"/>
                </a:solidFill>
                <a:ea typeface="+mn-lt"/>
                <a:cs typeface="+mn-lt"/>
              </a:rPr>
              <a:t>typische</a:t>
            </a:r>
            <a:r>
              <a:rPr lang="en-US" sz="1050" dirty="0">
                <a:solidFill>
                  <a:srgbClr val="323232"/>
                </a:solidFill>
                <a:ea typeface="+mn-lt"/>
                <a:cs typeface="+mn-lt"/>
              </a:rPr>
              <a:t> </a:t>
            </a:r>
            <a:r>
              <a:rPr lang="en-US" sz="1050" dirty="0" err="1">
                <a:solidFill>
                  <a:srgbClr val="323232"/>
                </a:solidFill>
                <a:ea typeface="+mn-lt"/>
                <a:cs typeface="+mn-lt"/>
              </a:rPr>
              <a:t>Anwendungsfälle</a:t>
            </a:r>
            <a:r>
              <a:rPr lang="en-US" sz="1050" dirty="0">
                <a:solidFill>
                  <a:srgbClr val="323232"/>
                </a:solidFill>
                <a:ea typeface="+mn-lt"/>
                <a:cs typeface="+mn-lt"/>
              </a:rPr>
              <a:t> </a:t>
            </a:r>
            <a:r>
              <a:rPr lang="en-US" sz="1050" dirty="0" err="1">
                <a:solidFill>
                  <a:srgbClr val="323232"/>
                </a:solidFill>
                <a:ea typeface="+mn-lt"/>
                <a:cs typeface="+mn-lt"/>
              </a:rPr>
              <a:t>erörtert</a:t>
            </a:r>
            <a:r>
              <a:rPr lang="en-US" sz="1050" dirty="0">
                <a:solidFill>
                  <a:srgbClr val="323232"/>
                </a:solidFill>
                <a:ea typeface="+mn-lt"/>
                <a:cs typeface="+mn-lt"/>
              </a:rPr>
              <a:t>. </a:t>
            </a:r>
            <a:endParaRPr lang="en-US" sz="1050" dirty="0">
              <a:solidFill>
                <a:srgbClr val="323232"/>
              </a:solidFill>
              <a:cs typeface="Calibri"/>
            </a:endParaRPr>
          </a:p>
          <a:p>
            <a:endParaRPr lang="en-US" sz="1050" dirty="0">
              <a:solidFill>
                <a:srgbClr val="323232"/>
              </a:solidFill>
              <a:latin typeface="Calibri"/>
              <a:cs typeface="Calibri"/>
            </a:endParaRPr>
          </a:p>
          <a:p>
            <a:r>
              <a:rPr lang="en-US" sz="1050" dirty="0" err="1">
                <a:solidFill>
                  <a:srgbClr val="323232"/>
                </a:solidFill>
                <a:latin typeface="Calibri"/>
                <a:cs typeface="Calibri"/>
              </a:rPr>
              <a:t>Anmeldung</a:t>
            </a:r>
            <a:r>
              <a:rPr lang="en-US" sz="1050" dirty="0">
                <a:solidFill>
                  <a:srgbClr val="323232"/>
                </a:solidFill>
                <a:latin typeface="Calibri"/>
                <a:cs typeface="Calibri"/>
              </a:rPr>
              <a:t>:</a:t>
            </a:r>
          </a:p>
          <a:p>
            <a:r>
              <a:rPr lang="en-US" sz="1050" dirty="0">
                <a:solidFill>
                  <a:srgbClr val="323232"/>
                </a:solidFill>
                <a:ea typeface="+mn-lt"/>
                <a:cs typeface="+mn-lt"/>
                <a:hlinkClick r:id="rId5"/>
              </a:rPr>
              <a:t>Link</a:t>
            </a:r>
            <a:endParaRPr lang="en-US" sz="1050" dirty="0">
              <a:solidFill>
                <a:srgbClr val="323232"/>
              </a:solidFill>
              <a:cs typeface="Calibri"/>
            </a:endParaRPr>
          </a:p>
          <a:p>
            <a:endParaRPr lang="en-US" sz="1050" dirty="0">
              <a:solidFill>
                <a:srgbClr val="323232"/>
              </a:solidFill>
              <a:latin typeface="IBM Plex Sans" panose="020B0503050203000203" pitchFamily="34" charset="0"/>
            </a:endParaRPr>
          </a:p>
        </p:txBody>
      </p:sp>
    </p:spTree>
    <p:extLst>
      <p:ext uri="{BB962C8B-B14F-4D97-AF65-F5344CB8AC3E}">
        <p14:creationId xmlns:p14="http://schemas.microsoft.com/office/powerpoint/2010/main" val="3419422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hteck 3">
            <a:extLst>
              <a:ext uri="{FF2B5EF4-FFF2-40B4-BE49-F238E27FC236}">
                <a16:creationId xmlns:a16="http://schemas.microsoft.com/office/drawing/2014/main" id="{A8156A48-BDE1-4DA9-B30B-37AE17E17590}"/>
              </a:ext>
            </a:extLst>
          </p:cNvPr>
          <p:cNvSpPr/>
          <p:nvPr/>
        </p:nvSpPr>
        <p:spPr>
          <a:xfrm>
            <a:off x="-2830" y="10175607"/>
            <a:ext cx="7565335" cy="5989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hteck 3">
            <a:extLst>
              <a:ext uri="{FF2B5EF4-FFF2-40B4-BE49-F238E27FC236}">
                <a16:creationId xmlns:a16="http://schemas.microsoft.com/office/drawing/2014/main" id="{84CB162D-7F54-0944-98EC-B72A37105D3D}"/>
              </a:ext>
            </a:extLst>
          </p:cNvPr>
          <p:cNvSpPr/>
          <p:nvPr/>
        </p:nvSpPr>
        <p:spPr>
          <a:xfrm>
            <a:off x="-5676" y="0"/>
            <a:ext cx="7565335" cy="5989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Picture 46" descr="blue-tri-color-logo">
            <a:extLst>
              <a:ext uri="{FF2B5EF4-FFF2-40B4-BE49-F238E27FC236}">
                <a16:creationId xmlns:a16="http://schemas.microsoft.com/office/drawing/2014/main" id="{AB6E5C7C-0114-E84C-BCA6-F8E0A6CCBC80}"/>
              </a:ext>
            </a:extLst>
          </p:cNvPr>
          <p:cNvPicPr>
            <a:picLocks noChangeAspect="1" noChangeArrowheads="1"/>
          </p:cNvPicPr>
          <p:nvPr/>
        </p:nvPicPr>
        <p:blipFill>
          <a:blip r:embed="rId2" cstate="print"/>
          <a:srcRect/>
          <a:stretch>
            <a:fillRect/>
          </a:stretch>
        </p:blipFill>
        <p:spPr bwMode="auto">
          <a:xfrm>
            <a:off x="6708673" y="10338928"/>
            <a:ext cx="751185" cy="304253"/>
          </a:xfrm>
          <a:prstGeom prst="rect">
            <a:avLst/>
          </a:prstGeom>
          <a:noFill/>
          <a:ln w="9525">
            <a:noFill/>
            <a:miter lim="800000"/>
            <a:headEnd/>
            <a:tailEnd/>
          </a:ln>
        </p:spPr>
      </p:pic>
      <p:sp>
        <p:nvSpPr>
          <p:cNvPr id="7" name="Textfeld 6">
            <a:extLst>
              <a:ext uri="{FF2B5EF4-FFF2-40B4-BE49-F238E27FC236}">
                <a16:creationId xmlns:a16="http://schemas.microsoft.com/office/drawing/2014/main" id="{38E45969-0705-7246-AB9D-69AA38FF91D1}"/>
              </a:ext>
            </a:extLst>
          </p:cNvPr>
          <p:cNvSpPr txBox="1"/>
          <p:nvPr/>
        </p:nvSpPr>
        <p:spPr>
          <a:xfrm>
            <a:off x="-5676" y="598931"/>
            <a:ext cx="3785513" cy="338554"/>
          </a:xfrm>
          <a:prstGeom prst="rect">
            <a:avLst/>
          </a:prstGeom>
          <a:noFill/>
        </p:spPr>
        <p:txBody>
          <a:bodyPr wrap="square" rtlCol="0">
            <a:spAutoFit/>
          </a:bodyPr>
          <a:lstStyle/>
          <a:p>
            <a:r>
              <a:rPr lang="de-DE" sz="1600" b="1" dirty="0">
                <a:latin typeface="IBM Plex Sans" panose="020B0503050203000203" pitchFamily="34" charset="0"/>
              </a:rPr>
              <a:t>ZUSÄTZLICHE INFORMATIONEN</a:t>
            </a:r>
          </a:p>
        </p:txBody>
      </p:sp>
      <p:sp>
        <p:nvSpPr>
          <p:cNvPr id="8" name="Textfeld 7">
            <a:extLst>
              <a:ext uri="{FF2B5EF4-FFF2-40B4-BE49-F238E27FC236}">
                <a16:creationId xmlns:a16="http://schemas.microsoft.com/office/drawing/2014/main" id="{3431EEB1-9739-A745-BB2C-8FC5D3A1EF8F}"/>
              </a:ext>
            </a:extLst>
          </p:cNvPr>
          <p:cNvSpPr txBox="1"/>
          <p:nvPr/>
        </p:nvSpPr>
        <p:spPr>
          <a:xfrm>
            <a:off x="-5676" y="1020538"/>
            <a:ext cx="7559676" cy="2123658"/>
          </a:xfrm>
          <a:prstGeom prst="rect">
            <a:avLst/>
          </a:prstGeom>
          <a:noFill/>
        </p:spPr>
        <p:txBody>
          <a:bodyPr wrap="square" rtlCol="0">
            <a:spAutoFit/>
          </a:bodyPr>
          <a:lstStyle/>
          <a:p>
            <a:pPr marL="171450" indent="-171450" algn="l" fontAlgn="base">
              <a:buFont typeface="Arial" panose="020B0604020202020204" pitchFamily="34" charset="0"/>
              <a:buChar char="•"/>
            </a:pPr>
            <a:r>
              <a:rPr lang="de-DE" sz="1200" b="1" dirty="0">
                <a:latin typeface="IBM Plex Sans" panose="020B0503050203000203" pitchFamily="34" charset="0"/>
              </a:rPr>
              <a:t>Besuchen Sie uns</a:t>
            </a:r>
            <a:br>
              <a:rPr lang="de-DE" sz="1200" b="1" dirty="0">
                <a:latin typeface="IBM Plex Sans" panose="020B0503050203000203" pitchFamily="34" charset="0"/>
              </a:rPr>
            </a:br>
            <a:r>
              <a:rPr lang="de-DE" sz="1200" b="1" dirty="0">
                <a:latin typeface="IBM Plex Sans" panose="020B0503050203000203" pitchFamily="34" charset="0"/>
              </a:rPr>
              <a:t>	</a:t>
            </a:r>
            <a:r>
              <a:rPr lang="de-DE" sz="1000" b="1" dirty="0">
                <a:latin typeface="IBM Plex Sans" panose="020B0503050203000203" pitchFamily="34" charset="0"/>
                <a:hlinkClick r:id="rId3"/>
              </a:rPr>
              <a:t>WW Community</a:t>
            </a:r>
            <a:br>
              <a:rPr lang="en-US" sz="1000" b="1" i="0" u="none" strike="noStrike" dirty="0">
                <a:solidFill>
                  <a:srgbClr val="323232"/>
                </a:solidFill>
                <a:effectLst/>
                <a:latin typeface="ibm-plex-sans"/>
              </a:rPr>
            </a:br>
            <a:r>
              <a:rPr lang="en-US" sz="1000" b="1" dirty="0">
                <a:latin typeface="IBM Plex Sans" panose="020B0503050203000203" pitchFamily="34" charset="0"/>
              </a:rPr>
              <a:t>	</a:t>
            </a:r>
            <a:r>
              <a:rPr lang="en-US" sz="1000" b="1" dirty="0">
                <a:latin typeface="IBM Plex Sans" panose="020B0503050203000203" pitchFamily="34" charset="0"/>
                <a:hlinkClick r:id="rId4"/>
              </a:rPr>
              <a:t>DACH Community</a:t>
            </a:r>
            <a:endParaRPr lang="en-US" sz="1000" b="1" dirty="0">
              <a:latin typeface="IBM Plex Sans" panose="020B0503050203000203" pitchFamily="34" charset="0"/>
            </a:endParaRPr>
          </a:p>
          <a:p>
            <a:pPr marL="171450" indent="-171450" algn="l" fontAlgn="base">
              <a:buFont typeface="Arial" panose="020B0604020202020204" pitchFamily="34" charset="0"/>
              <a:buChar char="•"/>
            </a:pPr>
            <a:endParaRPr lang="en-US" sz="1200" b="1" i="0" dirty="0">
              <a:solidFill>
                <a:srgbClr val="323232"/>
              </a:solidFill>
              <a:effectLst/>
              <a:latin typeface="IBM Plex Sans" panose="020B0503050203000203" pitchFamily="34" charset="0"/>
            </a:endParaRPr>
          </a:p>
          <a:p>
            <a:pPr marL="171450" indent="-171450" algn="l" fontAlgn="base">
              <a:buFont typeface="Arial" panose="020B0604020202020204" pitchFamily="34" charset="0"/>
              <a:buChar char="•"/>
            </a:pPr>
            <a:r>
              <a:rPr lang="en-US" sz="1200" b="1" i="0" dirty="0">
                <a:solidFill>
                  <a:srgbClr val="323232"/>
                </a:solidFill>
                <a:effectLst/>
                <a:latin typeface="IBM Plex Sans" panose="020B0503050203000203" pitchFamily="34" charset="0"/>
              </a:rPr>
              <a:t>Auch auf </a:t>
            </a:r>
            <a:r>
              <a:rPr lang="en-US" sz="1200" b="1" i="0" dirty="0" err="1">
                <a:solidFill>
                  <a:srgbClr val="323232"/>
                </a:solidFill>
                <a:effectLst/>
                <a:latin typeface="IBM Plex Sans" panose="020B0503050203000203" pitchFamily="34" charset="0"/>
              </a:rPr>
              <a:t>unserem</a:t>
            </a:r>
            <a:r>
              <a:rPr lang="en-US" sz="1200" b="1" i="0" dirty="0">
                <a:solidFill>
                  <a:srgbClr val="323232"/>
                </a:solidFill>
                <a:effectLst/>
                <a:latin typeface="IBM Plex Sans" panose="020B0503050203000203" pitchFamily="34" charset="0"/>
              </a:rPr>
              <a:t> Podcast </a:t>
            </a:r>
            <a:r>
              <a:rPr lang="en-US" sz="1200" b="1" i="0" dirty="0" err="1">
                <a:solidFill>
                  <a:srgbClr val="323232"/>
                </a:solidFill>
                <a:effectLst/>
                <a:latin typeface="IBM Plex Sans" panose="020B0503050203000203" pitchFamily="34" charset="0"/>
              </a:rPr>
              <a:t>sind</a:t>
            </a:r>
            <a:r>
              <a:rPr lang="en-US" sz="1200" b="1" i="0" dirty="0">
                <a:solidFill>
                  <a:srgbClr val="323232"/>
                </a:solidFill>
                <a:effectLst/>
                <a:latin typeface="IBM Plex Sans" panose="020B0503050203000203" pitchFamily="34" charset="0"/>
              </a:rPr>
              <a:t> </a:t>
            </a:r>
            <a:r>
              <a:rPr lang="en-US" sz="1200" b="1" i="0" dirty="0" err="1">
                <a:solidFill>
                  <a:srgbClr val="323232"/>
                </a:solidFill>
                <a:effectLst/>
                <a:latin typeface="IBM Plex Sans" panose="020B0503050203000203" pitchFamily="34" charset="0"/>
              </a:rPr>
              <a:t>viele</a:t>
            </a:r>
            <a:r>
              <a:rPr lang="en-US" sz="1200" b="1" i="0" dirty="0">
                <a:solidFill>
                  <a:srgbClr val="323232"/>
                </a:solidFill>
                <a:effectLst/>
                <a:latin typeface="IBM Plex Sans" panose="020B0503050203000203" pitchFamily="34" charset="0"/>
              </a:rPr>
              <a:t> </a:t>
            </a:r>
            <a:r>
              <a:rPr lang="en-US" sz="1200" b="1" i="0" dirty="0" err="1">
                <a:solidFill>
                  <a:srgbClr val="323232"/>
                </a:solidFill>
                <a:effectLst/>
                <a:latin typeface="IBM Plex Sans" panose="020B0503050203000203" pitchFamily="34" charset="0"/>
              </a:rPr>
              <a:t>neue</a:t>
            </a:r>
            <a:r>
              <a:rPr lang="en-US" sz="1200" b="1" i="0" dirty="0">
                <a:solidFill>
                  <a:srgbClr val="323232"/>
                </a:solidFill>
                <a:effectLst/>
                <a:latin typeface="IBM Plex Sans" panose="020B0503050203000203" pitchFamily="34" charset="0"/>
              </a:rPr>
              <a:t> </a:t>
            </a:r>
            <a:r>
              <a:rPr lang="en-US" sz="1200" b="1" i="0" dirty="0" err="1">
                <a:solidFill>
                  <a:srgbClr val="323232"/>
                </a:solidFill>
                <a:effectLst/>
                <a:latin typeface="IBM Plex Sans" panose="020B0503050203000203" pitchFamily="34" charset="0"/>
              </a:rPr>
              <a:t>Folgen</a:t>
            </a:r>
            <a:r>
              <a:rPr lang="en-US" sz="1200" b="1" i="0" dirty="0">
                <a:solidFill>
                  <a:srgbClr val="323232"/>
                </a:solidFill>
                <a:effectLst/>
                <a:latin typeface="IBM Plex Sans" panose="020B0503050203000203" pitchFamily="34" charset="0"/>
              </a:rPr>
              <a:t> online</a:t>
            </a:r>
          </a:p>
          <a:p>
            <a:pPr algn="l"/>
            <a:r>
              <a:rPr lang="en-US" sz="1200" b="0" i="0" dirty="0">
                <a:solidFill>
                  <a:srgbClr val="323232"/>
                </a:solidFill>
                <a:effectLst/>
                <a:latin typeface="IBM Plex Sans" panose="020B0503050203000203" pitchFamily="34" charset="0"/>
              </a:rPr>
              <a:t>	</a:t>
            </a:r>
            <a:r>
              <a:rPr lang="de-DE" sz="1000" b="0" i="0" u="none" strike="noStrike" baseline="0" dirty="0">
                <a:solidFill>
                  <a:srgbClr val="000000"/>
                </a:solidFill>
                <a:latin typeface="IBM Plex Sans" panose="020B0503050203000203" pitchFamily="34" charset="0"/>
              </a:rPr>
              <a:t>Spotify: </a:t>
            </a:r>
            <a:r>
              <a:rPr lang="de-DE" sz="1000" b="0" i="0" u="none" strike="noStrike" baseline="0" dirty="0">
                <a:solidFill>
                  <a:srgbClr val="0563C2"/>
                </a:solidFill>
                <a:latin typeface="IBM Plex Sans" panose="020B0503050203000203" pitchFamily="34" charset="0"/>
              </a:rPr>
              <a:t>https://lnkd.in/d7nDsARb</a:t>
            </a:r>
          </a:p>
          <a:p>
            <a:pPr algn="l"/>
            <a:r>
              <a:rPr lang="de-DE" sz="1000" b="0" i="0" u="none" strike="noStrike" baseline="0" dirty="0">
                <a:solidFill>
                  <a:srgbClr val="000000"/>
                </a:solidFill>
                <a:latin typeface="IBM Plex Sans" panose="020B0503050203000203" pitchFamily="34" charset="0"/>
              </a:rPr>
              <a:t>	Apple Podcast: </a:t>
            </a:r>
            <a:r>
              <a:rPr lang="de-DE" sz="1000" b="0" i="0" u="none" strike="noStrike" baseline="0" dirty="0">
                <a:solidFill>
                  <a:srgbClr val="0563C2"/>
                </a:solidFill>
                <a:latin typeface="IBM Plex Sans" panose="020B0503050203000203" pitchFamily="34" charset="0"/>
              </a:rPr>
              <a:t>https://lnkd.in/dbdKZQQk</a:t>
            </a:r>
          </a:p>
          <a:p>
            <a:pPr algn="l"/>
            <a:r>
              <a:rPr lang="fi-FI" sz="1000" b="0" i="0" u="none" strike="noStrike" baseline="0" dirty="0">
                <a:solidFill>
                  <a:srgbClr val="000000"/>
                </a:solidFill>
                <a:latin typeface="IBM Plex Sans" panose="020B0503050203000203" pitchFamily="34" charset="0"/>
              </a:rPr>
              <a:t>	Listen on web: </a:t>
            </a:r>
            <a:r>
              <a:rPr lang="fi-FI" sz="1000" b="0" i="0" u="none" strike="noStrike" baseline="0" dirty="0">
                <a:solidFill>
                  <a:srgbClr val="0563C2"/>
                </a:solidFill>
                <a:latin typeface="IBM Plex Sans" panose="020B0503050203000203" pitchFamily="34" charset="0"/>
              </a:rPr>
              <a:t>https://lnkd.in/d9wsfiU4</a:t>
            </a:r>
            <a:br>
              <a:rPr lang="en-US" sz="1000" b="0" i="0" dirty="0">
                <a:solidFill>
                  <a:srgbClr val="323232"/>
                </a:solidFill>
                <a:effectLst/>
                <a:latin typeface="IBM Plex Sans" panose="020B0503050203000203" pitchFamily="34" charset="0"/>
              </a:rPr>
            </a:br>
            <a:endParaRPr lang="de-DE" sz="1000" dirty="0">
              <a:latin typeface="IBM Plex Sans" panose="020B0503050203000203" pitchFamily="34" charset="0"/>
            </a:endParaRPr>
          </a:p>
          <a:p>
            <a:pPr marL="171450" indent="-171450" algn="just">
              <a:buFont typeface="Arial" panose="020B0604020202020204" pitchFamily="34" charset="0"/>
              <a:buChar char="•"/>
            </a:pPr>
            <a:endParaRPr lang="de-DE" sz="1000" dirty="0">
              <a:latin typeface="IBM Plex Sans" panose="020B0503050203000203" pitchFamily="34" charset="0"/>
            </a:endParaRPr>
          </a:p>
          <a:p>
            <a:pPr algn="just"/>
            <a:endParaRPr lang="de-DE" sz="1000" dirty="0">
              <a:latin typeface="IBM Plex Sans" panose="020B0503050203000203" pitchFamily="34" charset="0"/>
            </a:endParaRPr>
          </a:p>
          <a:p>
            <a:pPr algn="just"/>
            <a:endParaRPr lang="de-DE" sz="1000" dirty="0">
              <a:latin typeface="IBM Plex Sans" panose="020B0503050203000203" pitchFamily="34" charset="0"/>
            </a:endParaRPr>
          </a:p>
        </p:txBody>
      </p:sp>
      <p:sp>
        <p:nvSpPr>
          <p:cNvPr id="12" name="TextBox 11">
            <a:extLst>
              <a:ext uri="{FF2B5EF4-FFF2-40B4-BE49-F238E27FC236}">
                <a16:creationId xmlns:a16="http://schemas.microsoft.com/office/drawing/2014/main" id="{0E655F71-1007-4BC9-A104-1E68C1ABB7BA}"/>
              </a:ext>
            </a:extLst>
          </p:cNvPr>
          <p:cNvSpPr txBox="1"/>
          <p:nvPr/>
        </p:nvSpPr>
        <p:spPr>
          <a:xfrm>
            <a:off x="1955067" y="9807460"/>
            <a:ext cx="5129198" cy="400110"/>
          </a:xfrm>
          <a:prstGeom prst="rect">
            <a:avLst/>
          </a:prstGeom>
          <a:noFill/>
        </p:spPr>
        <p:txBody>
          <a:bodyPr wrap="square" rtlCol="0">
            <a:spAutoFit/>
          </a:bodyPr>
          <a:lstStyle/>
          <a:p>
            <a:r>
              <a:rPr lang="en-US" sz="2000" b="1" dirty="0">
                <a:latin typeface="IBM Plex Sans" panose="020B0503050203000203" pitchFamily="34" charset="0"/>
              </a:rPr>
              <a:t>PROUD TO BE PART OF IBM Z</a:t>
            </a:r>
            <a:endParaRPr lang="en-DE" b="1" dirty="0">
              <a:latin typeface="IBM Plex Sans" panose="020B0503050203000203" pitchFamily="34" charset="0"/>
            </a:endParaRPr>
          </a:p>
        </p:txBody>
      </p:sp>
      <p:sp>
        <p:nvSpPr>
          <p:cNvPr id="10" name="Textfeld 9">
            <a:extLst>
              <a:ext uri="{FF2B5EF4-FFF2-40B4-BE49-F238E27FC236}">
                <a16:creationId xmlns:a16="http://schemas.microsoft.com/office/drawing/2014/main" id="{850EFADD-C840-064C-82F9-D19F53FACA47}"/>
              </a:ext>
            </a:extLst>
          </p:cNvPr>
          <p:cNvSpPr txBox="1"/>
          <p:nvPr/>
        </p:nvSpPr>
        <p:spPr>
          <a:xfrm>
            <a:off x="3667001" y="10404617"/>
            <a:ext cx="257202" cy="276999"/>
          </a:xfrm>
          <a:prstGeom prst="rect">
            <a:avLst/>
          </a:prstGeom>
          <a:noFill/>
        </p:spPr>
        <p:txBody>
          <a:bodyPr wrap="square" rtlCol="0">
            <a:spAutoFit/>
          </a:bodyPr>
          <a:lstStyle/>
          <a:p>
            <a:r>
              <a:rPr lang="de-DE" sz="1200" dirty="0">
                <a:latin typeface="IBM Plex Sans" panose="020B0503050203000203" pitchFamily="34" charset="0"/>
              </a:rPr>
              <a:t>5</a:t>
            </a:r>
          </a:p>
        </p:txBody>
      </p:sp>
      <p:pic>
        <p:nvPicPr>
          <p:cNvPr id="11" name="Grafik 10" descr="Ein Bild, das Text, Boden, drinnen enthält.&#10;&#10;Automatisch generierte Beschreibung">
            <a:extLst>
              <a:ext uri="{FF2B5EF4-FFF2-40B4-BE49-F238E27FC236}">
                <a16:creationId xmlns:a16="http://schemas.microsoft.com/office/drawing/2014/main" id="{4D34E9F8-9C7B-54C8-EE82-8C036A7FFE29}"/>
              </a:ext>
            </a:extLst>
          </p:cNvPr>
          <p:cNvPicPr>
            <a:picLocks noChangeAspect="1"/>
          </p:cNvPicPr>
          <p:nvPr/>
        </p:nvPicPr>
        <p:blipFill rotWithShape="1">
          <a:blip r:embed="rId5"/>
          <a:srcRect l="5087" r="7278"/>
          <a:stretch/>
        </p:blipFill>
        <p:spPr>
          <a:xfrm>
            <a:off x="334100" y="4960078"/>
            <a:ext cx="6750165" cy="4364781"/>
          </a:xfrm>
          <a:prstGeom prst="rect">
            <a:avLst/>
          </a:prstGeom>
        </p:spPr>
      </p:pic>
      <p:sp>
        <p:nvSpPr>
          <p:cNvPr id="2" name="Rectangle 6">
            <a:extLst>
              <a:ext uri="{FF2B5EF4-FFF2-40B4-BE49-F238E27FC236}">
                <a16:creationId xmlns:a16="http://schemas.microsoft.com/office/drawing/2014/main" id="{E37E53D8-C755-1773-797B-D69BE74360D8}"/>
              </a:ext>
            </a:extLst>
          </p:cNvPr>
          <p:cNvSpPr>
            <a:spLocks noChangeArrowheads="1"/>
          </p:cNvSpPr>
          <p:nvPr/>
        </p:nvSpPr>
        <p:spPr bwMode="black">
          <a:xfrm>
            <a:off x="65375" y="10475073"/>
            <a:ext cx="13716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t"/>
          <a:lstStyle>
            <a:lvl1pPr>
              <a:defRPr b="1">
                <a:solidFill>
                  <a:schemeClr val="tx1"/>
                </a:solidFill>
                <a:latin typeface="Arial" panose="020B0604020202020204" pitchFamily="34" charset="0"/>
                <a:ea typeface="MS PGothic" panose="020B0600070205080204" pitchFamily="34" charset="-128"/>
              </a:defRPr>
            </a:lvl1pPr>
            <a:lvl2pPr marL="742950" indent="-285750">
              <a:defRPr b="1">
                <a:solidFill>
                  <a:schemeClr val="tx1"/>
                </a:solidFill>
                <a:latin typeface="Arial" panose="020B0604020202020204" pitchFamily="34" charset="0"/>
                <a:ea typeface="MS PGothic" panose="020B0600070205080204" pitchFamily="34" charset="-128"/>
              </a:defRPr>
            </a:lvl2pPr>
            <a:lvl3pPr marL="1143000" indent="-228600">
              <a:defRPr b="1">
                <a:solidFill>
                  <a:schemeClr val="tx1"/>
                </a:solidFill>
                <a:latin typeface="Arial" panose="020B0604020202020204" pitchFamily="34" charset="0"/>
                <a:ea typeface="MS PGothic" panose="020B0600070205080204" pitchFamily="34" charset="-128"/>
              </a:defRPr>
            </a:lvl3pPr>
            <a:lvl4pPr marL="1600200" indent="-228600">
              <a:defRPr b="1">
                <a:solidFill>
                  <a:schemeClr val="tx1"/>
                </a:solidFill>
                <a:latin typeface="Arial" panose="020B0604020202020204" pitchFamily="34" charset="0"/>
                <a:ea typeface="MS PGothic" panose="020B0600070205080204" pitchFamily="34" charset="-128"/>
              </a:defRPr>
            </a:lvl4pPr>
            <a:lvl5pPr marL="2057400" indent="-228600">
              <a:defRPr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MS PGothic" panose="020B0600070205080204" pitchFamily="34" charset="-128"/>
              </a:defRPr>
            </a:lvl9pPr>
          </a:lstStyle>
          <a:p>
            <a:pPr>
              <a:defRPr/>
            </a:pPr>
            <a:r>
              <a:rPr lang="en-US" sz="800" b="0" dirty="0">
                <a:latin typeface="IBM Plex Sans"/>
                <a:ea typeface="MS PGothic"/>
              </a:rPr>
              <a:t>© 2026 IBM Corporation</a:t>
            </a:r>
          </a:p>
        </p:txBody>
      </p:sp>
    </p:spTree>
    <p:extLst>
      <p:ext uri="{BB962C8B-B14F-4D97-AF65-F5344CB8AC3E}">
        <p14:creationId xmlns:p14="http://schemas.microsoft.com/office/powerpoint/2010/main" val="2367060543"/>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2520</Words>
  <Application>Microsoft Macintosh PowerPoint</Application>
  <PresentationFormat>Benutzerdefiniert</PresentationFormat>
  <Paragraphs>227</Paragraphs>
  <Slides>7</Slides>
  <Notes>1</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7</vt:i4>
      </vt:variant>
    </vt:vector>
  </HeadingPairs>
  <TitlesOfParts>
    <vt:vector size="14" baseType="lpstr">
      <vt:lpstr>Arial</vt:lpstr>
      <vt:lpstr>Calibri</vt:lpstr>
      <vt:lpstr>Calibri Light</vt:lpstr>
      <vt:lpstr>IBM Plex Sans</vt:lpstr>
      <vt:lpstr>ibm-plex-sans</vt:lpstr>
      <vt:lpstr>Wingdings</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Lena Kuhn</dc:creator>
  <cp:lastModifiedBy>Roman Sivirin</cp:lastModifiedBy>
  <cp:revision>905</cp:revision>
  <dcterms:created xsi:type="dcterms:W3CDTF">2020-02-28T12:54:35Z</dcterms:created>
  <dcterms:modified xsi:type="dcterms:W3CDTF">2026-03-26T11:10:52Z</dcterms:modified>
</cp:coreProperties>
</file>